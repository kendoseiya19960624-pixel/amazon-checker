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皆さん、お集まりいただきありがとうございます。本日は、当部で導入するMicrosoft 365 Copilotについて、「まったく使ったことがない状態」から「業務にしっかり組み込んで成果を出す状態」まで、6つのステップに分けてご説明します。
先にお伝えしたいのは、この取り組みは「AIに詳しくなること」が目的ではない、ということです。目的は、メールや議事録、資料作成といった毎日の作業時間を減らして、企画や分析、お客様対応といった本来注力すべき仕事に時間を使えるようにすることです。
説明は30分ほどを予定しています。最後に「今日から始めていただきたい3つのアクション」をお伝えしますので、ぜひ最後までお付き合いください。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なぜ今Copilotなのか」です。左側は、私たちの毎日に心当たりのある3つの課題です。メール処理、会議と議事録、そして資料作成。どれも大事な仕事ですが、正直「作業」の部分が多くを占めています。
右側をご覧ください。Microsoftの調査では、Copilot利用者の70%が「生産性が上がった」と回答しています。ポイントは、Copilotが得意なのはまさに左の3つ、つまり要約・下書き・たたき台づくりだということです。
私たちの部はクライアントへの提案資料やレポート作成が多い部署です。この「作業」の部分をAIに任せられれば、その分を分析や提案の質を上げる時間に回せます。これが今回の取り組みの狙いです。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改めて、Microsoft 365 Copilotとは何か。ひとことで言うと「いつものOfficeアプリに組み込まれたAIアシスタント」です。新しいツールの操作を覚える必要はなく、普段使っているWordやOutlookの中で、チャットで指示するだけです。
6つのアプリでの役割をまとめました。最初の入口になるのが左上のCopilot Chatです。ここで質問や要約、下書き依頼ができます。
そして一番の特長は、一般的なチャットAIと違って、自分がアクセス権を持つ社内のメールやファイル、会議内容を踏まえて答えてくれることです。「先週の定例会議の決定事項をまとめて」といった、社内の文脈に沿った依頼ができるのはCopilotならではです。
なお、入力した内容が外部のAIの学習に使われることはない設計になっています。セキュリティについては後ほど詳しく説明します。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こちらが今回の全体ロードマップです。ゼロからフル活用までを6つのステップに分けています。
STEP 0は準備。環境とルール、推進体制を整えます。STEP 1は、まず全員が1日1回Copilotに触ること。STEP 2で、メールと会議という毎日の業務に組み込みます。STEP 3で資料作成に広げ、STEP 4で個人のノウハウを部門の標準に引き上げます。最後のSTEP 5が、エージェントや自動化を使った業務プロセスの再設計、いわゆるフル活用です。
大事なポイントはひとつだけ。「順番を飛ばさない」ことです。いきなり高度な自動化を目指すと必ず挫折します。逆に、最初の習慣化さえできれば、あとは自然に進みます。期間はあくまで目安ですので、チームの状況に合わせて調整してください。
それでは、各ステップを順番に見ていきます。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まずSTEP 0、準備です。地味ですが、ここを丁寧にやるかどうかで定着のスピードが決まります。やることは4つです。
1つ目、ライセンス。全員分が割り当てられているか、情報システム担当と確認します。2つ目、利用ルールです。何を入力してよくて何がだめか、出力をどう確認するか。A4一枚で十分なので、先に明文化して全員に配ります。詳しい中身は配布するWordのガイドに雛形があります。
3つ目がアクセス権の点検です。Copilotは「本人がアクセスできるファイル」を参照して答えます。つまり、共有設定がゆるいフォルダがあると、思わぬ情報が見えてしまう可能性があります。導入前に権限を整理しておきましょう。
4つ目が体制です。推進リーダーと、各チームに1人ずつ「困ったときに聞ける人」、チャンピオンを置きます。この説明会がキックオフを兼ねていますので、チャンピオンは後ほど発表します。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1は、とにかく「まず触ってみる」です。目標はシンプルで、全員が1日1回、Copilot Chatに何か話しかけること。それだけです。
内容は本当に何でも構いません。メールの要約でも、調べ物でも、キャッチコピーのアイデア出しでも。右側に、そのままコピーして使える例を4つ載せました。まずはこのどれかを今日試してみてください。
1つだけコツをお伝えします。「一発で完璧な答えを求めない」ことです。人に仕事を頼むときと同じで、まずざっくり頼んで、返ってきたものに「もう少し短く」「別の案も」と注文をつける。この会話のキャッチボールに慣れることが、STEP 1の本当のゴールです。
1週間続けられたら、チームのチャットで「こう使ってみた」を一言共有してください。他の人の使い方を見るのが、一番の上達の近道です。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2では、Copilotを「毎日の業務」に組み込みます。狙うのはメールと会議。この2つは全員が毎日必ずやる業務なので、習慣にするには最適です。
まずOutlook。長いメールのやり取りに途中から入るとき、これまでは全部さかのぼって読んでいましたよね。これからは、まず「要約して」です。返信も、ゼロから書かずにCopilotに下書きさせて、自分は手直しに集中する。この型を身につけてください。
次にTeams会議です。会議の文字起こしをオンにしておけば、終了後に「決定事項と担当者別のToDoを表にして」と頼むだけで、議事録のたたき台が数十秒でできます。議事録作成が当番制で負担になっていたチームは、まずここから変えましょう。欠席した会議のキャッチアップにも使えます。
1か月後には「議事録に時間がかかっていた頃には戻れない」という状態を目指します。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3は資料作成です。ここが一番効果を実感しやすいところだと思います。
考え方はどのアプリでも同じで、「ゼロから作らない」。Wordなら、まず構成案と下書きをCopilotに出させてから、自分は中身の肉付けと仕上げに集中する。PowerPointなら、Wordの企画書や議事録を渡してスライドのたたき台を作らせる。Excelなら、数式やグラフを相談しながら作る、という具合です。
注意点をひとつ。Copilotが作るたたき台は、そのまま出せる完成品ではありません。事実確認と仕上げは必ず人がやる。「下書きはAI、最終責任は人」です。それでも、白紙とにらめっこする時間がなくなるだけで、体感はかなり変わります。
このステップの完了条件は、作る資料の半分以上でCopilotのたたき台を使っていること。2か月後の共有会で、それぞれの時短効果を持ち寄りましょう。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4からは、個人の活用をチームの仕組みに変えていきます。ここからは私やチャンピオンが主導しますが、全員に協力をお願いしたいところです。
柱は4つです。1つ目は部門プロンプト集。皆さんが見つけた「使えるプロンプト」を、共有フォルダに集めます。投稿のハードルは思い切り下げます。1行メモで構いません。
2つ目は定型業務のテンプレート化です。週報や月次レポートの手順書に「Copilotで下書きを作ってから人が確認する」という手順を正式に組み込みます。こうすると、個人の工夫が部の標準になります。
3つ目は月1回・15分の事例共有会。うまい使い方は称賛して広める。使えていない人を責める場では絶対にしません。つまずいている人にはチャンピオンが個別にフォローします。
4つ目は新しく来たメンバーへのオンボーディングです。このガイドとプロンプト集を渡せば、着任初週から同じレベルで使い始められます。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最後のSTEP 5が、フル活用の姿です。半年後にここを目指します。
ここまでのステップは「人がCopilotに頼む」使い方でしたが、STEP 5では仕組み自体を変えます。たとえばCopilot Studioを使うと、社内規程の問い合わせに答える専用エージェントや、決まった形式のレポートを自動で作るエージェントがつくれます。Power Automateと組み合わせれば、メールを受信したら要約して担当者に通知する、といった流れを完全に自動化できます。
そして一番大事なのが3つ目、業務プロセスの再設計です。今のやり方をそのまま速くするのではなく、「AIが前提なら、そもそもこの業務はどうあるべきか」を部門で議論します。
エージェント化する業務の選び方は下に書いたとおり、繰り返しが多く、手順が明確で、失敗してもリカバリーしやすい業務からです。最初から大物を狙わず、小さく始めて広げていきましょう。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ここからは、全ステップ共通で使えるコツを2枚でお伝えします。まずプロンプト、つまりCopilotへの指示の書き方です。
覚えていただくのは4つの要素だけです。「目的」何をしてほしいか。「背景」誰のため、何のためか。「形式」どんな形で、どのくらいの分量で。そして「参照情報」、何をもとに作るか。
下の例を見てください。「メールを書いて」だけでは、ありきたりな文章しか返ってきません。右のように、相手、内容、トーン、分量まで伝えると、ほぼそのまま使える下書きが返ってきます。書く手間は10秒しか変わりません。
そしてもうひとつ。一発で完璧を求めないこと。返ってきた答えに「もっと短く」「別の案も」と重ねて指示するほうが、最初から長い指示を書くより結果的に速いです。部下に仕事を頼むときのイメージで、対話しながら仕上げ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便利さの話をしてきましたが、セキュリティの話を必ずセットで覚えてください。ルールは5つです。
1つ目と2つ目はセットです。Copilotの回答には、もっともらしい間違い、いわゆるハルシネーションが含まれることがあります。特に数値、固有名詞、日付は必ず元データで確認する。そして、AIが書いた文章でも、送った人・提出した人の責任です。「下書きはAI、最終責任は人」。これは合言葉にしてください。
3つ目、機密情報の扱いです。下の帯にあるとおり、Microsoft 365 Copilot自体は会社のテナント内でデータが守られ、AIの学習にも使われません。ただし、個人契約のチャットAIなど、会社契約以外のAIサービスに社内情報を入れるのは厳禁です。
4つ目、もしCopilotの回答に「自分が見えてはいけないはずの情報」が出てきたら、権限設定に穴があるサインです。すぐ私に報告してください。5つ目、社外向けの生成物は著作権の観点で一度確認を。以上、この5つだけ守れば、安心して使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最後に、この取り組みをどう支えて、どう測るかです。
体制は3層です。推進リーダーは私が務め、全体計画とルール、効果測定を担当します。各チームには1名ずつチャンピオンを置きます。操作で困ったら、まずチームのチャンピオンに気軽に聞いてください。そしてメンバーの皆さんにお願いしたいのは、日々使うことと、うまくいった使い方を共有すること。この2つだけです。
右がステップごとのKPIの例です。最初の1か月は利用率、つまり「みんなが使っているか」だけを見ます。その後は時間削減の実感、プロンプト集の充実度、最終的には自動化できた業務の数と、段階に応じて指標を変えていきます。
経験上、定着のコツは2つです。議事録のように全員が毎週必ずやる業務に組み込むこと。そして、うまくいった事例を共有会でしっかり称賛すること。使っていない人を責めるのではなく、良い使い方を真似しやすくする。この方針で進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本日のまとめです。6つのステップをお話ししましたが、今日持ち帰っていただきたいのは、この3つのアクションだけです。
1つ目、今日中にCopilotを開いて、何かひとつ質問してみてください。おすすめは「このメールを要約して」です。2つ目、今週の自分の会議で、文字起こしをオンにして議事録を作らせてみてください。3つ目、うまくいったプロンプトがあったら、チームのチャットに1行でいいので共有してください。皆さんの発見が、そのまま部門の資産になります。
最後にもう一度だけ。「下書きはAI、最終責任は人」です。この原則さえ守れば、Copilotは間違いなく私たちの強力な味方になります。
詳しい手順とプロンプト集は、お配りするWordのガイドにすべてまとまっています。わからないことがあれば、チャンピオンか私にいつでも聞いてください。それでは、まず今日の1回から始めましょう。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509760" y="-1463040"/>
            <a:ext cx="4754880" cy="4754880"/>
          </a:xfrm>
          <a:prstGeom prst="ellipse">
            <a:avLst/>
          </a:prstGeom>
          <a:solidFill>
            <a:srgbClr val="065A82">
              <a:alpha val="55000"/>
            </a:srgbClr>
          </a:solidFill>
          <a:ln/>
        </p:spPr>
      </p:sp>
      <p:sp>
        <p:nvSpPr>
          <p:cNvPr id="3" name="Shape 1"/>
          <p:cNvSpPr/>
          <p:nvPr/>
        </p:nvSpPr>
        <p:spPr>
          <a:xfrm>
            <a:off x="10607040" y="4480560"/>
            <a:ext cx="3291840" cy="3291840"/>
          </a:xfrm>
          <a:prstGeom prst="ellipse">
            <a:avLst/>
          </a:prstGeom>
          <a:solidFill>
            <a:srgbClr val="1C7293">
              <a:alpha val="45000"/>
            </a:srgbClr>
          </a:solidFill>
          <a:ln/>
        </p:spPr>
      </p:sp>
      <p:sp>
        <p:nvSpPr>
          <p:cNvPr id="4" name="Shape 2"/>
          <p:cNvSpPr/>
          <p:nvPr/>
        </p:nvSpPr>
        <p:spPr>
          <a:xfrm>
            <a:off x="-1645920" y="4754880"/>
            <a:ext cx="4023360" cy="4023360"/>
          </a:xfrm>
          <a:prstGeom prst="ellipse">
            <a:avLst/>
          </a:prstGeom>
          <a:solidFill>
            <a:srgbClr val="1C7293">
              <a:alpha val="30000"/>
            </a:srgbClr>
          </a:solidFill>
          <a:ln/>
        </p:spPr>
      </p:sp>
      <p:sp>
        <p:nvSpPr>
          <p:cNvPr id="5" name="Shape 3"/>
          <p:cNvSpPr/>
          <p:nvPr/>
        </p:nvSpPr>
        <p:spPr>
          <a:xfrm>
            <a:off x="777240" y="1234440"/>
            <a:ext cx="822960" cy="822960"/>
          </a:xfrm>
          <a:prstGeom prst="ellipse">
            <a:avLst/>
          </a:prstGeom>
          <a:solidFill>
            <a:srgbClr val="1C7293"/>
          </a:solidFill>
          <a:ln/>
        </p:spPr>
      </p:sp>
      <p:pic>
        <p:nvPicPr>
          <p:cNvPr id="6" name="Image 0" descr="preencoded.png">    </p:cNvPr>
          <p:cNvPicPr>
            <a:picLocks noChangeAspect="1"/>
          </p:cNvPicPr>
          <p:nvPr/>
        </p:nvPicPr>
        <p:blipFill>
          <a:blip r:embed="rId1"/>
          <a:stretch>
            <a:fillRect/>
          </a:stretch>
        </p:blipFill>
        <p:spPr>
          <a:xfrm>
            <a:off x="991210" y="1448410"/>
            <a:ext cx="395021" cy="395021"/>
          </a:xfrm>
          <a:prstGeom prst="rect">
            <a:avLst/>
          </a:prstGeom>
        </p:spPr>
      </p:pic>
      <p:sp>
        <p:nvSpPr>
          <p:cNvPr id="7" name="Text 4"/>
          <p:cNvSpPr/>
          <p:nvPr/>
        </p:nvSpPr>
        <p:spPr>
          <a:xfrm>
            <a:off x="1783080" y="1371600"/>
            <a:ext cx="3657600" cy="502920"/>
          </a:xfrm>
          <a:prstGeom prst="rect">
            <a:avLst/>
          </a:prstGeom>
          <a:noFill/>
          <a:ln/>
        </p:spPr>
        <p:txBody>
          <a:bodyPr wrap="square" lIns="0" tIns="0" rIns="0" bIns="0" rtlCol="0" anchor="ctr"/>
          <a:lstStyle/>
          <a:p>
            <a:pPr indent="0" marL="0">
              <a:buNone/>
            </a:pPr>
            <a:r>
              <a:rPr lang="en-US" sz="1500" b="1" dirty="0">
                <a:solidFill>
                  <a:srgbClr val="8FD6E8"/>
                </a:solidFill>
                <a:latin typeface="Meiryo UI" pitchFamily="34" charset="0"/>
                <a:ea typeface="Meiryo UI" pitchFamily="34" charset="-122"/>
                <a:cs typeface="Meiryo UI" pitchFamily="34" charset="-120"/>
              </a:rPr>
              <a:t>部内説明会資料</a:t>
            </a:r>
            <a:endParaRPr lang="en-US" sz="1500" dirty="0"/>
          </a:p>
        </p:txBody>
      </p:sp>
      <p:sp>
        <p:nvSpPr>
          <p:cNvPr id="8" name="Text 5"/>
          <p:cNvSpPr/>
          <p:nvPr/>
        </p:nvSpPr>
        <p:spPr>
          <a:xfrm>
            <a:off x="777240" y="2331720"/>
            <a:ext cx="10607040" cy="1828800"/>
          </a:xfrm>
          <a:prstGeom prst="rect">
            <a:avLst/>
          </a:prstGeom>
          <a:noFill/>
          <a:ln/>
        </p:spPr>
        <p:txBody>
          <a:bodyPr wrap="square" lIns="0" tIns="0" rIns="0" bIns="0" rtlCol="0" anchor="ctr"/>
          <a:lstStyle/>
          <a:p>
            <a:pPr indent="0" marL="0">
              <a:lnSpc>
                <a:spcPct val="115000"/>
              </a:lnSpc>
              <a:buNone/>
            </a:pPr>
            <a:r>
              <a:rPr lang="en-US" sz="4400" b="1" dirty="0">
                <a:solidFill>
                  <a:srgbClr val="FFFFFF"/>
                </a:solidFill>
                <a:latin typeface="Meiryo UI" pitchFamily="34" charset="0"/>
                <a:ea typeface="Meiryo UI" pitchFamily="34" charset="-122"/>
                <a:cs typeface="Meiryo UI" pitchFamily="34" charset="-120"/>
              </a:rPr>
              <a:t>Microsoft 365 Copilot</a:t>
            </a:r>
            <a:endParaRPr lang="en-US" sz="4400" dirty="0"/>
          </a:p>
          <a:p>
            <a:pPr indent="0" marL="0">
              <a:lnSpc>
                <a:spcPct val="115000"/>
              </a:lnSpc>
              <a:buNone/>
            </a:pPr>
            <a:r>
              <a:rPr lang="en-US" sz="4400" b="1" dirty="0">
                <a:solidFill>
                  <a:srgbClr val="FFFFFF"/>
                </a:solidFill>
                <a:latin typeface="Meiryo UI" pitchFamily="34" charset="0"/>
                <a:ea typeface="Meiryo UI" pitchFamily="34" charset="-122"/>
                <a:cs typeface="Meiryo UI" pitchFamily="34" charset="-120"/>
              </a:rPr>
              <a:t>活用ガイド</a:t>
            </a:r>
            <a:endParaRPr lang="en-US" sz="4400" dirty="0"/>
          </a:p>
        </p:txBody>
      </p:sp>
      <p:sp>
        <p:nvSpPr>
          <p:cNvPr id="9" name="Text 6"/>
          <p:cNvSpPr/>
          <p:nvPr/>
        </p:nvSpPr>
        <p:spPr>
          <a:xfrm>
            <a:off x="777240" y="4343400"/>
            <a:ext cx="10058400" cy="502920"/>
          </a:xfrm>
          <a:prstGeom prst="rect">
            <a:avLst/>
          </a:prstGeom>
          <a:noFill/>
          <a:ln/>
        </p:spPr>
        <p:txBody>
          <a:bodyPr wrap="square" lIns="0" tIns="0" rIns="0" bIns="0" rtlCol="0" anchor="ctr"/>
          <a:lstStyle/>
          <a:p>
            <a:pPr indent="0" marL="0">
              <a:buNone/>
            </a:pPr>
            <a:r>
              <a:rPr lang="en-US" sz="1800" dirty="0">
                <a:solidFill>
                  <a:srgbClr val="CADCFC"/>
                </a:solidFill>
                <a:latin typeface="Meiryo UI" pitchFamily="34" charset="0"/>
                <a:ea typeface="Meiryo UI" pitchFamily="34" charset="-122"/>
                <a:cs typeface="Meiryo UI" pitchFamily="34" charset="-120"/>
              </a:rPr>
              <a:t>ゼロからフル活用まで ― 6つのステップで部の生産性を上げる</a:t>
            </a:r>
            <a:endParaRPr lang="en-US" sz="1800" dirty="0"/>
          </a:p>
        </p:txBody>
      </p:sp>
      <p:sp>
        <p:nvSpPr>
          <p:cNvPr id="10" name="Text 7"/>
          <p:cNvSpPr/>
          <p:nvPr/>
        </p:nvSpPr>
        <p:spPr>
          <a:xfrm>
            <a:off x="777240" y="5989320"/>
            <a:ext cx="7315200" cy="365760"/>
          </a:xfrm>
          <a:prstGeom prst="rect">
            <a:avLst/>
          </a:prstGeom>
          <a:noFill/>
          <a:ln/>
        </p:spPr>
        <p:txBody>
          <a:bodyPr wrap="square" lIns="0" tIns="0" rIns="0" bIns="0" rtlCol="0" anchor="ctr"/>
          <a:lstStyle/>
          <a:p>
            <a:pPr indent="0" marL="0">
              <a:buNone/>
            </a:pPr>
            <a:r>
              <a:rPr lang="en-US" sz="1200" dirty="0">
                <a:solidFill>
                  <a:srgbClr val="8B9BC7"/>
                </a:solidFill>
                <a:latin typeface="Meiryo UI" pitchFamily="34" charset="0"/>
                <a:ea typeface="Meiryo UI" pitchFamily="34" charset="-122"/>
                <a:cs typeface="Meiryo UI" pitchFamily="34" charset="-120"/>
              </a:rPr>
              <a:t>2026年8月｜Copilot推進チーム</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94360"/>
          </a:xfrm>
          <a:prstGeom prst="rect">
            <a:avLst/>
          </a:prstGeom>
          <a:noFill/>
          <a:ln/>
        </p:spPr>
        <p:txBody>
          <a:bodyPr wrap="square" lIns="0" tIns="0" rIns="0" bIns="0" rtlCol="0" anchor="ctr"/>
          <a:lstStyle/>
          <a:p>
            <a:pPr algn="l" indent="0" marL="0">
              <a:buNone/>
            </a:pPr>
            <a:r>
              <a:rPr lang="en-US" sz="2800" b="1" dirty="0">
                <a:solidFill>
                  <a:srgbClr val="065A82"/>
                </a:solidFill>
                <a:latin typeface="Meiryo UI" pitchFamily="34" charset="0"/>
                <a:ea typeface="Meiryo UI" pitchFamily="34" charset="-122"/>
                <a:cs typeface="Meiryo UI" pitchFamily="34" charset="-120"/>
              </a:rPr>
              <a:t>なぜ今、Copilotなのか</a:t>
            </a:r>
            <a:endParaRPr lang="en-US" sz="28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algn="l" indent="0" marL="0">
              <a:buNone/>
            </a:pPr>
            <a:r>
              <a:rPr lang="en-US" sz="1300" dirty="0">
                <a:solidFill>
                  <a:srgbClr val="5E7182"/>
                </a:solidFill>
                <a:latin typeface="Meiryo UI" pitchFamily="34" charset="0"/>
                <a:ea typeface="Meiryo UI" pitchFamily="34" charset="-122"/>
                <a:cs typeface="Meiryo UI" pitchFamily="34" charset="-120"/>
              </a:rPr>
              <a:t>毎日の「作業」をAIに任せ、人は「考える仕事」に時間を使う</a:t>
            </a:r>
            <a:endParaRPr lang="en-US" sz="1300" dirty="0"/>
          </a:p>
        </p:txBody>
      </p:sp>
      <p:sp>
        <p:nvSpPr>
          <p:cNvPr id="4" name="Shape 2"/>
          <p:cNvSpPr/>
          <p:nvPr/>
        </p:nvSpPr>
        <p:spPr>
          <a:xfrm>
            <a:off x="548640" y="1600200"/>
            <a:ext cx="6309360" cy="1188720"/>
          </a:xfrm>
          <a:prstGeom prst="roundRect">
            <a:avLst>
              <a:gd name="adj" fmla="val 6154"/>
            </a:avLst>
          </a:prstGeom>
          <a:solidFill>
            <a:srgbClr val="EFF6FA"/>
          </a:solidFill>
          <a:ln/>
        </p:spPr>
      </p:sp>
      <p:sp>
        <p:nvSpPr>
          <p:cNvPr id="5" name="Shape 3"/>
          <p:cNvSpPr/>
          <p:nvPr/>
        </p:nvSpPr>
        <p:spPr>
          <a:xfrm>
            <a:off x="777240" y="1874520"/>
            <a:ext cx="640080" cy="640080"/>
          </a:xfrm>
          <a:prstGeom prst="ellipse">
            <a:avLst/>
          </a:prstGeom>
          <a:solidFill>
            <a:srgbClr val="1C7293"/>
          </a:solidFill>
          <a:ln/>
        </p:spPr>
      </p:sp>
      <p:pic>
        <p:nvPicPr>
          <p:cNvPr id="6" name="Image 0" descr="preencoded.png">    </p:cNvPr>
          <p:cNvPicPr>
            <a:picLocks noChangeAspect="1"/>
          </p:cNvPicPr>
          <p:nvPr/>
        </p:nvPicPr>
        <p:blipFill>
          <a:blip r:embed="rId1"/>
          <a:stretch>
            <a:fillRect/>
          </a:stretch>
        </p:blipFill>
        <p:spPr>
          <a:xfrm>
            <a:off x="943661" y="2040941"/>
            <a:ext cx="307238" cy="307238"/>
          </a:xfrm>
          <a:prstGeom prst="rect">
            <a:avLst/>
          </a:prstGeom>
        </p:spPr>
      </p:pic>
      <p:sp>
        <p:nvSpPr>
          <p:cNvPr id="7" name="Text 4"/>
          <p:cNvSpPr/>
          <p:nvPr/>
        </p:nvSpPr>
        <p:spPr>
          <a:xfrm>
            <a:off x="1600200" y="1764792"/>
            <a:ext cx="5120640" cy="411480"/>
          </a:xfrm>
          <a:prstGeom prst="rect">
            <a:avLst/>
          </a:prstGeom>
          <a:noFill/>
          <a:ln/>
        </p:spPr>
        <p:txBody>
          <a:bodyPr wrap="square" lIns="0" tIns="0" rIns="0" bIns="0" rtlCol="0" anchor="ctr"/>
          <a:lstStyle/>
          <a:p>
            <a:pPr indent="0" marL="0">
              <a:buNone/>
            </a:pPr>
            <a:r>
              <a:rPr lang="en-US" sz="1600" b="1" dirty="0">
                <a:solidFill>
                  <a:srgbClr val="20303F"/>
                </a:solidFill>
                <a:latin typeface="Meiryo UI" pitchFamily="34" charset="0"/>
                <a:ea typeface="Meiryo UI" pitchFamily="34" charset="-122"/>
                <a:cs typeface="Meiryo UI" pitchFamily="34" charset="-120"/>
              </a:rPr>
              <a:t>メール・チャット処理に追われる</a:t>
            </a:r>
            <a:endParaRPr lang="en-US" sz="1600" dirty="0"/>
          </a:p>
        </p:txBody>
      </p:sp>
      <p:sp>
        <p:nvSpPr>
          <p:cNvPr id="8" name="Text 5"/>
          <p:cNvSpPr/>
          <p:nvPr/>
        </p:nvSpPr>
        <p:spPr>
          <a:xfrm>
            <a:off x="1600200" y="2176272"/>
            <a:ext cx="5120640" cy="502920"/>
          </a:xfrm>
          <a:prstGeom prst="rect">
            <a:avLst/>
          </a:prstGeom>
          <a:noFill/>
          <a:ln/>
        </p:spPr>
        <p:txBody>
          <a:bodyPr wrap="square" lIns="0" tIns="0" rIns="0" bIns="0" rtlCol="0" anchor="ctr"/>
          <a:lstStyle/>
          <a:p>
            <a:pPr indent="0" marL="0">
              <a:buNone/>
            </a:pPr>
            <a:r>
              <a:rPr lang="en-US" sz="1200" dirty="0">
                <a:solidFill>
                  <a:srgbClr val="5E7182"/>
                </a:solidFill>
                <a:latin typeface="Meiryo UI" pitchFamily="34" charset="0"/>
                <a:ea typeface="Meiryo UI" pitchFamily="34" charset="-122"/>
                <a:cs typeface="Meiryo UI" pitchFamily="34" charset="-120"/>
              </a:rPr>
              <a:t>1日の始まりと終わりが受信トレイの整理で消えていく</a:t>
            </a:r>
            <a:endParaRPr lang="en-US" sz="1200" dirty="0"/>
          </a:p>
        </p:txBody>
      </p:sp>
      <p:sp>
        <p:nvSpPr>
          <p:cNvPr id="9" name="Shape 6"/>
          <p:cNvSpPr/>
          <p:nvPr/>
        </p:nvSpPr>
        <p:spPr>
          <a:xfrm>
            <a:off x="548640" y="2971800"/>
            <a:ext cx="6309360" cy="1188720"/>
          </a:xfrm>
          <a:prstGeom prst="roundRect">
            <a:avLst>
              <a:gd name="adj" fmla="val 6154"/>
            </a:avLst>
          </a:prstGeom>
          <a:solidFill>
            <a:srgbClr val="EFF6FA"/>
          </a:solidFill>
          <a:ln/>
        </p:spPr>
      </p:sp>
      <p:sp>
        <p:nvSpPr>
          <p:cNvPr id="10" name="Shape 7"/>
          <p:cNvSpPr/>
          <p:nvPr/>
        </p:nvSpPr>
        <p:spPr>
          <a:xfrm>
            <a:off x="777240" y="3246120"/>
            <a:ext cx="640080" cy="640080"/>
          </a:xfrm>
          <a:prstGeom prst="ellipse">
            <a:avLst/>
          </a:prstGeom>
          <a:solidFill>
            <a:srgbClr val="1C7293"/>
          </a:solidFill>
          <a:ln/>
        </p:spPr>
      </p:sp>
      <p:pic>
        <p:nvPicPr>
          <p:cNvPr id="11" name="Image 1" descr="preencoded.png">    </p:cNvPr>
          <p:cNvPicPr>
            <a:picLocks noChangeAspect="1"/>
          </p:cNvPicPr>
          <p:nvPr/>
        </p:nvPicPr>
        <p:blipFill>
          <a:blip r:embed="rId2"/>
          <a:stretch>
            <a:fillRect/>
          </a:stretch>
        </p:blipFill>
        <p:spPr>
          <a:xfrm>
            <a:off x="943661" y="3412541"/>
            <a:ext cx="307238" cy="307238"/>
          </a:xfrm>
          <a:prstGeom prst="rect">
            <a:avLst/>
          </a:prstGeom>
        </p:spPr>
      </p:pic>
      <p:sp>
        <p:nvSpPr>
          <p:cNvPr id="12" name="Text 8"/>
          <p:cNvSpPr/>
          <p:nvPr/>
        </p:nvSpPr>
        <p:spPr>
          <a:xfrm>
            <a:off x="1600200" y="3136392"/>
            <a:ext cx="5120640" cy="411480"/>
          </a:xfrm>
          <a:prstGeom prst="rect">
            <a:avLst/>
          </a:prstGeom>
          <a:noFill/>
          <a:ln/>
        </p:spPr>
        <p:txBody>
          <a:bodyPr wrap="square" lIns="0" tIns="0" rIns="0" bIns="0" rtlCol="0" anchor="ctr"/>
          <a:lstStyle/>
          <a:p>
            <a:pPr indent="0" marL="0">
              <a:buNone/>
            </a:pPr>
            <a:r>
              <a:rPr lang="en-US" sz="1600" b="1" dirty="0">
                <a:solidFill>
                  <a:srgbClr val="20303F"/>
                </a:solidFill>
                <a:latin typeface="Meiryo UI" pitchFamily="34" charset="0"/>
                <a:ea typeface="Meiryo UI" pitchFamily="34" charset="-122"/>
                <a:cs typeface="Meiryo UI" pitchFamily="34" charset="-120"/>
              </a:rPr>
              <a:t>会議と議事録に時間がかかる</a:t>
            </a:r>
            <a:endParaRPr lang="en-US" sz="1600" dirty="0"/>
          </a:p>
        </p:txBody>
      </p:sp>
      <p:sp>
        <p:nvSpPr>
          <p:cNvPr id="13" name="Text 9"/>
          <p:cNvSpPr/>
          <p:nvPr/>
        </p:nvSpPr>
        <p:spPr>
          <a:xfrm>
            <a:off x="1600200" y="3547872"/>
            <a:ext cx="5120640" cy="502920"/>
          </a:xfrm>
          <a:prstGeom prst="rect">
            <a:avLst/>
          </a:prstGeom>
          <a:noFill/>
          <a:ln/>
        </p:spPr>
        <p:txBody>
          <a:bodyPr wrap="square" lIns="0" tIns="0" rIns="0" bIns="0" rtlCol="0" anchor="ctr"/>
          <a:lstStyle/>
          <a:p>
            <a:pPr indent="0" marL="0">
              <a:buNone/>
            </a:pPr>
            <a:r>
              <a:rPr lang="en-US" sz="1200" dirty="0">
                <a:solidFill>
                  <a:srgbClr val="5E7182"/>
                </a:solidFill>
                <a:latin typeface="Meiryo UI" pitchFamily="34" charset="0"/>
                <a:ea typeface="Meiryo UI" pitchFamily="34" charset="-122"/>
                <a:cs typeface="Meiryo UI" pitchFamily="34" charset="-120"/>
              </a:rPr>
              <a:t>会議後の議事録作成・共有が後回しになり、決定事項が流れる</a:t>
            </a:r>
            <a:endParaRPr lang="en-US" sz="1200" dirty="0"/>
          </a:p>
        </p:txBody>
      </p:sp>
      <p:sp>
        <p:nvSpPr>
          <p:cNvPr id="14" name="Shape 10"/>
          <p:cNvSpPr/>
          <p:nvPr/>
        </p:nvSpPr>
        <p:spPr>
          <a:xfrm>
            <a:off x="548640" y="4343400"/>
            <a:ext cx="6309360" cy="1188720"/>
          </a:xfrm>
          <a:prstGeom prst="roundRect">
            <a:avLst>
              <a:gd name="adj" fmla="val 6154"/>
            </a:avLst>
          </a:prstGeom>
          <a:solidFill>
            <a:srgbClr val="EFF6FA"/>
          </a:solidFill>
          <a:ln/>
        </p:spPr>
      </p:sp>
      <p:sp>
        <p:nvSpPr>
          <p:cNvPr id="15" name="Shape 11"/>
          <p:cNvSpPr/>
          <p:nvPr/>
        </p:nvSpPr>
        <p:spPr>
          <a:xfrm>
            <a:off x="777240" y="4617720"/>
            <a:ext cx="640080" cy="640080"/>
          </a:xfrm>
          <a:prstGeom prst="ellipse">
            <a:avLst/>
          </a:prstGeom>
          <a:solidFill>
            <a:srgbClr val="1C7293"/>
          </a:solidFill>
          <a:ln/>
        </p:spPr>
      </p:sp>
      <p:pic>
        <p:nvPicPr>
          <p:cNvPr id="16" name="Image 2" descr="preencoded.png">    </p:cNvPr>
          <p:cNvPicPr>
            <a:picLocks noChangeAspect="1"/>
          </p:cNvPicPr>
          <p:nvPr/>
        </p:nvPicPr>
        <p:blipFill>
          <a:blip r:embed="rId3"/>
          <a:stretch>
            <a:fillRect/>
          </a:stretch>
        </p:blipFill>
        <p:spPr>
          <a:xfrm>
            <a:off x="943661" y="4784141"/>
            <a:ext cx="307238" cy="307238"/>
          </a:xfrm>
          <a:prstGeom prst="rect">
            <a:avLst/>
          </a:prstGeom>
        </p:spPr>
      </p:pic>
      <p:sp>
        <p:nvSpPr>
          <p:cNvPr id="17" name="Text 12"/>
          <p:cNvSpPr/>
          <p:nvPr/>
        </p:nvSpPr>
        <p:spPr>
          <a:xfrm>
            <a:off x="1600200" y="4507992"/>
            <a:ext cx="5120640" cy="411480"/>
          </a:xfrm>
          <a:prstGeom prst="rect">
            <a:avLst/>
          </a:prstGeom>
          <a:noFill/>
          <a:ln/>
        </p:spPr>
        <p:txBody>
          <a:bodyPr wrap="square" lIns="0" tIns="0" rIns="0" bIns="0" rtlCol="0" anchor="ctr"/>
          <a:lstStyle/>
          <a:p>
            <a:pPr indent="0" marL="0">
              <a:buNone/>
            </a:pPr>
            <a:r>
              <a:rPr lang="en-US" sz="1600" b="1" dirty="0">
                <a:solidFill>
                  <a:srgbClr val="20303F"/>
                </a:solidFill>
                <a:latin typeface="Meiryo UI" pitchFamily="34" charset="0"/>
                <a:ea typeface="Meiryo UI" pitchFamily="34" charset="-122"/>
                <a:cs typeface="Meiryo UI" pitchFamily="34" charset="-120"/>
              </a:rPr>
              <a:t>資料作成が属人化している</a:t>
            </a:r>
            <a:endParaRPr lang="en-US" sz="1600" dirty="0"/>
          </a:p>
        </p:txBody>
      </p:sp>
      <p:sp>
        <p:nvSpPr>
          <p:cNvPr id="18" name="Text 13"/>
          <p:cNvSpPr/>
          <p:nvPr/>
        </p:nvSpPr>
        <p:spPr>
          <a:xfrm>
            <a:off x="1600200" y="4919472"/>
            <a:ext cx="5120640" cy="502920"/>
          </a:xfrm>
          <a:prstGeom prst="rect">
            <a:avLst/>
          </a:prstGeom>
          <a:noFill/>
          <a:ln/>
        </p:spPr>
        <p:txBody>
          <a:bodyPr wrap="square" lIns="0" tIns="0" rIns="0" bIns="0" rtlCol="0" anchor="ctr"/>
          <a:lstStyle/>
          <a:p>
            <a:pPr indent="0" marL="0">
              <a:buNone/>
            </a:pPr>
            <a:r>
              <a:rPr lang="en-US" sz="1200" dirty="0">
                <a:solidFill>
                  <a:srgbClr val="5E7182"/>
                </a:solidFill>
                <a:latin typeface="Meiryo UI" pitchFamily="34" charset="0"/>
                <a:ea typeface="Meiryo UI" pitchFamily="34" charset="-122"/>
                <a:cs typeface="Meiryo UI" pitchFamily="34" charset="-120"/>
              </a:rPr>
              <a:t>たたき台づくりに時間がかかり、ノウハウは個人に偏っている</a:t>
            </a:r>
            <a:endParaRPr lang="en-US" sz="1200" dirty="0"/>
          </a:p>
        </p:txBody>
      </p:sp>
      <p:sp>
        <p:nvSpPr>
          <p:cNvPr id="19" name="Shape 14"/>
          <p:cNvSpPr/>
          <p:nvPr/>
        </p:nvSpPr>
        <p:spPr>
          <a:xfrm>
            <a:off x="7223760" y="1600200"/>
            <a:ext cx="4416552" cy="4160520"/>
          </a:xfrm>
          <a:prstGeom prst="roundRect">
            <a:avLst>
              <a:gd name="adj" fmla="val 1758"/>
            </a:avLst>
          </a:prstGeom>
          <a:solidFill>
            <a:srgbClr val="21295C"/>
          </a:solidFill>
          <a:ln/>
        </p:spPr>
      </p:sp>
      <p:sp>
        <p:nvSpPr>
          <p:cNvPr id="20" name="Text 15"/>
          <p:cNvSpPr/>
          <p:nvPr/>
        </p:nvSpPr>
        <p:spPr>
          <a:xfrm>
            <a:off x="7498080" y="2011680"/>
            <a:ext cx="3840480" cy="1188720"/>
          </a:xfrm>
          <a:prstGeom prst="rect">
            <a:avLst/>
          </a:prstGeom>
          <a:noFill/>
          <a:ln/>
        </p:spPr>
        <p:txBody>
          <a:bodyPr wrap="square" lIns="0" tIns="0" rIns="0" bIns="0" rtlCol="0" anchor="ctr"/>
          <a:lstStyle/>
          <a:p>
            <a:pPr algn="ctr" indent="0" marL="0">
              <a:buNone/>
            </a:pPr>
            <a:r>
              <a:rPr lang="en-US" sz="7200" b="1" dirty="0">
                <a:solidFill>
                  <a:srgbClr val="8FD6E8"/>
                </a:solidFill>
                <a:latin typeface="Meiryo UI" pitchFamily="34" charset="0"/>
                <a:ea typeface="Meiryo UI" pitchFamily="34" charset="-122"/>
                <a:cs typeface="Meiryo UI" pitchFamily="34" charset="-120"/>
              </a:rPr>
              <a:t>70%</a:t>
            </a:r>
            <a:endParaRPr lang="en-US" sz="7200" dirty="0"/>
          </a:p>
        </p:txBody>
      </p:sp>
      <p:sp>
        <p:nvSpPr>
          <p:cNvPr id="21" name="Text 16"/>
          <p:cNvSpPr/>
          <p:nvPr/>
        </p:nvSpPr>
        <p:spPr>
          <a:xfrm>
            <a:off x="7498080" y="3291840"/>
            <a:ext cx="3840480" cy="822960"/>
          </a:xfrm>
          <a:prstGeom prst="rect">
            <a:avLst/>
          </a:prstGeom>
          <a:noFill/>
          <a:ln/>
        </p:spPr>
        <p:txBody>
          <a:bodyPr wrap="square" lIns="0" tIns="0" rIns="0" bIns="0" rtlCol="0" anchor="ctr"/>
          <a:lstStyle/>
          <a:p>
            <a:pPr algn="ctr" indent="0" marL="0">
              <a:lnSpc>
                <a:spcPct val="120000"/>
              </a:lnSpc>
              <a:buNone/>
            </a:pPr>
            <a:r>
              <a:rPr lang="en-US" sz="1500" b="1" dirty="0">
                <a:solidFill>
                  <a:srgbClr val="FFFFFF"/>
                </a:solidFill>
                <a:latin typeface="Meiryo UI" pitchFamily="34" charset="0"/>
                <a:ea typeface="Meiryo UI" pitchFamily="34" charset="-122"/>
                <a:cs typeface="Meiryo UI" pitchFamily="34" charset="-120"/>
              </a:rPr>
              <a:t>Copilot利用者の70%が</a:t>
            </a:r>
            <a:endParaRPr lang="en-US" sz="1500" dirty="0"/>
          </a:p>
          <a:p>
            <a:pPr algn="ctr" indent="0" marL="0">
              <a:lnSpc>
                <a:spcPct val="120000"/>
              </a:lnSpc>
              <a:buNone/>
            </a:pPr>
            <a:r>
              <a:rPr lang="en-US" sz="1500" b="1" dirty="0">
                <a:solidFill>
                  <a:srgbClr val="FFFFFF"/>
                </a:solidFill>
                <a:latin typeface="Meiryo UI" pitchFamily="34" charset="0"/>
                <a:ea typeface="Meiryo UI" pitchFamily="34" charset="-122"/>
                <a:cs typeface="Meiryo UI" pitchFamily="34" charset="-120"/>
              </a:rPr>
              <a:t>「生産性が上がった」と回答</a:t>
            </a:r>
            <a:endParaRPr lang="en-US" sz="1500" dirty="0"/>
          </a:p>
        </p:txBody>
      </p:sp>
      <p:sp>
        <p:nvSpPr>
          <p:cNvPr id="22" name="Text 17"/>
          <p:cNvSpPr/>
          <p:nvPr/>
        </p:nvSpPr>
        <p:spPr>
          <a:xfrm>
            <a:off x="7589520" y="4297680"/>
            <a:ext cx="3657600" cy="822960"/>
          </a:xfrm>
          <a:prstGeom prst="rect">
            <a:avLst/>
          </a:prstGeom>
          <a:noFill/>
          <a:ln/>
        </p:spPr>
        <p:txBody>
          <a:bodyPr wrap="square" lIns="0" tIns="0" rIns="0" bIns="0" rtlCol="0" anchor="ctr"/>
          <a:lstStyle/>
          <a:p>
            <a:pPr algn="ctr" indent="0" marL="0">
              <a:buNone/>
            </a:pPr>
            <a:r>
              <a:rPr lang="en-US" sz="1100" dirty="0">
                <a:solidFill>
                  <a:srgbClr val="CADCFC"/>
                </a:solidFill>
                <a:latin typeface="Meiryo UI" pitchFamily="34" charset="0"/>
                <a:ea typeface="Meiryo UI" pitchFamily="34" charset="-122"/>
                <a:cs typeface="Meiryo UI" pitchFamily="34" charset="-120"/>
              </a:rPr>
              <a:t>要約・下書き・検索などの作業で、利用者の多くが時間短縮と品質向上を実感しています。</a:t>
            </a:r>
            <a:endParaRPr lang="en-US" sz="1100" dirty="0"/>
          </a:p>
        </p:txBody>
      </p:sp>
      <p:sp>
        <p:nvSpPr>
          <p:cNvPr id="23" name="Text 18"/>
          <p:cNvSpPr/>
          <p:nvPr/>
        </p:nvSpPr>
        <p:spPr>
          <a:xfrm>
            <a:off x="7498080" y="5349240"/>
            <a:ext cx="3840480" cy="274320"/>
          </a:xfrm>
          <a:prstGeom prst="rect">
            <a:avLst/>
          </a:prstGeom>
          <a:noFill/>
          <a:ln/>
        </p:spPr>
        <p:txBody>
          <a:bodyPr wrap="square" lIns="0" tIns="0" rIns="0" bIns="0" rtlCol="0" anchor="ctr"/>
          <a:lstStyle/>
          <a:p>
            <a:pPr algn="ctr" indent="0" marL="0">
              <a:buNone/>
            </a:pPr>
            <a:r>
              <a:rPr lang="en-US" sz="900" i="1" dirty="0">
                <a:solidFill>
                  <a:srgbClr val="8B9BC7"/>
                </a:solidFill>
                <a:latin typeface="Meiryo UI" pitchFamily="34" charset="0"/>
                <a:ea typeface="Meiryo UI" pitchFamily="34" charset="-122"/>
                <a:cs typeface="Meiryo UI" pitchFamily="34" charset="-120"/>
              </a:rPr>
              <a:t>出典：Microsoft Work Trend Index (2023)</a:t>
            </a:r>
            <a:endParaRPr lang="en-US" sz="900" dirty="0"/>
          </a:p>
        </p:txBody>
      </p:sp>
      <p:sp>
        <p:nvSpPr>
          <p:cNvPr id="24" name="Text 19"/>
          <p:cNvSpPr/>
          <p:nvPr/>
        </p:nvSpPr>
        <p:spPr>
          <a:xfrm>
            <a:off x="8897112" y="6473952"/>
            <a:ext cx="2743200" cy="274320"/>
          </a:xfrm>
          <a:prstGeom prst="rect">
            <a:avLst/>
          </a:prstGeom>
          <a:noFill/>
          <a:ln/>
        </p:spPr>
        <p:txBody>
          <a:bodyPr wrap="square" lIns="0" tIns="0" rIns="0" bIns="0" rtlCol="0" anchor="ctr"/>
          <a:lstStyle/>
          <a:p>
            <a:pPr algn="r" indent="0" marL="0">
              <a:buNone/>
            </a:pPr>
            <a:r>
              <a:rPr lang="en-US" sz="900" dirty="0">
                <a:solidFill>
                  <a:srgbClr val="9AAAB8"/>
                </a:solidFill>
                <a:latin typeface="Meiryo UI" pitchFamily="34" charset="0"/>
                <a:ea typeface="Meiryo UI" pitchFamily="34" charset="-122"/>
                <a:cs typeface="Meiryo UI" pitchFamily="34" charset="-120"/>
              </a:rPr>
              <a:t>Microsoft 365 Copilot 活用ガイド｜2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94360"/>
          </a:xfrm>
          <a:prstGeom prst="rect">
            <a:avLst/>
          </a:prstGeom>
          <a:noFill/>
          <a:ln/>
        </p:spPr>
        <p:txBody>
          <a:bodyPr wrap="square" lIns="0" tIns="0" rIns="0" bIns="0" rtlCol="0" anchor="ctr"/>
          <a:lstStyle/>
          <a:p>
            <a:pPr algn="l" indent="0" marL="0">
              <a:buNone/>
            </a:pPr>
            <a:r>
              <a:rPr lang="en-US" sz="2800" b="1" dirty="0">
                <a:solidFill>
                  <a:srgbClr val="065A82"/>
                </a:solidFill>
                <a:latin typeface="Meiryo UI" pitchFamily="34" charset="0"/>
                <a:ea typeface="Meiryo UI" pitchFamily="34" charset="-122"/>
                <a:cs typeface="Meiryo UI" pitchFamily="34" charset="-120"/>
              </a:rPr>
              <a:t>Microsoft 365 Copilotとは</a:t>
            </a:r>
            <a:endParaRPr lang="en-US" sz="28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algn="l" indent="0" marL="0">
              <a:buNone/>
            </a:pPr>
            <a:r>
              <a:rPr lang="en-US" sz="1300" dirty="0">
                <a:solidFill>
                  <a:srgbClr val="5E7182"/>
                </a:solidFill>
                <a:latin typeface="Meiryo UI" pitchFamily="34" charset="0"/>
                <a:ea typeface="Meiryo UI" pitchFamily="34" charset="-122"/>
                <a:cs typeface="Meiryo UI" pitchFamily="34" charset="-120"/>
              </a:rPr>
              <a:t>いつものOfficeアプリに組み込まれたAIアシスタント。自分がアクセスできる社内データを踏まえて答えてくれる</a:t>
            </a:r>
            <a:endParaRPr lang="en-US" sz="1300" dirty="0"/>
          </a:p>
        </p:txBody>
      </p:sp>
      <p:sp>
        <p:nvSpPr>
          <p:cNvPr id="4" name="Shape 2"/>
          <p:cNvSpPr/>
          <p:nvPr/>
        </p:nvSpPr>
        <p:spPr>
          <a:xfrm>
            <a:off x="548640" y="1691640"/>
            <a:ext cx="3511296" cy="1965960"/>
          </a:xfrm>
          <a:prstGeom prst="roundRect">
            <a:avLst>
              <a:gd name="adj" fmla="val 3721"/>
            </a:avLst>
          </a:prstGeom>
          <a:solidFill>
            <a:srgbClr val="EFF6FA"/>
          </a:solidFill>
          <a:ln/>
        </p:spPr>
      </p:sp>
      <p:sp>
        <p:nvSpPr>
          <p:cNvPr id="5" name="Shape 3"/>
          <p:cNvSpPr/>
          <p:nvPr/>
        </p:nvSpPr>
        <p:spPr>
          <a:xfrm>
            <a:off x="804672" y="1947672"/>
            <a:ext cx="566928" cy="566928"/>
          </a:xfrm>
          <a:prstGeom prst="ellipse">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952073" y="2095073"/>
            <a:ext cx="272125" cy="272125"/>
          </a:xfrm>
          <a:prstGeom prst="rect">
            <a:avLst/>
          </a:prstGeom>
        </p:spPr>
      </p:pic>
      <p:sp>
        <p:nvSpPr>
          <p:cNvPr id="7" name="Text 4"/>
          <p:cNvSpPr/>
          <p:nvPr/>
        </p:nvSpPr>
        <p:spPr>
          <a:xfrm>
            <a:off x="1508760" y="1965960"/>
            <a:ext cx="2368296" cy="502920"/>
          </a:xfrm>
          <a:prstGeom prst="rect">
            <a:avLst/>
          </a:prstGeom>
          <a:noFill/>
          <a:ln/>
        </p:spPr>
        <p:txBody>
          <a:bodyPr wrap="square" lIns="0" tIns="0" rIns="0" bIns="0" rtlCol="0" anchor="ctr"/>
          <a:lstStyle/>
          <a:p>
            <a:pPr indent="0" marL="0">
              <a:buNone/>
            </a:pPr>
            <a:r>
              <a:rPr lang="en-US" sz="1700" b="1" dirty="0">
                <a:solidFill>
                  <a:srgbClr val="065A82"/>
                </a:solidFill>
                <a:latin typeface="Meiryo UI" pitchFamily="34" charset="0"/>
                <a:ea typeface="Meiryo UI" pitchFamily="34" charset="-122"/>
                <a:cs typeface="Meiryo UI" pitchFamily="34" charset="-120"/>
              </a:rPr>
              <a:t>Copilot Chat</a:t>
            </a:r>
            <a:endParaRPr lang="en-US" sz="1700" dirty="0"/>
          </a:p>
        </p:txBody>
      </p:sp>
      <p:sp>
        <p:nvSpPr>
          <p:cNvPr id="8" name="Text 5"/>
          <p:cNvSpPr/>
          <p:nvPr/>
        </p:nvSpPr>
        <p:spPr>
          <a:xfrm>
            <a:off x="822960" y="2651760"/>
            <a:ext cx="2962656" cy="868680"/>
          </a:xfrm>
          <a:prstGeom prst="rect">
            <a:avLst/>
          </a:prstGeom>
          <a:noFill/>
          <a:ln/>
        </p:spPr>
        <p:txBody>
          <a:bodyPr wrap="square" lIns="0" tIns="0" rIns="0" bIns="0" rtlCol="0" anchor="ctr"/>
          <a:lstStyle/>
          <a:p>
            <a:pPr indent="0" marL="0">
              <a:lnSpc>
                <a:spcPct val="115000"/>
              </a:lnSpc>
              <a:buNone/>
            </a:pPr>
            <a:r>
              <a:rPr lang="en-US" sz="1150" dirty="0">
                <a:solidFill>
                  <a:srgbClr val="20303F"/>
                </a:solidFill>
                <a:latin typeface="Meiryo UI" pitchFamily="34" charset="0"/>
                <a:ea typeface="Meiryo UI" pitchFamily="34" charset="-122"/>
                <a:cs typeface="Meiryo UI" pitchFamily="34" charset="-120"/>
              </a:rPr>
              <a:t>質問・要約・翻訳・下書き。社内ファイルやメールも横断検索できる「入口」</a:t>
            </a:r>
            <a:endParaRPr lang="en-US" sz="1150" dirty="0"/>
          </a:p>
        </p:txBody>
      </p:sp>
      <p:sp>
        <p:nvSpPr>
          <p:cNvPr id="9" name="Shape 6"/>
          <p:cNvSpPr/>
          <p:nvPr/>
        </p:nvSpPr>
        <p:spPr>
          <a:xfrm>
            <a:off x="4334256" y="1691640"/>
            <a:ext cx="3511296" cy="1965960"/>
          </a:xfrm>
          <a:prstGeom prst="roundRect">
            <a:avLst>
              <a:gd name="adj" fmla="val 3721"/>
            </a:avLst>
          </a:prstGeom>
          <a:solidFill>
            <a:srgbClr val="EFF6FA"/>
          </a:solidFill>
          <a:ln/>
        </p:spPr>
      </p:sp>
      <p:sp>
        <p:nvSpPr>
          <p:cNvPr id="10" name="Shape 7"/>
          <p:cNvSpPr/>
          <p:nvPr/>
        </p:nvSpPr>
        <p:spPr>
          <a:xfrm>
            <a:off x="4590288" y="1947672"/>
            <a:ext cx="566928" cy="566928"/>
          </a:xfrm>
          <a:prstGeom prst="ellipse">
            <a:avLst/>
          </a:prstGeom>
          <a:solidFill>
            <a:srgbClr val="065A82"/>
          </a:solidFill>
          <a:ln/>
        </p:spPr>
      </p:sp>
      <p:pic>
        <p:nvPicPr>
          <p:cNvPr id="11" name="Image 1" descr="preencoded.png">    </p:cNvPr>
          <p:cNvPicPr>
            <a:picLocks noChangeAspect="1"/>
          </p:cNvPicPr>
          <p:nvPr/>
        </p:nvPicPr>
        <p:blipFill>
          <a:blip r:embed="rId2"/>
          <a:stretch>
            <a:fillRect/>
          </a:stretch>
        </p:blipFill>
        <p:spPr>
          <a:xfrm>
            <a:off x="4737689" y="2095073"/>
            <a:ext cx="272125" cy="272125"/>
          </a:xfrm>
          <a:prstGeom prst="rect">
            <a:avLst/>
          </a:prstGeom>
        </p:spPr>
      </p:pic>
      <p:sp>
        <p:nvSpPr>
          <p:cNvPr id="12" name="Text 8"/>
          <p:cNvSpPr/>
          <p:nvPr/>
        </p:nvSpPr>
        <p:spPr>
          <a:xfrm>
            <a:off x="5294376" y="1965960"/>
            <a:ext cx="2368296" cy="502920"/>
          </a:xfrm>
          <a:prstGeom prst="rect">
            <a:avLst/>
          </a:prstGeom>
          <a:noFill/>
          <a:ln/>
        </p:spPr>
        <p:txBody>
          <a:bodyPr wrap="square" lIns="0" tIns="0" rIns="0" bIns="0" rtlCol="0" anchor="ctr"/>
          <a:lstStyle/>
          <a:p>
            <a:pPr indent="0" marL="0">
              <a:buNone/>
            </a:pPr>
            <a:r>
              <a:rPr lang="en-US" sz="1700" b="1" dirty="0">
                <a:solidFill>
                  <a:srgbClr val="065A82"/>
                </a:solidFill>
                <a:latin typeface="Meiryo UI" pitchFamily="34" charset="0"/>
                <a:ea typeface="Meiryo UI" pitchFamily="34" charset="-122"/>
                <a:cs typeface="Meiryo UI" pitchFamily="34" charset="-120"/>
              </a:rPr>
              <a:t>Word</a:t>
            </a:r>
            <a:endParaRPr lang="en-US" sz="1700" dirty="0"/>
          </a:p>
        </p:txBody>
      </p:sp>
      <p:sp>
        <p:nvSpPr>
          <p:cNvPr id="13" name="Text 9"/>
          <p:cNvSpPr/>
          <p:nvPr/>
        </p:nvSpPr>
        <p:spPr>
          <a:xfrm>
            <a:off x="4608576" y="2651760"/>
            <a:ext cx="2962656" cy="868680"/>
          </a:xfrm>
          <a:prstGeom prst="rect">
            <a:avLst/>
          </a:prstGeom>
          <a:noFill/>
          <a:ln/>
        </p:spPr>
        <p:txBody>
          <a:bodyPr wrap="square" lIns="0" tIns="0" rIns="0" bIns="0" rtlCol="0" anchor="ctr"/>
          <a:lstStyle/>
          <a:p>
            <a:pPr indent="0" marL="0">
              <a:lnSpc>
                <a:spcPct val="115000"/>
              </a:lnSpc>
              <a:buNone/>
            </a:pPr>
            <a:r>
              <a:rPr lang="en-US" sz="1150" dirty="0">
                <a:solidFill>
                  <a:srgbClr val="20303F"/>
                </a:solidFill>
                <a:latin typeface="Meiryo UI" pitchFamily="34" charset="0"/>
                <a:ea typeface="Meiryo UI" pitchFamily="34" charset="-122"/>
                <a:cs typeface="Meiryo UI" pitchFamily="34" charset="-120"/>
              </a:rPr>
              <a:t>文書の下書き生成、書き換え、要約、トーン調整</a:t>
            </a:r>
            <a:endParaRPr lang="en-US" sz="1150" dirty="0"/>
          </a:p>
        </p:txBody>
      </p:sp>
      <p:sp>
        <p:nvSpPr>
          <p:cNvPr id="14" name="Shape 10"/>
          <p:cNvSpPr/>
          <p:nvPr/>
        </p:nvSpPr>
        <p:spPr>
          <a:xfrm>
            <a:off x="8119872" y="1691640"/>
            <a:ext cx="3511296" cy="1965960"/>
          </a:xfrm>
          <a:prstGeom prst="roundRect">
            <a:avLst>
              <a:gd name="adj" fmla="val 3721"/>
            </a:avLst>
          </a:prstGeom>
          <a:solidFill>
            <a:srgbClr val="EFF6FA"/>
          </a:solidFill>
          <a:ln/>
        </p:spPr>
      </p:sp>
      <p:sp>
        <p:nvSpPr>
          <p:cNvPr id="15" name="Shape 11"/>
          <p:cNvSpPr/>
          <p:nvPr/>
        </p:nvSpPr>
        <p:spPr>
          <a:xfrm>
            <a:off x="8375904" y="1947672"/>
            <a:ext cx="566928" cy="566928"/>
          </a:xfrm>
          <a:prstGeom prst="ellipse">
            <a:avLst/>
          </a:prstGeom>
          <a:solidFill>
            <a:srgbClr val="065A82"/>
          </a:solidFill>
          <a:ln/>
        </p:spPr>
      </p:sp>
      <p:pic>
        <p:nvPicPr>
          <p:cNvPr id="16" name="Image 2" descr="preencoded.png">    </p:cNvPr>
          <p:cNvPicPr>
            <a:picLocks noChangeAspect="1"/>
          </p:cNvPicPr>
          <p:nvPr/>
        </p:nvPicPr>
        <p:blipFill>
          <a:blip r:embed="rId3"/>
          <a:stretch>
            <a:fillRect/>
          </a:stretch>
        </p:blipFill>
        <p:spPr>
          <a:xfrm>
            <a:off x="8523305" y="2095073"/>
            <a:ext cx="272125" cy="272125"/>
          </a:xfrm>
          <a:prstGeom prst="rect">
            <a:avLst/>
          </a:prstGeom>
        </p:spPr>
      </p:pic>
      <p:sp>
        <p:nvSpPr>
          <p:cNvPr id="17" name="Text 12"/>
          <p:cNvSpPr/>
          <p:nvPr/>
        </p:nvSpPr>
        <p:spPr>
          <a:xfrm>
            <a:off x="9079992" y="1965960"/>
            <a:ext cx="2368296" cy="502920"/>
          </a:xfrm>
          <a:prstGeom prst="rect">
            <a:avLst/>
          </a:prstGeom>
          <a:noFill/>
          <a:ln/>
        </p:spPr>
        <p:txBody>
          <a:bodyPr wrap="square" lIns="0" tIns="0" rIns="0" bIns="0" rtlCol="0" anchor="ctr"/>
          <a:lstStyle/>
          <a:p>
            <a:pPr indent="0" marL="0">
              <a:buNone/>
            </a:pPr>
            <a:r>
              <a:rPr lang="en-US" sz="1700" b="1" dirty="0">
                <a:solidFill>
                  <a:srgbClr val="065A82"/>
                </a:solidFill>
                <a:latin typeface="Meiryo UI" pitchFamily="34" charset="0"/>
                <a:ea typeface="Meiryo UI" pitchFamily="34" charset="-122"/>
                <a:cs typeface="Meiryo UI" pitchFamily="34" charset="-120"/>
              </a:rPr>
              <a:t>Excel</a:t>
            </a:r>
            <a:endParaRPr lang="en-US" sz="1700" dirty="0"/>
          </a:p>
        </p:txBody>
      </p:sp>
      <p:sp>
        <p:nvSpPr>
          <p:cNvPr id="18" name="Text 13"/>
          <p:cNvSpPr/>
          <p:nvPr/>
        </p:nvSpPr>
        <p:spPr>
          <a:xfrm>
            <a:off x="8394192" y="2651760"/>
            <a:ext cx="2962656" cy="868680"/>
          </a:xfrm>
          <a:prstGeom prst="rect">
            <a:avLst/>
          </a:prstGeom>
          <a:noFill/>
          <a:ln/>
        </p:spPr>
        <p:txBody>
          <a:bodyPr wrap="square" lIns="0" tIns="0" rIns="0" bIns="0" rtlCol="0" anchor="ctr"/>
          <a:lstStyle/>
          <a:p>
            <a:pPr indent="0" marL="0">
              <a:lnSpc>
                <a:spcPct val="115000"/>
              </a:lnSpc>
              <a:buNone/>
            </a:pPr>
            <a:r>
              <a:rPr lang="en-US" sz="1150" dirty="0">
                <a:solidFill>
                  <a:srgbClr val="20303F"/>
                </a:solidFill>
                <a:latin typeface="Meiryo UI" pitchFamily="34" charset="0"/>
                <a:ea typeface="Meiryo UI" pitchFamily="34" charset="-122"/>
                <a:cs typeface="Meiryo UI" pitchFamily="34" charset="-120"/>
              </a:rPr>
              <a:t>数式の提案、データ分析、グラフ作成、傾向の説明</a:t>
            </a:r>
            <a:endParaRPr lang="en-US" sz="1150" dirty="0"/>
          </a:p>
        </p:txBody>
      </p:sp>
      <p:sp>
        <p:nvSpPr>
          <p:cNvPr id="19" name="Shape 14"/>
          <p:cNvSpPr/>
          <p:nvPr/>
        </p:nvSpPr>
        <p:spPr>
          <a:xfrm>
            <a:off x="548640" y="3931920"/>
            <a:ext cx="3511296" cy="1965960"/>
          </a:xfrm>
          <a:prstGeom prst="roundRect">
            <a:avLst>
              <a:gd name="adj" fmla="val 3721"/>
            </a:avLst>
          </a:prstGeom>
          <a:solidFill>
            <a:srgbClr val="EFF6FA"/>
          </a:solidFill>
          <a:ln/>
        </p:spPr>
      </p:sp>
      <p:sp>
        <p:nvSpPr>
          <p:cNvPr id="20" name="Shape 15"/>
          <p:cNvSpPr/>
          <p:nvPr/>
        </p:nvSpPr>
        <p:spPr>
          <a:xfrm>
            <a:off x="804672" y="4187952"/>
            <a:ext cx="566928" cy="566928"/>
          </a:xfrm>
          <a:prstGeom prst="ellipse">
            <a:avLst/>
          </a:prstGeom>
          <a:solidFill>
            <a:srgbClr val="065A82"/>
          </a:solidFill>
          <a:ln/>
        </p:spPr>
      </p:sp>
      <p:pic>
        <p:nvPicPr>
          <p:cNvPr id="21" name="Image 3" descr="preencoded.png">    </p:cNvPr>
          <p:cNvPicPr>
            <a:picLocks noChangeAspect="1"/>
          </p:cNvPicPr>
          <p:nvPr/>
        </p:nvPicPr>
        <p:blipFill>
          <a:blip r:embed="rId4"/>
          <a:stretch>
            <a:fillRect/>
          </a:stretch>
        </p:blipFill>
        <p:spPr>
          <a:xfrm>
            <a:off x="952073" y="4335353"/>
            <a:ext cx="272125" cy="272125"/>
          </a:xfrm>
          <a:prstGeom prst="rect">
            <a:avLst/>
          </a:prstGeom>
        </p:spPr>
      </p:pic>
      <p:sp>
        <p:nvSpPr>
          <p:cNvPr id="22" name="Text 16"/>
          <p:cNvSpPr/>
          <p:nvPr/>
        </p:nvSpPr>
        <p:spPr>
          <a:xfrm>
            <a:off x="1508760" y="4206240"/>
            <a:ext cx="2368296" cy="502920"/>
          </a:xfrm>
          <a:prstGeom prst="rect">
            <a:avLst/>
          </a:prstGeom>
          <a:noFill/>
          <a:ln/>
        </p:spPr>
        <p:txBody>
          <a:bodyPr wrap="square" lIns="0" tIns="0" rIns="0" bIns="0" rtlCol="0" anchor="ctr"/>
          <a:lstStyle/>
          <a:p>
            <a:pPr indent="0" marL="0">
              <a:buNone/>
            </a:pPr>
            <a:r>
              <a:rPr lang="en-US" sz="1700" b="1" dirty="0">
                <a:solidFill>
                  <a:srgbClr val="065A82"/>
                </a:solidFill>
                <a:latin typeface="Meiryo UI" pitchFamily="34" charset="0"/>
                <a:ea typeface="Meiryo UI" pitchFamily="34" charset="-122"/>
                <a:cs typeface="Meiryo UI" pitchFamily="34" charset="-120"/>
              </a:rPr>
              <a:t>PowerPoint</a:t>
            </a:r>
            <a:endParaRPr lang="en-US" sz="1700" dirty="0"/>
          </a:p>
        </p:txBody>
      </p:sp>
      <p:sp>
        <p:nvSpPr>
          <p:cNvPr id="23" name="Text 17"/>
          <p:cNvSpPr/>
          <p:nvPr/>
        </p:nvSpPr>
        <p:spPr>
          <a:xfrm>
            <a:off x="822960" y="4892040"/>
            <a:ext cx="2962656" cy="868680"/>
          </a:xfrm>
          <a:prstGeom prst="rect">
            <a:avLst/>
          </a:prstGeom>
          <a:noFill/>
          <a:ln/>
        </p:spPr>
        <p:txBody>
          <a:bodyPr wrap="square" lIns="0" tIns="0" rIns="0" bIns="0" rtlCol="0" anchor="ctr"/>
          <a:lstStyle/>
          <a:p>
            <a:pPr indent="0" marL="0">
              <a:lnSpc>
                <a:spcPct val="115000"/>
              </a:lnSpc>
              <a:buNone/>
            </a:pPr>
            <a:r>
              <a:rPr lang="en-US" sz="1150" dirty="0">
                <a:solidFill>
                  <a:srgbClr val="20303F"/>
                </a:solidFill>
                <a:latin typeface="Meiryo UI" pitchFamily="34" charset="0"/>
                <a:ea typeface="Meiryo UI" pitchFamily="34" charset="-122"/>
                <a:cs typeface="Meiryo UI" pitchFamily="34" charset="-120"/>
              </a:rPr>
              <a:t>指示やWord文書からスライドのたたき台を自動生成</a:t>
            </a:r>
            <a:endParaRPr lang="en-US" sz="1150" dirty="0"/>
          </a:p>
        </p:txBody>
      </p:sp>
      <p:sp>
        <p:nvSpPr>
          <p:cNvPr id="24" name="Shape 18"/>
          <p:cNvSpPr/>
          <p:nvPr/>
        </p:nvSpPr>
        <p:spPr>
          <a:xfrm>
            <a:off x="4334256" y="3931920"/>
            <a:ext cx="3511296" cy="1965960"/>
          </a:xfrm>
          <a:prstGeom prst="roundRect">
            <a:avLst>
              <a:gd name="adj" fmla="val 3721"/>
            </a:avLst>
          </a:prstGeom>
          <a:solidFill>
            <a:srgbClr val="EFF6FA"/>
          </a:solidFill>
          <a:ln/>
        </p:spPr>
      </p:sp>
      <p:sp>
        <p:nvSpPr>
          <p:cNvPr id="25" name="Shape 19"/>
          <p:cNvSpPr/>
          <p:nvPr/>
        </p:nvSpPr>
        <p:spPr>
          <a:xfrm>
            <a:off x="4590288" y="4187952"/>
            <a:ext cx="566928" cy="566928"/>
          </a:xfrm>
          <a:prstGeom prst="ellipse">
            <a:avLst/>
          </a:prstGeom>
          <a:solidFill>
            <a:srgbClr val="065A82"/>
          </a:solidFill>
          <a:ln/>
        </p:spPr>
      </p:sp>
      <p:pic>
        <p:nvPicPr>
          <p:cNvPr id="26" name="Image 4" descr="preencoded.png">    </p:cNvPr>
          <p:cNvPicPr>
            <a:picLocks noChangeAspect="1"/>
          </p:cNvPicPr>
          <p:nvPr/>
        </p:nvPicPr>
        <p:blipFill>
          <a:blip r:embed="rId5"/>
          <a:stretch>
            <a:fillRect/>
          </a:stretch>
        </p:blipFill>
        <p:spPr>
          <a:xfrm>
            <a:off x="4737689" y="4335353"/>
            <a:ext cx="272125" cy="272125"/>
          </a:xfrm>
          <a:prstGeom prst="rect">
            <a:avLst/>
          </a:prstGeom>
        </p:spPr>
      </p:pic>
      <p:sp>
        <p:nvSpPr>
          <p:cNvPr id="27" name="Text 20"/>
          <p:cNvSpPr/>
          <p:nvPr/>
        </p:nvSpPr>
        <p:spPr>
          <a:xfrm>
            <a:off x="5294376" y="4206240"/>
            <a:ext cx="2368296" cy="502920"/>
          </a:xfrm>
          <a:prstGeom prst="rect">
            <a:avLst/>
          </a:prstGeom>
          <a:noFill/>
          <a:ln/>
        </p:spPr>
        <p:txBody>
          <a:bodyPr wrap="square" lIns="0" tIns="0" rIns="0" bIns="0" rtlCol="0" anchor="ctr"/>
          <a:lstStyle/>
          <a:p>
            <a:pPr indent="0" marL="0">
              <a:buNone/>
            </a:pPr>
            <a:r>
              <a:rPr lang="en-US" sz="1700" b="1" dirty="0">
                <a:solidFill>
                  <a:srgbClr val="065A82"/>
                </a:solidFill>
                <a:latin typeface="Meiryo UI" pitchFamily="34" charset="0"/>
                <a:ea typeface="Meiryo UI" pitchFamily="34" charset="-122"/>
                <a:cs typeface="Meiryo UI" pitchFamily="34" charset="-120"/>
              </a:rPr>
              <a:t>Outlook</a:t>
            </a:r>
            <a:endParaRPr lang="en-US" sz="1700" dirty="0"/>
          </a:p>
        </p:txBody>
      </p:sp>
      <p:sp>
        <p:nvSpPr>
          <p:cNvPr id="28" name="Text 21"/>
          <p:cNvSpPr/>
          <p:nvPr/>
        </p:nvSpPr>
        <p:spPr>
          <a:xfrm>
            <a:off x="4608576" y="4892040"/>
            <a:ext cx="2962656" cy="868680"/>
          </a:xfrm>
          <a:prstGeom prst="rect">
            <a:avLst/>
          </a:prstGeom>
          <a:noFill/>
          <a:ln/>
        </p:spPr>
        <p:txBody>
          <a:bodyPr wrap="square" lIns="0" tIns="0" rIns="0" bIns="0" rtlCol="0" anchor="ctr"/>
          <a:lstStyle/>
          <a:p>
            <a:pPr indent="0" marL="0">
              <a:lnSpc>
                <a:spcPct val="115000"/>
              </a:lnSpc>
              <a:buNone/>
            </a:pPr>
            <a:r>
              <a:rPr lang="en-US" sz="1150" dirty="0">
                <a:solidFill>
                  <a:srgbClr val="20303F"/>
                </a:solidFill>
                <a:latin typeface="Meiryo UI" pitchFamily="34" charset="0"/>
                <a:ea typeface="Meiryo UI" pitchFamily="34" charset="-122"/>
                <a:cs typeface="Meiryo UI" pitchFamily="34" charset="-120"/>
              </a:rPr>
              <a:t>メールの下書き、長いスレッドの要約、返信案の提案</a:t>
            </a:r>
            <a:endParaRPr lang="en-US" sz="1150" dirty="0"/>
          </a:p>
        </p:txBody>
      </p:sp>
      <p:sp>
        <p:nvSpPr>
          <p:cNvPr id="29" name="Shape 22"/>
          <p:cNvSpPr/>
          <p:nvPr/>
        </p:nvSpPr>
        <p:spPr>
          <a:xfrm>
            <a:off x="8119872" y="3931920"/>
            <a:ext cx="3511296" cy="1965960"/>
          </a:xfrm>
          <a:prstGeom prst="roundRect">
            <a:avLst>
              <a:gd name="adj" fmla="val 3721"/>
            </a:avLst>
          </a:prstGeom>
          <a:solidFill>
            <a:srgbClr val="EFF6FA"/>
          </a:solidFill>
          <a:ln/>
        </p:spPr>
      </p:sp>
      <p:sp>
        <p:nvSpPr>
          <p:cNvPr id="30" name="Shape 23"/>
          <p:cNvSpPr/>
          <p:nvPr/>
        </p:nvSpPr>
        <p:spPr>
          <a:xfrm>
            <a:off x="8375904" y="4187952"/>
            <a:ext cx="566928" cy="566928"/>
          </a:xfrm>
          <a:prstGeom prst="ellipse">
            <a:avLst/>
          </a:prstGeom>
          <a:solidFill>
            <a:srgbClr val="065A82"/>
          </a:solidFill>
          <a:ln/>
        </p:spPr>
      </p:sp>
      <p:pic>
        <p:nvPicPr>
          <p:cNvPr id="31" name="Image 5" descr="preencoded.png">    </p:cNvPr>
          <p:cNvPicPr>
            <a:picLocks noChangeAspect="1"/>
          </p:cNvPicPr>
          <p:nvPr/>
        </p:nvPicPr>
        <p:blipFill>
          <a:blip r:embed="rId6"/>
          <a:stretch>
            <a:fillRect/>
          </a:stretch>
        </p:blipFill>
        <p:spPr>
          <a:xfrm>
            <a:off x="8523305" y="4335353"/>
            <a:ext cx="272125" cy="272125"/>
          </a:xfrm>
          <a:prstGeom prst="rect">
            <a:avLst/>
          </a:prstGeom>
        </p:spPr>
      </p:pic>
      <p:sp>
        <p:nvSpPr>
          <p:cNvPr id="32" name="Text 24"/>
          <p:cNvSpPr/>
          <p:nvPr/>
        </p:nvSpPr>
        <p:spPr>
          <a:xfrm>
            <a:off x="9079992" y="4206240"/>
            <a:ext cx="2368296" cy="502920"/>
          </a:xfrm>
          <a:prstGeom prst="rect">
            <a:avLst/>
          </a:prstGeom>
          <a:noFill/>
          <a:ln/>
        </p:spPr>
        <p:txBody>
          <a:bodyPr wrap="square" lIns="0" tIns="0" rIns="0" bIns="0" rtlCol="0" anchor="ctr"/>
          <a:lstStyle/>
          <a:p>
            <a:pPr indent="0" marL="0">
              <a:buNone/>
            </a:pPr>
            <a:r>
              <a:rPr lang="en-US" sz="1700" b="1" dirty="0">
                <a:solidFill>
                  <a:srgbClr val="065A82"/>
                </a:solidFill>
                <a:latin typeface="Meiryo UI" pitchFamily="34" charset="0"/>
                <a:ea typeface="Meiryo UI" pitchFamily="34" charset="-122"/>
                <a:cs typeface="Meiryo UI" pitchFamily="34" charset="-120"/>
              </a:rPr>
              <a:t>Teams</a:t>
            </a:r>
            <a:endParaRPr lang="en-US" sz="1700" dirty="0"/>
          </a:p>
        </p:txBody>
      </p:sp>
      <p:sp>
        <p:nvSpPr>
          <p:cNvPr id="33" name="Text 25"/>
          <p:cNvSpPr/>
          <p:nvPr/>
        </p:nvSpPr>
        <p:spPr>
          <a:xfrm>
            <a:off x="8394192" y="4892040"/>
            <a:ext cx="2962656" cy="868680"/>
          </a:xfrm>
          <a:prstGeom prst="rect">
            <a:avLst/>
          </a:prstGeom>
          <a:noFill/>
          <a:ln/>
        </p:spPr>
        <p:txBody>
          <a:bodyPr wrap="square" lIns="0" tIns="0" rIns="0" bIns="0" rtlCol="0" anchor="ctr"/>
          <a:lstStyle/>
          <a:p>
            <a:pPr indent="0" marL="0">
              <a:lnSpc>
                <a:spcPct val="115000"/>
              </a:lnSpc>
              <a:buNone/>
            </a:pPr>
            <a:r>
              <a:rPr lang="en-US" sz="1150" dirty="0">
                <a:solidFill>
                  <a:srgbClr val="20303F"/>
                </a:solidFill>
                <a:latin typeface="Meiryo UI" pitchFamily="34" charset="0"/>
                <a:ea typeface="Meiryo UI" pitchFamily="34" charset="-122"/>
                <a:cs typeface="Meiryo UI" pitchFamily="34" charset="-120"/>
              </a:rPr>
              <a:t>会議の要約、議事録・決定事項・ToDoの自動抽出</a:t>
            </a:r>
            <a:endParaRPr lang="en-US" sz="1150" dirty="0"/>
          </a:p>
        </p:txBody>
      </p:sp>
      <p:sp>
        <p:nvSpPr>
          <p:cNvPr id="34" name="Text 26"/>
          <p:cNvSpPr/>
          <p:nvPr/>
        </p:nvSpPr>
        <p:spPr>
          <a:xfrm>
            <a:off x="8897112" y="6473952"/>
            <a:ext cx="2743200" cy="274320"/>
          </a:xfrm>
          <a:prstGeom prst="rect">
            <a:avLst/>
          </a:prstGeom>
          <a:noFill/>
          <a:ln/>
        </p:spPr>
        <p:txBody>
          <a:bodyPr wrap="square" lIns="0" tIns="0" rIns="0" bIns="0" rtlCol="0" anchor="ctr"/>
          <a:lstStyle/>
          <a:p>
            <a:pPr algn="r" indent="0" marL="0">
              <a:buNone/>
            </a:pPr>
            <a:r>
              <a:rPr lang="en-US" sz="900" dirty="0">
                <a:solidFill>
                  <a:srgbClr val="9AAAB8"/>
                </a:solidFill>
                <a:latin typeface="Meiryo UI" pitchFamily="34" charset="0"/>
                <a:ea typeface="Meiryo UI" pitchFamily="34" charset="-122"/>
                <a:cs typeface="Meiryo UI" pitchFamily="34" charset="-120"/>
              </a:rPr>
              <a:t>Microsoft 365 Copilot 活用ガイド｜3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94360"/>
          </a:xfrm>
          <a:prstGeom prst="rect">
            <a:avLst/>
          </a:prstGeom>
          <a:noFill/>
          <a:ln/>
        </p:spPr>
        <p:txBody>
          <a:bodyPr wrap="square" lIns="0" tIns="0" rIns="0" bIns="0" rtlCol="0" anchor="ctr"/>
          <a:lstStyle/>
          <a:p>
            <a:pPr algn="l" indent="0" marL="0">
              <a:buNone/>
            </a:pPr>
            <a:r>
              <a:rPr lang="en-US" sz="2800" b="1" dirty="0">
                <a:solidFill>
                  <a:srgbClr val="065A82"/>
                </a:solidFill>
                <a:latin typeface="Meiryo UI" pitchFamily="34" charset="0"/>
                <a:ea typeface="Meiryo UI" pitchFamily="34" charset="-122"/>
                <a:cs typeface="Meiryo UI" pitchFamily="34" charset="-120"/>
              </a:rPr>
              <a:t>ゼロからフル活用までのロードマップ</a:t>
            </a:r>
            <a:endParaRPr lang="en-US" sz="28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algn="l" indent="0" marL="0">
              <a:buNone/>
            </a:pPr>
            <a:r>
              <a:rPr lang="en-US" sz="1300" dirty="0">
                <a:solidFill>
                  <a:srgbClr val="5E7182"/>
                </a:solidFill>
                <a:latin typeface="Meiryo UI" pitchFamily="34" charset="0"/>
                <a:ea typeface="Meiryo UI" pitchFamily="34" charset="-122"/>
                <a:cs typeface="Meiryo UI" pitchFamily="34" charset="-120"/>
              </a:rPr>
              <a:t>一気に目指さない。1ステップずつ「できること」を増やしていく</a:t>
            </a:r>
            <a:endParaRPr lang="en-US" sz="1300" dirty="0"/>
          </a:p>
        </p:txBody>
      </p:sp>
      <p:sp>
        <p:nvSpPr>
          <p:cNvPr id="4" name="Shape 2"/>
          <p:cNvSpPr/>
          <p:nvPr/>
        </p:nvSpPr>
        <p:spPr>
          <a:xfrm>
            <a:off x="914400" y="2852928"/>
            <a:ext cx="10332720" cy="54864"/>
          </a:xfrm>
          <a:prstGeom prst="rect">
            <a:avLst/>
          </a:prstGeom>
          <a:solidFill>
            <a:srgbClr val="C9DCE8"/>
          </a:solidFill>
          <a:ln/>
        </p:spPr>
      </p:sp>
      <p:sp>
        <p:nvSpPr>
          <p:cNvPr id="5" name="Shape 3"/>
          <p:cNvSpPr/>
          <p:nvPr/>
        </p:nvSpPr>
        <p:spPr>
          <a:xfrm>
            <a:off x="1033272" y="2459736"/>
            <a:ext cx="841248" cy="841248"/>
          </a:xfrm>
          <a:prstGeom prst="ellipse">
            <a:avLst/>
          </a:prstGeom>
          <a:solidFill>
            <a:srgbClr val="1C7293"/>
          </a:solidFill>
          <a:ln w="25400">
            <a:solidFill>
              <a:srgbClr val="FFFFFF"/>
            </a:solidFill>
            <a:prstDash val="solid"/>
          </a:ln>
        </p:spPr>
      </p:sp>
      <p:sp>
        <p:nvSpPr>
          <p:cNvPr id="6" name="Text 4"/>
          <p:cNvSpPr/>
          <p:nvPr/>
        </p:nvSpPr>
        <p:spPr>
          <a:xfrm>
            <a:off x="1033272" y="2459736"/>
            <a:ext cx="841248" cy="841248"/>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UI" pitchFamily="34" charset="0"/>
                <a:ea typeface="Meiryo UI" pitchFamily="34" charset="-122"/>
                <a:cs typeface="Meiryo UI" pitchFamily="34" charset="-120"/>
              </a:rPr>
              <a:t>0</a:t>
            </a:r>
            <a:endParaRPr lang="en-US" sz="2400" dirty="0"/>
          </a:p>
        </p:txBody>
      </p:sp>
      <p:sp>
        <p:nvSpPr>
          <p:cNvPr id="7" name="Text 5"/>
          <p:cNvSpPr/>
          <p:nvPr/>
        </p:nvSpPr>
        <p:spPr>
          <a:xfrm>
            <a:off x="905256" y="1920240"/>
            <a:ext cx="1097280" cy="274320"/>
          </a:xfrm>
          <a:prstGeom prst="rect">
            <a:avLst/>
          </a:prstGeom>
          <a:noFill/>
          <a:ln/>
        </p:spPr>
        <p:txBody>
          <a:bodyPr wrap="square" lIns="0" tIns="0" rIns="0" bIns="0" rtlCol="0" anchor="ctr"/>
          <a:lstStyle/>
          <a:p>
            <a:pPr algn="ctr" indent="0" marL="0">
              <a:buNone/>
            </a:pPr>
            <a:r>
              <a:rPr lang="en-US" sz="1000" b="1" dirty="0">
                <a:solidFill>
                  <a:srgbClr val="5E7182"/>
                </a:solidFill>
                <a:latin typeface="Meiryo UI" pitchFamily="34" charset="0"/>
                <a:ea typeface="Meiryo UI" pitchFamily="34" charset="-122"/>
                <a:cs typeface="Meiryo UI" pitchFamily="34" charset="-120"/>
              </a:rPr>
              <a:t>STEP</a:t>
            </a:r>
            <a:endParaRPr lang="en-US" sz="1000" dirty="0"/>
          </a:p>
        </p:txBody>
      </p:sp>
      <p:sp>
        <p:nvSpPr>
          <p:cNvPr id="8" name="Text 6"/>
          <p:cNvSpPr/>
          <p:nvPr/>
        </p:nvSpPr>
        <p:spPr>
          <a:xfrm>
            <a:off x="548640" y="3474720"/>
            <a:ext cx="1810512" cy="411480"/>
          </a:xfrm>
          <a:prstGeom prst="rect">
            <a:avLst/>
          </a:prstGeom>
          <a:noFill/>
          <a:ln/>
        </p:spPr>
        <p:txBody>
          <a:bodyPr wrap="square" lIns="0" tIns="0" rIns="0" bIns="0" rtlCol="0" anchor="ctr"/>
          <a:lstStyle/>
          <a:p>
            <a:pPr algn="ctr" indent="0" marL="0">
              <a:buNone/>
            </a:pPr>
            <a:r>
              <a:rPr lang="en-US" sz="1500" b="1" dirty="0">
                <a:solidFill>
                  <a:srgbClr val="065A82"/>
                </a:solidFill>
                <a:latin typeface="Meiryo UI" pitchFamily="34" charset="0"/>
                <a:ea typeface="Meiryo UI" pitchFamily="34" charset="-122"/>
                <a:cs typeface="Meiryo UI" pitchFamily="34" charset="-120"/>
              </a:rPr>
              <a:t>準備</a:t>
            </a:r>
            <a:endParaRPr lang="en-US" sz="1500" dirty="0"/>
          </a:p>
        </p:txBody>
      </p:sp>
      <p:sp>
        <p:nvSpPr>
          <p:cNvPr id="9" name="Text 7"/>
          <p:cNvSpPr/>
          <p:nvPr/>
        </p:nvSpPr>
        <p:spPr>
          <a:xfrm>
            <a:off x="594360" y="3904488"/>
            <a:ext cx="1719072" cy="777240"/>
          </a:xfrm>
          <a:prstGeom prst="rect">
            <a:avLst/>
          </a:prstGeom>
          <a:noFill/>
          <a:ln/>
        </p:spPr>
        <p:txBody>
          <a:bodyPr wrap="square" lIns="0" tIns="0" rIns="0" bIns="0" rtlCol="0" anchor="ctr"/>
          <a:lstStyle/>
          <a:p>
            <a:pPr algn="ctr" indent="0" marL="0">
              <a:lnSpc>
                <a:spcPct val="110000"/>
              </a:lnSpc>
              <a:buNone/>
            </a:pPr>
            <a:r>
              <a:rPr lang="en-US" sz="1050" dirty="0">
                <a:solidFill>
                  <a:srgbClr val="20303F"/>
                </a:solidFill>
                <a:latin typeface="Meiryo UI" pitchFamily="34" charset="0"/>
                <a:ea typeface="Meiryo UI" pitchFamily="34" charset="-122"/>
                <a:cs typeface="Meiryo UI" pitchFamily="34" charset="-120"/>
              </a:rPr>
              <a:t>環境・ルール・体制を整える</a:t>
            </a:r>
            <a:endParaRPr lang="en-US" sz="1050" dirty="0"/>
          </a:p>
        </p:txBody>
      </p:sp>
      <p:sp>
        <p:nvSpPr>
          <p:cNvPr id="10" name="Text 8"/>
          <p:cNvSpPr/>
          <p:nvPr/>
        </p:nvSpPr>
        <p:spPr>
          <a:xfrm>
            <a:off x="548640" y="4709160"/>
            <a:ext cx="1810512" cy="274320"/>
          </a:xfrm>
          <a:prstGeom prst="rect">
            <a:avLst/>
          </a:prstGeom>
          <a:noFill/>
          <a:ln/>
        </p:spPr>
        <p:txBody>
          <a:bodyPr wrap="square" lIns="0" tIns="0" rIns="0" bIns="0" rtlCol="0" anchor="ctr"/>
          <a:lstStyle/>
          <a:p>
            <a:pPr algn="ctr" indent="0" marL="0">
              <a:buNone/>
            </a:pPr>
            <a:r>
              <a:rPr lang="en-US" sz="1000" b="1" dirty="0">
                <a:solidFill>
                  <a:srgbClr val="1C7293"/>
                </a:solidFill>
                <a:latin typeface="Meiryo UI" pitchFamily="34" charset="0"/>
                <a:ea typeface="Meiryo UI" pitchFamily="34" charset="-122"/>
                <a:cs typeface="Meiryo UI" pitchFamily="34" charset="-120"/>
              </a:rPr>
              <a:t>1〜2週間</a:t>
            </a:r>
            <a:endParaRPr lang="en-US" sz="1000" dirty="0"/>
          </a:p>
        </p:txBody>
      </p:sp>
      <p:sp>
        <p:nvSpPr>
          <p:cNvPr id="11" name="Shape 9"/>
          <p:cNvSpPr/>
          <p:nvPr/>
        </p:nvSpPr>
        <p:spPr>
          <a:xfrm>
            <a:off x="2898648" y="2459736"/>
            <a:ext cx="841248" cy="841248"/>
          </a:xfrm>
          <a:prstGeom prst="ellipse">
            <a:avLst/>
          </a:prstGeom>
          <a:solidFill>
            <a:srgbClr val="1C7293"/>
          </a:solidFill>
          <a:ln w="25400">
            <a:solidFill>
              <a:srgbClr val="FFFFFF"/>
            </a:solidFill>
            <a:prstDash val="solid"/>
          </a:ln>
        </p:spPr>
      </p:sp>
      <p:sp>
        <p:nvSpPr>
          <p:cNvPr id="12" name="Text 10"/>
          <p:cNvSpPr/>
          <p:nvPr/>
        </p:nvSpPr>
        <p:spPr>
          <a:xfrm>
            <a:off x="2898648" y="2459736"/>
            <a:ext cx="841248" cy="841248"/>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UI" pitchFamily="34" charset="0"/>
                <a:ea typeface="Meiryo UI" pitchFamily="34" charset="-122"/>
                <a:cs typeface="Meiryo UI" pitchFamily="34" charset="-120"/>
              </a:rPr>
              <a:t>1</a:t>
            </a:r>
            <a:endParaRPr lang="en-US" sz="2400" dirty="0"/>
          </a:p>
        </p:txBody>
      </p:sp>
      <p:sp>
        <p:nvSpPr>
          <p:cNvPr id="13" name="Text 11"/>
          <p:cNvSpPr/>
          <p:nvPr/>
        </p:nvSpPr>
        <p:spPr>
          <a:xfrm>
            <a:off x="2770632" y="1920240"/>
            <a:ext cx="1097280" cy="274320"/>
          </a:xfrm>
          <a:prstGeom prst="rect">
            <a:avLst/>
          </a:prstGeom>
          <a:noFill/>
          <a:ln/>
        </p:spPr>
        <p:txBody>
          <a:bodyPr wrap="square" lIns="0" tIns="0" rIns="0" bIns="0" rtlCol="0" anchor="ctr"/>
          <a:lstStyle/>
          <a:p>
            <a:pPr algn="ctr" indent="0" marL="0">
              <a:buNone/>
            </a:pPr>
            <a:r>
              <a:rPr lang="en-US" sz="1000" b="1" dirty="0">
                <a:solidFill>
                  <a:srgbClr val="5E7182"/>
                </a:solidFill>
                <a:latin typeface="Meiryo UI" pitchFamily="34" charset="0"/>
                <a:ea typeface="Meiryo UI" pitchFamily="34" charset="-122"/>
                <a:cs typeface="Meiryo UI" pitchFamily="34" charset="-120"/>
              </a:rPr>
              <a:t>STEP</a:t>
            </a:r>
            <a:endParaRPr lang="en-US" sz="1000" dirty="0"/>
          </a:p>
        </p:txBody>
      </p:sp>
      <p:sp>
        <p:nvSpPr>
          <p:cNvPr id="14" name="Text 12"/>
          <p:cNvSpPr/>
          <p:nvPr/>
        </p:nvSpPr>
        <p:spPr>
          <a:xfrm>
            <a:off x="2414016" y="3474720"/>
            <a:ext cx="1810512" cy="411480"/>
          </a:xfrm>
          <a:prstGeom prst="rect">
            <a:avLst/>
          </a:prstGeom>
          <a:noFill/>
          <a:ln/>
        </p:spPr>
        <p:txBody>
          <a:bodyPr wrap="square" lIns="0" tIns="0" rIns="0" bIns="0" rtlCol="0" anchor="ctr"/>
          <a:lstStyle/>
          <a:p>
            <a:pPr algn="ctr" indent="0" marL="0">
              <a:buNone/>
            </a:pPr>
            <a:r>
              <a:rPr lang="en-US" sz="1500" b="1" dirty="0">
                <a:solidFill>
                  <a:srgbClr val="065A82"/>
                </a:solidFill>
                <a:latin typeface="Meiryo UI" pitchFamily="34" charset="0"/>
                <a:ea typeface="Meiryo UI" pitchFamily="34" charset="-122"/>
                <a:cs typeface="Meiryo UI" pitchFamily="34" charset="-120"/>
              </a:rPr>
              <a:t>まず触る</a:t>
            </a:r>
            <a:endParaRPr lang="en-US" sz="1500" dirty="0"/>
          </a:p>
        </p:txBody>
      </p:sp>
      <p:sp>
        <p:nvSpPr>
          <p:cNvPr id="15" name="Text 13"/>
          <p:cNvSpPr/>
          <p:nvPr/>
        </p:nvSpPr>
        <p:spPr>
          <a:xfrm>
            <a:off x="2459736" y="3904488"/>
            <a:ext cx="1719072" cy="777240"/>
          </a:xfrm>
          <a:prstGeom prst="rect">
            <a:avLst/>
          </a:prstGeom>
          <a:noFill/>
          <a:ln/>
        </p:spPr>
        <p:txBody>
          <a:bodyPr wrap="square" lIns="0" tIns="0" rIns="0" bIns="0" rtlCol="0" anchor="ctr"/>
          <a:lstStyle/>
          <a:p>
            <a:pPr algn="ctr" indent="0" marL="0">
              <a:lnSpc>
                <a:spcPct val="110000"/>
              </a:lnSpc>
              <a:buNone/>
            </a:pPr>
            <a:r>
              <a:rPr lang="en-US" sz="1050" dirty="0">
                <a:solidFill>
                  <a:srgbClr val="20303F"/>
                </a:solidFill>
                <a:latin typeface="Meiryo UI" pitchFamily="34" charset="0"/>
                <a:ea typeface="Meiryo UI" pitchFamily="34" charset="-122"/>
                <a:cs typeface="Meiryo UI" pitchFamily="34" charset="-120"/>
              </a:rPr>
              <a:t>1日1回、Copilotに話しかける</a:t>
            </a:r>
            <a:endParaRPr lang="en-US" sz="1050" dirty="0"/>
          </a:p>
        </p:txBody>
      </p:sp>
      <p:sp>
        <p:nvSpPr>
          <p:cNvPr id="16" name="Text 14"/>
          <p:cNvSpPr/>
          <p:nvPr/>
        </p:nvSpPr>
        <p:spPr>
          <a:xfrm>
            <a:off x="2414016" y="4709160"/>
            <a:ext cx="1810512" cy="274320"/>
          </a:xfrm>
          <a:prstGeom prst="rect">
            <a:avLst/>
          </a:prstGeom>
          <a:noFill/>
          <a:ln/>
        </p:spPr>
        <p:txBody>
          <a:bodyPr wrap="square" lIns="0" tIns="0" rIns="0" bIns="0" rtlCol="0" anchor="ctr"/>
          <a:lstStyle/>
          <a:p>
            <a:pPr algn="ctr" indent="0" marL="0">
              <a:buNone/>
            </a:pPr>
            <a:r>
              <a:rPr lang="en-US" sz="1000" b="1" dirty="0">
                <a:solidFill>
                  <a:srgbClr val="1C7293"/>
                </a:solidFill>
                <a:latin typeface="Meiryo UI" pitchFamily="34" charset="0"/>
                <a:ea typeface="Meiryo UI" pitchFamily="34" charset="-122"/>
                <a:cs typeface="Meiryo UI" pitchFamily="34" charset="-120"/>
              </a:rPr>
              <a:t>1〜2週間</a:t>
            </a:r>
            <a:endParaRPr lang="en-US" sz="1000" dirty="0"/>
          </a:p>
        </p:txBody>
      </p:sp>
      <p:sp>
        <p:nvSpPr>
          <p:cNvPr id="17" name="Shape 15"/>
          <p:cNvSpPr/>
          <p:nvPr/>
        </p:nvSpPr>
        <p:spPr>
          <a:xfrm>
            <a:off x="4764024" y="2459736"/>
            <a:ext cx="841248" cy="841248"/>
          </a:xfrm>
          <a:prstGeom prst="ellipse">
            <a:avLst/>
          </a:prstGeom>
          <a:solidFill>
            <a:srgbClr val="1C7293"/>
          </a:solidFill>
          <a:ln w="25400">
            <a:solidFill>
              <a:srgbClr val="FFFFFF"/>
            </a:solidFill>
            <a:prstDash val="solid"/>
          </a:ln>
        </p:spPr>
      </p:sp>
      <p:sp>
        <p:nvSpPr>
          <p:cNvPr id="18" name="Text 16"/>
          <p:cNvSpPr/>
          <p:nvPr/>
        </p:nvSpPr>
        <p:spPr>
          <a:xfrm>
            <a:off x="4764024" y="2459736"/>
            <a:ext cx="841248" cy="841248"/>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UI" pitchFamily="34" charset="0"/>
                <a:ea typeface="Meiryo UI" pitchFamily="34" charset="-122"/>
                <a:cs typeface="Meiryo UI" pitchFamily="34" charset="-120"/>
              </a:rPr>
              <a:t>2</a:t>
            </a:r>
            <a:endParaRPr lang="en-US" sz="2400" dirty="0"/>
          </a:p>
        </p:txBody>
      </p:sp>
      <p:sp>
        <p:nvSpPr>
          <p:cNvPr id="19" name="Text 17"/>
          <p:cNvSpPr/>
          <p:nvPr/>
        </p:nvSpPr>
        <p:spPr>
          <a:xfrm>
            <a:off x="4636008" y="1920240"/>
            <a:ext cx="1097280" cy="274320"/>
          </a:xfrm>
          <a:prstGeom prst="rect">
            <a:avLst/>
          </a:prstGeom>
          <a:noFill/>
          <a:ln/>
        </p:spPr>
        <p:txBody>
          <a:bodyPr wrap="square" lIns="0" tIns="0" rIns="0" bIns="0" rtlCol="0" anchor="ctr"/>
          <a:lstStyle/>
          <a:p>
            <a:pPr algn="ctr" indent="0" marL="0">
              <a:buNone/>
            </a:pPr>
            <a:r>
              <a:rPr lang="en-US" sz="1000" b="1" dirty="0">
                <a:solidFill>
                  <a:srgbClr val="5E7182"/>
                </a:solidFill>
                <a:latin typeface="Meiryo UI" pitchFamily="34" charset="0"/>
                <a:ea typeface="Meiryo UI" pitchFamily="34" charset="-122"/>
                <a:cs typeface="Meiryo UI" pitchFamily="34" charset="-120"/>
              </a:rPr>
              <a:t>STEP</a:t>
            </a:r>
            <a:endParaRPr lang="en-US" sz="1000" dirty="0"/>
          </a:p>
        </p:txBody>
      </p:sp>
      <p:sp>
        <p:nvSpPr>
          <p:cNvPr id="20" name="Text 18"/>
          <p:cNvSpPr/>
          <p:nvPr/>
        </p:nvSpPr>
        <p:spPr>
          <a:xfrm>
            <a:off x="4279392" y="3474720"/>
            <a:ext cx="1810512" cy="411480"/>
          </a:xfrm>
          <a:prstGeom prst="rect">
            <a:avLst/>
          </a:prstGeom>
          <a:noFill/>
          <a:ln/>
        </p:spPr>
        <p:txBody>
          <a:bodyPr wrap="square" lIns="0" tIns="0" rIns="0" bIns="0" rtlCol="0" anchor="ctr"/>
          <a:lstStyle/>
          <a:p>
            <a:pPr algn="ctr" indent="0" marL="0">
              <a:buNone/>
            </a:pPr>
            <a:r>
              <a:rPr lang="en-US" sz="1500" b="1" dirty="0">
                <a:solidFill>
                  <a:srgbClr val="065A82"/>
                </a:solidFill>
                <a:latin typeface="Meiryo UI" pitchFamily="34" charset="0"/>
                <a:ea typeface="Meiryo UI" pitchFamily="34" charset="-122"/>
                <a:cs typeface="Meiryo UI" pitchFamily="34" charset="-120"/>
              </a:rPr>
              <a:t>日常業務へ</a:t>
            </a:r>
            <a:endParaRPr lang="en-US" sz="1500" dirty="0"/>
          </a:p>
        </p:txBody>
      </p:sp>
      <p:sp>
        <p:nvSpPr>
          <p:cNvPr id="21" name="Text 19"/>
          <p:cNvSpPr/>
          <p:nvPr/>
        </p:nvSpPr>
        <p:spPr>
          <a:xfrm>
            <a:off x="4325112" y="3904488"/>
            <a:ext cx="1719072" cy="777240"/>
          </a:xfrm>
          <a:prstGeom prst="rect">
            <a:avLst/>
          </a:prstGeom>
          <a:noFill/>
          <a:ln/>
        </p:spPr>
        <p:txBody>
          <a:bodyPr wrap="square" lIns="0" tIns="0" rIns="0" bIns="0" rtlCol="0" anchor="ctr"/>
          <a:lstStyle/>
          <a:p>
            <a:pPr algn="ctr" indent="0" marL="0">
              <a:lnSpc>
                <a:spcPct val="110000"/>
              </a:lnSpc>
              <a:buNone/>
            </a:pPr>
            <a:r>
              <a:rPr lang="en-US" sz="1050" dirty="0">
                <a:solidFill>
                  <a:srgbClr val="20303F"/>
                </a:solidFill>
                <a:latin typeface="Meiryo UI" pitchFamily="34" charset="0"/>
                <a:ea typeface="Meiryo UI" pitchFamily="34" charset="-122"/>
                <a:cs typeface="Meiryo UI" pitchFamily="34" charset="-120"/>
              </a:rPr>
              <a:t>メールと会議で毎日使う</a:t>
            </a:r>
            <a:endParaRPr lang="en-US" sz="1050" dirty="0"/>
          </a:p>
        </p:txBody>
      </p:sp>
      <p:sp>
        <p:nvSpPr>
          <p:cNvPr id="22" name="Text 20"/>
          <p:cNvSpPr/>
          <p:nvPr/>
        </p:nvSpPr>
        <p:spPr>
          <a:xfrm>
            <a:off x="4279392" y="4709160"/>
            <a:ext cx="1810512" cy="274320"/>
          </a:xfrm>
          <a:prstGeom prst="rect">
            <a:avLst/>
          </a:prstGeom>
          <a:noFill/>
          <a:ln/>
        </p:spPr>
        <p:txBody>
          <a:bodyPr wrap="square" lIns="0" tIns="0" rIns="0" bIns="0" rtlCol="0" anchor="ctr"/>
          <a:lstStyle/>
          <a:p>
            <a:pPr algn="ctr" indent="0" marL="0">
              <a:buNone/>
            </a:pPr>
            <a:r>
              <a:rPr lang="en-US" sz="1000" b="1" dirty="0">
                <a:solidFill>
                  <a:srgbClr val="1C7293"/>
                </a:solidFill>
                <a:latin typeface="Meiryo UI" pitchFamily="34" charset="0"/>
                <a:ea typeface="Meiryo UI" pitchFamily="34" charset="-122"/>
                <a:cs typeface="Meiryo UI" pitchFamily="34" charset="-120"/>
              </a:rPr>
              <a:t>約1か月</a:t>
            </a:r>
            <a:endParaRPr lang="en-US" sz="1000" dirty="0"/>
          </a:p>
        </p:txBody>
      </p:sp>
      <p:sp>
        <p:nvSpPr>
          <p:cNvPr id="23" name="Shape 21"/>
          <p:cNvSpPr/>
          <p:nvPr/>
        </p:nvSpPr>
        <p:spPr>
          <a:xfrm>
            <a:off x="6629400" y="2459736"/>
            <a:ext cx="841248" cy="841248"/>
          </a:xfrm>
          <a:prstGeom prst="ellipse">
            <a:avLst/>
          </a:prstGeom>
          <a:solidFill>
            <a:srgbClr val="1C7293"/>
          </a:solidFill>
          <a:ln w="25400">
            <a:solidFill>
              <a:srgbClr val="FFFFFF"/>
            </a:solidFill>
            <a:prstDash val="solid"/>
          </a:ln>
        </p:spPr>
      </p:sp>
      <p:sp>
        <p:nvSpPr>
          <p:cNvPr id="24" name="Text 22"/>
          <p:cNvSpPr/>
          <p:nvPr/>
        </p:nvSpPr>
        <p:spPr>
          <a:xfrm>
            <a:off x="6629400" y="2459736"/>
            <a:ext cx="841248" cy="841248"/>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UI" pitchFamily="34" charset="0"/>
                <a:ea typeface="Meiryo UI" pitchFamily="34" charset="-122"/>
                <a:cs typeface="Meiryo UI" pitchFamily="34" charset="-120"/>
              </a:rPr>
              <a:t>3</a:t>
            </a:r>
            <a:endParaRPr lang="en-US" sz="2400" dirty="0"/>
          </a:p>
        </p:txBody>
      </p:sp>
      <p:sp>
        <p:nvSpPr>
          <p:cNvPr id="25" name="Text 23"/>
          <p:cNvSpPr/>
          <p:nvPr/>
        </p:nvSpPr>
        <p:spPr>
          <a:xfrm>
            <a:off x="6501384" y="1920240"/>
            <a:ext cx="1097280" cy="274320"/>
          </a:xfrm>
          <a:prstGeom prst="rect">
            <a:avLst/>
          </a:prstGeom>
          <a:noFill/>
          <a:ln/>
        </p:spPr>
        <p:txBody>
          <a:bodyPr wrap="square" lIns="0" tIns="0" rIns="0" bIns="0" rtlCol="0" anchor="ctr"/>
          <a:lstStyle/>
          <a:p>
            <a:pPr algn="ctr" indent="0" marL="0">
              <a:buNone/>
            </a:pPr>
            <a:r>
              <a:rPr lang="en-US" sz="1000" b="1" dirty="0">
                <a:solidFill>
                  <a:srgbClr val="5E7182"/>
                </a:solidFill>
                <a:latin typeface="Meiryo UI" pitchFamily="34" charset="0"/>
                <a:ea typeface="Meiryo UI" pitchFamily="34" charset="-122"/>
                <a:cs typeface="Meiryo UI" pitchFamily="34" charset="-120"/>
              </a:rPr>
              <a:t>STEP</a:t>
            </a:r>
            <a:endParaRPr lang="en-US" sz="1000" dirty="0"/>
          </a:p>
        </p:txBody>
      </p:sp>
      <p:sp>
        <p:nvSpPr>
          <p:cNvPr id="26" name="Text 24"/>
          <p:cNvSpPr/>
          <p:nvPr/>
        </p:nvSpPr>
        <p:spPr>
          <a:xfrm>
            <a:off x="6144768" y="3474720"/>
            <a:ext cx="1810512" cy="411480"/>
          </a:xfrm>
          <a:prstGeom prst="rect">
            <a:avLst/>
          </a:prstGeom>
          <a:noFill/>
          <a:ln/>
        </p:spPr>
        <p:txBody>
          <a:bodyPr wrap="square" lIns="0" tIns="0" rIns="0" bIns="0" rtlCol="0" anchor="ctr"/>
          <a:lstStyle/>
          <a:p>
            <a:pPr algn="ctr" indent="0" marL="0">
              <a:buNone/>
            </a:pPr>
            <a:r>
              <a:rPr lang="en-US" sz="1500" b="1" dirty="0">
                <a:solidFill>
                  <a:srgbClr val="065A82"/>
                </a:solidFill>
                <a:latin typeface="Meiryo UI" pitchFamily="34" charset="0"/>
                <a:ea typeface="Meiryo UI" pitchFamily="34" charset="-122"/>
                <a:cs typeface="Meiryo UI" pitchFamily="34" charset="-120"/>
              </a:rPr>
              <a:t>資料作成</a:t>
            </a:r>
            <a:endParaRPr lang="en-US" sz="1500" dirty="0"/>
          </a:p>
        </p:txBody>
      </p:sp>
      <p:sp>
        <p:nvSpPr>
          <p:cNvPr id="27" name="Text 25"/>
          <p:cNvSpPr/>
          <p:nvPr/>
        </p:nvSpPr>
        <p:spPr>
          <a:xfrm>
            <a:off x="6190488" y="3904488"/>
            <a:ext cx="1719072" cy="777240"/>
          </a:xfrm>
          <a:prstGeom prst="rect">
            <a:avLst/>
          </a:prstGeom>
          <a:noFill/>
          <a:ln/>
        </p:spPr>
        <p:txBody>
          <a:bodyPr wrap="square" lIns="0" tIns="0" rIns="0" bIns="0" rtlCol="0" anchor="ctr"/>
          <a:lstStyle/>
          <a:p>
            <a:pPr algn="ctr" indent="0" marL="0">
              <a:lnSpc>
                <a:spcPct val="110000"/>
              </a:lnSpc>
              <a:buNone/>
            </a:pPr>
            <a:r>
              <a:rPr lang="en-US" sz="1050" dirty="0">
                <a:solidFill>
                  <a:srgbClr val="20303F"/>
                </a:solidFill>
                <a:latin typeface="Meiryo UI" pitchFamily="34" charset="0"/>
                <a:ea typeface="Meiryo UI" pitchFamily="34" charset="-122"/>
                <a:cs typeface="Meiryo UI" pitchFamily="34" charset="-120"/>
              </a:rPr>
              <a:t>Word・PPT・Excelで時短</a:t>
            </a:r>
            <a:endParaRPr lang="en-US" sz="1050" dirty="0"/>
          </a:p>
        </p:txBody>
      </p:sp>
      <p:sp>
        <p:nvSpPr>
          <p:cNvPr id="28" name="Text 26"/>
          <p:cNvSpPr/>
          <p:nvPr/>
        </p:nvSpPr>
        <p:spPr>
          <a:xfrm>
            <a:off x="6144768" y="4709160"/>
            <a:ext cx="1810512" cy="274320"/>
          </a:xfrm>
          <a:prstGeom prst="rect">
            <a:avLst/>
          </a:prstGeom>
          <a:noFill/>
          <a:ln/>
        </p:spPr>
        <p:txBody>
          <a:bodyPr wrap="square" lIns="0" tIns="0" rIns="0" bIns="0" rtlCol="0" anchor="ctr"/>
          <a:lstStyle/>
          <a:p>
            <a:pPr algn="ctr" indent="0" marL="0">
              <a:buNone/>
            </a:pPr>
            <a:r>
              <a:rPr lang="en-US" sz="1000" b="1" dirty="0">
                <a:solidFill>
                  <a:srgbClr val="1C7293"/>
                </a:solidFill>
                <a:latin typeface="Meiryo UI" pitchFamily="34" charset="0"/>
                <a:ea typeface="Meiryo UI" pitchFamily="34" charset="-122"/>
                <a:cs typeface="Meiryo UI" pitchFamily="34" charset="-120"/>
              </a:rPr>
              <a:t>1〜2か月</a:t>
            </a:r>
            <a:endParaRPr lang="en-US" sz="1000" dirty="0"/>
          </a:p>
        </p:txBody>
      </p:sp>
      <p:sp>
        <p:nvSpPr>
          <p:cNvPr id="29" name="Shape 27"/>
          <p:cNvSpPr/>
          <p:nvPr/>
        </p:nvSpPr>
        <p:spPr>
          <a:xfrm>
            <a:off x="8494776" y="2459736"/>
            <a:ext cx="841248" cy="841248"/>
          </a:xfrm>
          <a:prstGeom prst="ellipse">
            <a:avLst/>
          </a:prstGeom>
          <a:solidFill>
            <a:srgbClr val="1C7293"/>
          </a:solidFill>
          <a:ln w="25400">
            <a:solidFill>
              <a:srgbClr val="FFFFFF"/>
            </a:solidFill>
            <a:prstDash val="solid"/>
          </a:ln>
        </p:spPr>
      </p:sp>
      <p:sp>
        <p:nvSpPr>
          <p:cNvPr id="30" name="Text 28"/>
          <p:cNvSpPr/>
          <p:nvPr/>
        </p:nvSpPr>
        <p:spPr>
          <a:xfrm>
            <a:off x="8494776" y="2459736"/>
            <a:ext cx="841248" cy="841248"/>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UI" pitchFamily="34" charset="0"/>
                <a:ea typeface="Meiryo UI" pitchFamily="34" charset="-122"/>
                <a:cs typeface="Meiryo UI" pitchFamily="34" charset="-120"/>
              </a:rPr>
              <a:t>4</a:t>
            </a:r>
            <a:endParaRPr lang="en-US" sz="2400" dirty="0"/>
          </a:p>
        </p:txBody>
      </p:sp>
      <p:sp>
        <p:nvSpPr>
          <p:cNvPr id="31" name="Text 29"/>
          <p:cNvSpPr/>
          <p:nvPr/>
        </p:nvSpPr>
        <p:spPr>
          <a:xfrm>
            <a:off x="8366760" y="1920240"/>
            <a:ext cx="1097280" cy="274320"/>
          </a:xfrm>
          <a:prstGeom prst="rect">
            <a:avLst/>
          </a:prstGeom>
          <a:noFill/>
          <a:ln/>
        </p:spPr>
        <p:txBody>
          <a:bodyPr wrap="square" lIns="0" tIns="0" rIns="0" bIns="0" rtlCol="0" anchor="ctr"/>
          <a:lstStyle/>
          <a:p>
            <a:pPr algn="ctr" indent="0" marL="0">
              <a:buNone/>
            </a:pPr>
            <a:r>
              <a:rPr lang="en-US" sz="1000" b="1" dirty="0">
                <a:solidFill>
                  <a:srgbClr val="5E7182"/>
                </a:solidFill>
                <a:latin typeface="Meiryo UI" pitchFamily="34" charset="0"/>
                <a:ea typeface="Meiryo UI" pitchFamily="34" charset="-122"/>
                <a:cs typeface="Meiryo UI" pitchFamily="34" charset="-120"/>
              </a:rPr>
              <a:t>STEP</a:t>
            </a:r>
            <a:endParaRPr lang="en-US" sz="1000" dirty="0"/>
          </a:p>
        </p:txBody>
      </p:sp>
      <p:sp>
        <p:nvSpPr>
          <p:cNvPr id="32" name="Text 30"/>
          <p:cNvSpPr/>
          <p:nvPr/>
        </p:nvSpPr>
        <p:spPr>
          <a:xfrm>
            <a:off x="8010144" y="3474720"/>
            <a:ext cx="1810512" cy="411480"/>
          </a:xfrm>
          <a:prstGeom prst="rect">
            <a:avLst/>
          </a:prstGeom>
          <a:noFill/>
          <a:ln/>
        </p:spPr>
        <p:txBody>
          <a:bodyPr wrap="square" lIns="0" tIns="0" rIns="0" bIns="0" rtlCol="0" anchor="ctr"/>
          <a:lstStyle/>
          <a:p>
            <a:pPr algn="ctr" indent="0" marL="0">
              <a:buNone/>
            </a:pPr>
            <a:r>
              <a:rPr lang="en-US" sz="1500" b="1" dirty="0">
                <a:solidFill>
                  <a:srgbClr val="065A82"/>
                </a:solidFill>
                <a:latin typeface="Meiryo UI" pitchFamily="34" charset="0"/>
                <a:ea typeface="Meiryo UI" pitchFamily="34" charset="-122"/>
                <a:cs typeface="Meiryo UI" pitchFamily="34" charset="-120"/>
              </a:rPr>
              <a:t>部門標準化</a:t>
            </a:r>
            <a:endParaRPr lang="en-US" sz="1500" dirty="0"/>
          </a:p>
        </p:txBody>
      </p:sp>
      <p:sp>
        <p:nvSpPr>
          <p:cNvPr id="33" name="Text 31"/>
          <p:cNvSpPr/>
          <p:nvPr/>
        </p:nvSpPr>
        <p:spPr>
          <a:xfrm>
            <a:off x="8055864" y="3904488"/>
            <a:ext cx="1719072" cy="777240"/>
          </a:xfrm>
          <a:prstGeom prst="rect">
            <a:avLst/>
          </a:prstGeom>
          <a:noFill/>
          <a:ln/>
        </p:spPr>
        <p:txBody>
          <a:bodyPr wrap="square" lIns="0" tIns="0" rIns="0" bIns="0" rtlCol="0" anchor="ctr"/>
          <a:lstStyle/>
          <a:p>
            <a:pPr algn="ctr" indent="0" marL="0">
              <a:lnSpc>
                <a:spcPct val="110000"/>
              </a:lnSpc>
              <a:buNone/>
            </a:pPr>
            <a:r>
              <a:rPr lang="en-US" sz="1050" dirty="0">
                <a:solidFill>
                  <a:srgbClr val="20303F"/>
                </a:solidFill>
                <a:latin typeface="Meiryo UI" pitchFamily="34" charset="0"/>
                <a:ea typeface="Meiryo UI" pitchFamily="34" charset="-122"/>
                <a:cs typeface="Meiryo UI" pitchFamily="34" charset="-120"/>
              </a:rPr>
              <a:t>プロンプト集と手順書に組込む</a:t>
            </a:r>
            <a:endParaRPr lang="en-US" sz="1050" dirty="0"/>
          </a:p>
        </p:txBody>
      </p:sp>
      <p:sp>
        <p:nvSpPr>
          <p:cNvPr id="34" name="Text 32"/>
          <p:cNvSpPr/>
          <p:nvPr/>
        </p:nvSpPr>
        <p:spPr>
          <a:xfrm>
            <a:off x="8010144" y="4709160"/>
            <a:ext cx="1810512" cy="274320"/>
          </a:xfrm>
          <a:prstGeom prst="rect">
            <a:avLst/>
          </a:prstGeom>
          <a:noFill/>
          <a:ln/>
        </p:spPr>
        <p:txBody>
          <a:bodyPr wrap="square" lIns="0" tIns="0" rIns="0" bIns="0" rtlCol="0" anchor="ctr"/>
          <a:lstStyle/>
          <a:p>
            <a:pPr algn="ctr" indent="0" marL="0">
              <a:buNone/>
            </a:pPr>
            <a:r>
              <a:rPr lang="en-US" sz="1000" b="1" dirty="0">
                <a:solidFill>
                  <a:srgbClr val="1C7293"/>
                </a:solidFill>
                <a:latin typeface="Meiryo UI" pitchFamily="34" charset="0"/>
                <a:ea typeface="Meiryo UI" pitchFamily="34" charset="-122"/>
                <a:cs typeface="Meiryo UI" pitchFamily="34" charset="-120"/>
              </a:rPr>
              <a:t>3か月目〜</a:t>
            </a:r>
            <a:endParaRPr lang="en-US" sz="1000" dirty="0"/>
          </a:p>
        </p:txBody>
      </p:sp>
      <p:sp>
        <p:nvSpPr>
          <p:cNvPr id="35" name="Shape 33"/>
          <p:cNvSpPr/>
          <p:nvPr/>
        </p:nvSpPr>
        <p:spPr>
          <a:xfrm>
            <a:off x="10360152" y="2459736"/>
            <a:ext cx="841248" cy="841248"/>
          </a:xfrm>
          <a:prstGeom prst="ellipse">
            <a:avLst/>
          </a:prstGeom>
          <a:solidFill>
            <a:srgbClr val="21295C"/>
          </a:solidFill>
          <a:ln w="25400">
            <a:solidFill>
              <a:srgbClr val="FFFFFF"/>
            </a:solidFill>
            <a:prstDash val="solid"/>
          </a:ln>
        </p:spPr>
      </p:sp>
      <p:sp>
        <p:nvSpPr>
          <p:cNvPr id="36" name="Text 34"/>
          <p:cNvSpPr/>
          <p:nvPr/>
        </p:nvSpPr>
        <p:spPr>
          <a:xfrm>
            <a:off x="10360152" y="2459736"/>
            <a:ext cx="841248" cy="841248"/>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UI" pitchFamily="34" charset="0"/>
                <a:ea typeface="Meiryo UI" pitchFamily="34" charset="-122"/>
                <a:cs typeface="Meiryo UI" pitchFamily="34" charset="-120"/>
              </a:rPr>
              <a:t>5</a:t>
            </a:r>
            <a:endParaRPr lang="en-US" sz="2400" dirty="0"/>
          </a:p>
        </p:txBody>
      </p:sp>
      <p:sp>
        <p:nvSpPr>
          <p:cNvPr id="37" name="Text 35"/>
          <p:cNvSpPr/>
          <p:nvPr/>
        </p:nvSpPr>
        <p:spPr>
          <a:xfrm>
            <a:off x="10232136" y="1920240"/>
            <a:ext cx="1097280" cy="274320"/>
          </a:xfrm>
          <a:prstGeom prst="rect">
            <a:avLst/>
          </a:prstGeom>
          <a:noFill/>
          <a:ln/>
        </p:spPr>
        <p:txBody>
          <a:bodyPr wrap="square" lIns="0" tIns="0" rIns="0" bIns="0" rtlCol="0" anchor="ctr"/>
          <a:lstStyle/>
          <a:p>
            <a:pPr algn="ctr" indent="0" marL="0">
              <a:buNone/>
            </a:pPr>
            <a:r>
              <a:rPr lang="en-US" sz="1000" b="1" dirty="0">
                <a:solidFill>
                  <a:srgbClr val="5E7182"/>
                </a:solidFill>
                <a:latin typeface="Meiryo UI" pitchFamily="34" charset="0"/>
                <a:ea typeface="Meiryo UI" pitchFamily="34" charset="-122"/>
                <a:cs typeface="Meiryo UI" pitchFamily="34" charset="-120"/>
              </a:rPr>
              <a:t>STEP</a:t>
            </a:r>
            <a:endParaRPr lang="en-US" sz="1000" dirty="0"/>
          </a:p>
        </p:txBody>
      </p:sp>
      <p:sp>
        <p:nvSpPr>
          <p:cNvPr id="38" name="Text 36"/>
          <p:cNvSpPr/>
          <p:nvPr/>
        </p:nvSpPr>
        <p:spPr>
          <a:xfrm>
            <a:off x="9875520" y="3474720"/>
            <a:ext cx="1810512" cy="411480"/>
          </a:xfrm>
          <a:prstGeom prst="rect">
            <a:avLst/>
          </a:prstGeom>
          <a:noFill/>
          <a:ln/>
        </p:spPr>
        <p:txBody>
          <a:bodyPr wrap="square" lIns="0" tIns="0" rIns="0" bIns="0" rtlCol="0" anchor="ctr"/>
          <a:lstStyle/>
          <a:p>
            <a:pPr algn="ctr" indent="0" marL="0">
              <a:buNone/>
            </a:pPr>
            <a:r>
              <a:rPr lang="en-US" sz="1500" b="1" dirty="0">
                <a:solidFill>
                  <a:srgbClr val="065A82"/>
                </a:solidFill>
                <a:latin typeface="Meiryo UI" pitchFamily="34" charset="0"/>
                <a:ea typeface="Meiryo UI" pitchFamily="34" charset="-122"/>
                <a:cs typeface="Meiryo UI" pitchFamily="34" charset="-120"/>
              </a:rPr>
              <a:t>フル活用</a:t>
            </a:r>
            <a:endParaRPr lang="en-US" sz="1500" dirty="0"/>
          </a:p>
        </p:txBody>
      </p:sp>
      <p:sp>
        <p:nvSpPr>
          <p:cNvPr id="39" name="Text 37"/>
          <p:cNvSpPr/>
          <p:nvPr/>
        </p:nvSpPr>
        <p:spPr>
          <a:xfrm>
            <a:off x="9921240" y="3904488"/>
            <a:ext cx="1719072" cy="777240"/>
          </a:xfrm>
          <a:prstGeom prst="rect">
            <a:avLst/>
          </a:prstGeom>
          <a:noFill/>
          <a:ln/>
        </p:spPr>
        <p:txBody>
          <a:bodyPr wrap="square" lIns="0" tIns="0" rIns="0" bIns="0" rtlCol="0" anchor="ctr"/>
          <a:lstStyle/>
          <a:p>
            <a:pPr algn="ctr" indent="0" marL="0">
              <a:lnSpc>
                <a:spcPct val="110000"/>
              </a:lnSpc>
              <a:buNone/>
            </a:pPr>
            <a:r>
              <a:rPr lang="en-US" sz="1050" dirty="0">
                <a:solidFill>
                  <a:srgbClr val="20303F"/>
                </a:solidFill>
                <a:latin typeface="Meiryo UI" pitchFamily="34" charset="0"/>
                <a:ea typeface="Meiryo UI" pitchFamily="34" charset="-122"/>
                <a:cs typeface="Meiryo UI" pitchFamily="34" charset="-120"/>
              </a:rPr>
              <a:t>エージェント・自動化で再設計</a:t>
            </a:r>
            <a:endParaRPr lang="en-US" sz="1050" dirty="0"/>
          </a:p>
        </p:txBody>
      </p:sp>
      <p:sp>
        <p:nvSpPr>
          <p:cNvPr id="40" name="Text 38"/>
          <p:cNvSpPr/>
          <p:nvPr/>
        </p:nvSpPr>
        <p:spPr>
          <a:xfrm>
            <a:off x="9875520" y="4709160"/>
            <a:ext cx="1810512" cy="274320"/>
          </a:xfrm>
          <a:prstGeom prst="rect">
            <a:avLst/>
          </a:prstGeom>
          <a:noFill/>
          <a:ln/>
        </p:spPr>
        <p:txBody>
          <a:bodyPr wrap="square" lIns="0" tIns="0" rIns="0" bIns="0" rtlCol="0" anchor="ctr"/>
          <a:lstStyle/>
          <a:p>
            <a:pPr algn="ctr" indent="0" marL="0">
              <a:buNone/>
            </a:pPr>
            <a:r>
              <a:rPr lang="en-US" sz="1000" b="1" dirty="0">
                <a:solidFill>
                  <a:srgbClr val="1C7293"/>
                </a:solidFill>
                <a:latin typeface="Meiryo UI" pitchFamily="34" charset="0"/>
                <a:ea typeface="Meiryo UI" pitchFamily="34" charset="-122"/>
                <a:cs typeface="Meiryo UI" pitchFamily="34" charset="-120"/>
              </a:rPr>
              <a:t>6か月目〜</a:t>
            </a:r>
            <a:endParaRPr lang="en-US" sz="1000" dirty="0"/>
          </a:p>
        </p:txBody>
      </p:sp>
      <p:sp>
        <p:nvSpPr>
          <p:cNvPr id="41" name="Text 39"/>
          <p:cNvSpPr/>
          <p:nvPr/>
        </p:nvSpPr>
        <p:spPr>
          <a:xfrm>
            <a:off x="548640" y="5806440"/>
            <a:ext cx="11064240" cy="411480"/>
          </a:xfrm>
          <a:prstGeom prst="rect">
            <a:avLst/>
          </a:prstGeom>
          <a:noFill/>
          <a:ln/>
        </p:spPr>
        <p:txBody>
          <a:bodyPr wrap="square" lIns="0" tIns="0" rIns="0" bIns="0" rtlCol="0" anchor="ctr"/>
          <a:lstStyle/>
          <a:p>
            <a:pPr algn="ctr" indent="0" marL="0">
              <a:buNone/>
            </a:pPr>
            <a:r>
              <a:rPr lang="en-US" sz="1300" b="1" dirty="0">
                <a:solidFill>
                  <a:srgbClr val="065A82"/>
                </a:solidFill>
                <a:latin typeface="Meiryo UI" pitchFamily="34" charset="0"/>
                <a:ea typeface="Meiryo UI" pitchFamily="34" charset="-122"/>
                <a:cs typeface="Meiryo UI" pitchFamily="34" charset="-120"/>
              </a:rPr>
              <a:t>ポイント：順番を飛ばさない。特にSTEP 0（ルール整備）とSTEP 1（習慣化）を丁寧にやるほど、後の定着が速い</a:t>
            </a:r>
            <a:endParaRPr lang="en-US" sz="1300" dirty="0"/>
          </a:p>
        </p:txBody>
      </p:sp>
      <p:sp>
        <p:nvSpPr>
          <p:cNvPr id="42" name="Text 40"/>
          <p:cNvSpPr/>
          <p:nvPr/>
        </p:nvSpPr>
        <p:spPr>
          <a:xfrm>
            <a:off x="8897112" y="6473952"/>
            <a:ext cx="2743200" cy="274320"/>
          </a:xfrm>
          <a:prstGeom prst="rect">
            <a:avLst/>
          </a:prstGeom>
          <a:noFill/>
          <a:ln/>
        </p:spPr>
        <p:txBody>
          <a:bodyPr wrap="square" lIns="0" tIns="0" rIns="0" bIns="0" rtlCol="0" anchor="ctr"/>
          <a:lstStyle/>
          <a:p>
            <a:pPr algn="r" indent="0" marL="0">
              <a:buNone/>
            </a:pPr>
            <a:r>
              <a:rPr lang="en-US" sz="900" dirty="0">
                <a:solidFill>
                  <a:srgbClr val="9AAAB8"/>
                </a:solidFill>
                <a:latin typeface="Meiryo UI" pitchFamily="34" charset="0"/>
                <a:ea typeface="Meiryo UI" pitchFamily="34" charset="-122"/>
                <a:cs typeface="Meiryo UI" pitchFamily="34" charset="-120"/>
              </a:rPr>
              <a:t>Microsoft 365 Copilot 活用ガイド｜4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868680" cy="868680"/>
          </a:xfrm>
          <a:prstGeom prst="ellipse">
            <a:avLst/>
          </a:prstGeom>
          <a:solidFill>
            <a:srgbClr val="1C7293"/>
          </a:solidFill>
          <a:ln/>
        </p:spPr>
      </p:sp>
      <p:sp>
        <p:nvSpPr>
          <p:cNvPr id="3" name="Text 1"/>
          <p:cNvSpPr/>
          <p:nvPr/>
        </p:nvSpPr>
        <p:spPr>
          <a:xfrm>
            <a:off x="548640" y="32004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Meiryo UI" pitchFamily="34" charset="0"/>
                <a:ea typeface="Meiryo UI" pitchFamily="34" charset="-122"/>
                <a:cs typeface="Meiryo UI" pitchFamily="34" charset="-120"/>
              </a:rPr>
              <a:t>0</a:t>
            </a:r>
            <a:endParaRPr lang="en-US" sz="3400" dirty="0"/>
          </a:p>
        </p:txBody>
      </p:sp>
      <p:sp>
        <p:nvSpPr>
          <p:cNvPr id="4" name="Text 2"/>
          <p:cNvSpPr/>
          <p:nvPr/>
        </p:nvSpPr>
        <p:spPr>
          <a:xfrm>
            <a:off x="1600200" y="320040"/>
            <a:ext cx="9966960" cy="548640"/>
          </a:xfrm>
          <a:prstGeom prst="rect">
            <a:avLst/>
          </a:prstGeom>
          <a:noFill/>
          <a:ln/>
        </p:spPr>
        <p:txBody>
          <a:bodyPr wrap="square" lIns="0" tIns="0" rIns="0" bIns="0" rtlCol="0" anchor="ctr"/>
          <a:lstStyle/>
          <a:p>
            <a:pPr indent="0" marL="0">
              <a:buNone/>
            </a:pPr>
            <a:r>
              <a:rPr lang="en-US" sz="2700" b="1" dirty="0">
                <a:solidFill>
                  <a:srgbClr val="065A82"/>
                </a:solidFill>
                <a:latin typeface="Meiryo UI" pitchFamily="34" charset="0"/>
                <a:ea typeface="Meiryo UI" pitchFamily="34" charset="-122"/>
                <a:cs typeface="Meiryo UI" pitchFamily="34" charset="-120"/>
              </a:rPr>
              <a:t>準備 ― 使い始められる状態をつくる</a:t>
            </a:r>
            <a:endParaRPr lang="en-US" sz="2700" dirty="0"/>
          </a:p>
        </p:txBody>
      </p:sp>
      <p:sp>
        <p:nvSpPr>
          <p:cNvPr id="5" name="Text 3"/>
          <p:cNvSpPr/>
          <p:nvPr/>
        </p:nvSpPr>
        <p:spPr>
          <a:xfrm>
            <a:off x="1627632" y="868680"/>
            <a:ext cx="9966960" cy="347472"/>
          </a:xfrm>
          <a:prstGeom prst="rect">
            <a:avLst/>
          </a:prstGeom>
          <a:noFill/>
          <a:ln/>
        </p:spPr>
        <p:txBody>
          <a:bodyPr wrap="square" lIns="0" tIns="0" rIns="0" bIns="0" rtlCol="0" anchor="ctr"/>
          <a:lstStyle/>
          <a:p>
            <a:pPr indent="0" marL="0">
              <a:buNone/>
            </a:pPr>
            <a:r>
              <a:rPr lang="en-US" sz="1300" b="1" dirty="0">
                <a:solidFill>
                  <a:srgbClr val="1C7293"/>
                </a:solidFill>
                <a:latin typeface="Meiryo UI" pitchFamily="34" charset="0"/>
                <a:ea typeface="Meiryo UI" pitchFamily="34" charset="-122"/>
                <a:cs typeface="Meiryo UI" pitchFamily="34" charset="-120"/>
              </a:rPr>
              <a:t>ゴール：</a:t>
            </a:r>
            <a:pPr indent="0" marL="0">
              <a:buNone/>
            </a:pPr>
            <a:r>
              <a:rPr lang="en-US" sz="1300" dirty="0">
                <a:solidFill>
                  <a:srgbClr val="5E7182"/>
                </a:solidFill>
                <a:latin typeface="Meiryo UI" pitchFamily="34" charset="0"/>
                <a:ea typeface="Meiryo UI" pitchFamily="34" charset="-122"/>
                <a:cs typeface="Meiryo UI" pitchFamily="34" charset="-120"/>
              </a:rPr>
              <a:t>全員が安心して使い始められる環境とルールが整っている（1〜2週間）</a:t>
            </a:r>
            <a:endParaRPr lang="en-US" sz="1300" dirty="0"/>
          </a:p>
        </p:txBody>
      </p:sp>
      <p:sp>
        <p:nvSpPr>
          <p:cNvPr id="6" name="Shape 4"/>
          <p:cNvSpPr/>
          <p:nvPr/>
        </p:nvSpPr>
        <p:spPr>
          <a:xfrm>
            <a:off x="548640" y="1691640"/>
            <a:ext cx="5394960" cy="1920240"/>
          </a:xfrm>
          <a:prstGeom prst="roundRect">
            <a:avLst>
              <a:gd name="adj" fmla="val 3810"/>
            </a:avLst>
          </a:prstGeom>
          <a:solidFill>
            <a:srgbClr val="EFF6FA"/>
          </a:solidFill>
          <a:ln/>
        </p:spPr>
      </p:sp>
      <p:sp>
        <p:nvSpPr>
          <p:cNvPr id="7" name="Shape 5"/>
          <p:cNvSpPr/>
          <p:nvPr/>
        </p:nvSpPr>
        <p:spPr>
          <a:xfrm>
            <a:off x="822960" y="1965960"/>
            <a:ext cx="603504" cy="603504"/>
          </a:xfrm>
          <a:prstGeom prst="ellipse">
            <a:avLst/>
          </a:prstGeom>
          <a:solidFill>
            <a:srgbClr val="1C7293"/>
          </a:solidFill>
          <a:ln/>
        </p:spPr>
      </p:sp>
      <p:pic>
        <p:nvPicPr>
          <p:cNvPr id="8" name="Image 0" descr="preencoded.png">    </p:cNvPr>
          <p:cNvPicPr>
            <a:picLocks noChangeAspect="1"/>
          </p:cNvPicPr>
          <p:nvPr/>
        </p:nvPicPr>
        <p:blipFill>
          <a:blip r:embed="rId1"/>
          <a:stretch>
            <a:fillRect/>
          </a:stretch>
        </p:blipFill>
        <p:spPr>
          <a:xfrm>
            <a:off x="979871" y="2122871"/>
            <a:ext cx="289682" cy="289682"/>
          </a:xfrm>
          <a:prstGeom prst="rect">
            <a:avLst/>
          </a:prstGeom>
        </p:spPr>
      </p:pic>
      <p:sp>
        <p:nvSpPr>
          <p:cNvPr id="9" name="Text 6"/>
          <p:cNvSpPr/>
          <p:nvPr/>
        </p:nvSpPr>
        <p:spPr>
          <a:xfrm>
            <a:off x="1572768" y="1965960"/>
            <a:ext cx="4114800" cy="603504"/>
          </a:xfrm>
          <a:prstGeom prst="rect">
            <a:avLst/>
          </a:prstGeom>
          <a:noFill/>
          <a:ln/>
        </p:spPr>
        <p:txBody>
          <a:bodyPr wrap="square" lIns="0" tIns="0" rIns="0" bIns="0" rtlCol="0" anchor="ctr"/>
          <a:lstStyle/>
          <a:p>
            <a:pPr indent="0" marL="0">
              <a:buNone/>
            </a:pPr>
            <a:r>
              <a:rPr lang="en-US" sz="1550" b="1" dirty="0">
                <a:solidFill>
                  <a:srgbClr val="065A82"/>
                </a:solidFill>
                <a:latin typeface="Meiryo UI" pitchFamily="34" charset="0"/>
                <a:ea typeface="Meiryo UI" pitchFamily="34" charset="-122"/>
                <a:cs typeface="Meiryo UI" pitchFamily="34" charset="-120"/>
              </a:rPr>
              <a:t>ライセンスの確認・割り当て</a:t>
            </a:r>
            <a:endParaRPr lang="en-US" sz="1550" dirty="0"/>
          </a:p>
        </p:txBody>
      </p:sp>
      <p:sp>
        <p:nvSpPr>
          <p:cNvPr id="10" name="Text 7"/>
          <p:cNvSpPr/>
          <p:nvPr/>
        </p:nvSpPr>
        <p:spPr>
          <a:xfrm>
            <a:off x="841248" y="2679192"/>
            <a:ext cx="4809744" cy="822960"/>
          </a:xfrm>
          <a:prstGeom prst="rect">
            <a:avLst/>
          </a:prstGeom>
          <a:noFill/>
          <a:ln/>
        </p:spPr>
        <p:txBody>
          <a:bodyPr wrap="square" lIns="0" tIns="0" rIns="0" bIns="0" rtlCol="0" anchor="ctr"/>
          <a:lstStyle/>
          <a:p>
            <a:pPr indent="0" marL="0">
              <a:lnSpc>
                <a:spcPct val="120000"/>
              </a:lnSpc>
              <a:buNone/>
            </a:pPr>
            <a:r>
              <a:rPr lang="en-US" sz="1200" dirty="0">
                <a:solidFill>
                  <a:srgbClr val="20303F"/>
                </a:solidFill>
                <a:latin typeface="Meiryo UI" pitchFamily="34" charset="0"/>
                <a:ea typeface="Meiryo UI" pitchFamily="34" charset="-122"/>
                <a:cs typeface="Meiryo UI" pitchFamily="34" charset="-120"/>
              </a:rPr>
              <a:t>対象メンバー全員にCopilotライセンスが割り当てられているか、情シスと確認する</a:t>
            </a:r>
            <a:endParaRPr lang="en-US" sz="1200" dirty="0"/>
          </a:p>
        </p:txBody>
      </p:sp>
      <p:sp>
        <p:nvSpPr>
          <p:cNvPr id="11" name="Shape 8"/>
          <p:cNvSpPr/>
          <p:nvPr/>
        </p:nvSpPr>
        <p:spPr>
          <a:xfrm>
            <a:off x="6245352" y="1691640"/>
            <a:ext cx="5394960" cy="1920240"/>
          </a:xfrm>
          <a:prstGeom prst="roundRect">
            <a:avLst>
              <a:gd name="adj" fmla="val 3810"/>
            </a:avLst>
          </a:prstGeom>
          <a:solidFill>
            <a:srgbClr val="EFF6FA"/>
          </a:solidFill>
          <a:ln/>
        </p:spPr>
      </p:sp>
      <p:sp>
        <p:nvSpPr>
          <p:cNvPr id="12" name="Shape 9"/>
          <p:cNvSpPr/>
          <p:nvPr/>
        </p:nvSpPr>
        <p:spPr>
          <a:xfrm>
            <a:off x="6519672" y="1965960"/>
            <a:ext cx="603504" cy="603504"/>
          </a:xfrm>
          <a:prstGeom prst="ellipse">
            <a:avLst/>
          </a:prstGeom>
          <a:solidFill>
            <a:srgbClr val="1C7293"/>
          </a:solidFill>
          <a:ln/>
        </p:spPr>
      </p:sp>
      <p:pic>
        <p:nvPicPr>
          <p:cNvPr id="13" name="Image 1" descr="preencoded.png">    </p:cNvPr>
          <p:cNvPicPr>
            <a:picLocks noChangeAspect="1"/>
          </p:cNvPicPr>
          <p:nvPr/>
        </p:nvPicPr>
        <p:blipFill>
          <a:blip r:embed="rId2"/>
          <a:stretch>
            <a:fillRect/>
          </a:stretch>
        </p:blipFill>
        <p:spPr>
          <a:xfrm>
            <a:off x="6676583" y="2122871"/>
            <a:ext cx="289682" cy="289682"/>
          </a:xfrm>
          <a:prstGeom prst="rect">
            <a:avLst/>
          </a:prstGeom>
        </p:spPr>
      </p:pic>
      <p:sp>
        <p:nvSpPr>
          <p:cNvPr id="14" name="Text 10"/>
          <p:cNvSpPr/>
          <p:nvPr/>
        </p:nvSpPr>
        <p:spPr>
          <a:xfrm>
            <a:off x="7269480" y="1965960"/>
            <a:ext cx="4114800" cy="603504"/>
          </a:xfrm>
          <a:prstGeom prst="rect">
            <a:avLst/>
          </a:prstGeom>
          <a:noFill/>
          <a:ln/>
        </p:spPr>
        <p:txBody>
          <a:bodyPr wrap="square" lIns="0" tIns="0" rIns="0" bIns="0" rtlCol="0" anchor="ctr"/>
          <a:lstStyle/>
          <a:p>
            <a:pPr indent="0" marL="0">
              <a:buNone/>
            </a:pPr>
            <a:r>
              <a:rPr lang="en-US" sz="1550" b="1" dirty="0">
                <a:solidFill>
                  <a:srgbClr val="065A82"/>
                </a:solidFill>
                <a:latin typeface="Meiryo UI" pitchFamily="34" charset="0"/>
                <a:ea typeface="Meiryo UI" pitchFamily="34" charset="-122"/>
                <a:cs typeface="Meiryo UI" pitchFamily="34" charset="-120"/>
              </a:rPr>
              <a:t>利用ルールを1枚にまとめる</a:t>
            </a:r>
            <a:endParaRPr lang="en-US" sz="1550" dirty="0"/>
          </a:p>
        </p:txBody>
      </p:sp>
      <p:sp>
        <p:nvSpPr>
          <p:cNvPr id="15" name="Text 11"/>
          <p:cNvSpPr/>
          <p:nvPr/>
        </p:nvSpPr>
        <p:spPr>
          <a:xfrm>
            <a:off x="6537960" y="2679192"/>
            <a:ext cx="4809744" cy="822960"/>
          </a:xfrm>
          <a:prstGeom prst="rect">
            <a:avLst/>
          </a:prstGeom>
          <a:noFill/>
          <a:ln/>
        </p:spPr>
        <p:txBody>
          <a:bodyPr wrap="square" lIns="0" tIns="0" rIns="0" bIns="0" rtlCol="0" anchor="ctr"/>
          <a:lstStyle/>
          <a:p>
            <a:pPr indent="0" marL="0">
              <a:lnSpc>
                <a:spcPct val="120000"/>
              </a:lnSpc>
              <a:buNone/>
            </a:pPr>
            <a:r>
              <a:rPr lang="en-US" sz="1200" dirty="0">
                <a:solidFill>
                  <a:srgbClr val="20303F"/>
                </a:solidFill>
                <a:latin typeface="Meiryo UI" pitchFamily="34" charset="0"/>
                <a:ea typeface="Meiryo UI" pitchFamily="34" charset="-122"/>
                <a:cs typeface="Meiryo UI" pitchFamily="34" charset="-120"/>
              </a:rPr>
              <a:t>入力してよい情報・いけない情報、出力の確認義務など、部の共通ルールを明文化する</a:t>
            </a:r>
            <a:endParaRPr lang="en-US" sz="1200" dirty="0"/>
          </a:p>
        </p:txBody>
      </p:sp>
      <p:sp>
        <p:nvSpPr>
          <p:cNvPr id="16" name="Shape 12"/>
          <p:cNvSpPr/>
          <p:nvPr/>
        </p:nvSpPr>
        <p:spPr>
          <a:xfrm>
            <a:off x="548640" y="3913632"/>
            <a:ext cx="5394960" cy="1920240"/>
          </a:xfrm>
          <a:prstGeom prst="roundRect">
            <a:avLst>
              <a:gd name="adj" fmla="val 3810"/>
            </a:avLst>
          </a:prstGeom>
          <a:solidFill>
            <a:srgbClr val="EFF6FA"/>
          </a:solidFill>
          <a:ln/>
        </p:spPr>
      </p:sp>
      <p:sp>
        <p:nvSpPr>
          <p:cNvPr id="17" name="Shape 13"/>
          <p:cNvSpPr/>
          <p:nvPr/>
        </p:nvSpPr>
        <p:spPr>
          <a:xfrm>
            <a:off x="822960" y="4187952"/>
            <a:ext cx="603504" cy="603504"/>
          </a:xfrm>
          <a:prstGeom prst="ellipse">
            <a:avLst/>
          </a:prstGeom>
          <a:solidFill>
            <a:srgbClr val="1C7293"/>
          </a:solidFill>
          <a:ln/>
        </p:spPr>
      </p:sp>
      <p:pic>
        <p:nvPicPr>
          <p:cNvPr id="18" name="Image 2" descr="preencoded.png">    </p:cNvPr>
          <p:cNvPicPr>
            <a:picLocks noChangeAspect="1"/>
          </p:cNvPicPr>
          <p:nvPr/>
        </p:nvPicPr>
        <p:blipFill>
          <a:blip r:embed="rId3"/>
          <a:stretch>
            <a:fillRect/>
          </a:stretch>
        </p:blipFill>
        <p:spPr>
          <a:xfrm>
            <a:off x="979871" y="4344863"/>
            <a:ext cx="289682" cy="289682"/>
          </a:xfrm>
          <a:prstGeom prst="rect">
            <a:avLst/>
          </a:prstGeom>
        </p:spPr>
      </p:pic>
      <p:sp>
        <p:nvSpPr>
          <p:cNvPr id="19" name="Text 14"/>
          <p:cNvSpPr/>
          <p:nvPr/>
        </p:nvSpPr>
        <p:spPr>
          <a:xfrm>
            <a:off x="1572768" y="4187952"/>
            <a:ext cx="4114800" cy="603504"/>
          </a:xfrm>
          <a:prstGeom prst="rect">
            <a:avLst/>
          </a:prstGeom>
          <a:noFill/>
          <a:ln/>
        </p:spPr>
        <p:txBody>
          <a:bodyPr wrap="square" lIns="0" tIns="0" rIns="0" bIns="0" rtlCol="0" anchor="ctr"/>
          <a:lstStyle/>
          <a:p>
            <a:pPr indent="0" marL="0">
              <a:buNone/>
            </a:pPr>
            <a:r>
              <a:rPr lang="en-US" sz="1550" b="1" dirty="0">
                <a:solidFill>
                  <a:srgbClr val="065A82"/>
                </a:solidFill>
                <a:latin typeface="Meiryo UI" pitchFamily="34" charset="0"/>
                <a:ea typeface="Meiryo UI" pitchFamily="34" charset="-122"/>
                <a:cs typeface="Meiryo UI" pitchFamily="34" charset="-120"/>
              </a:rPr>
              <a:t>アクセス権の点検</a:t>
            </a:r>
            <a:endParaRPr lang="en-US" sz="1550" dirty="0"/>
          </a:p>
        </p:txBody>
      </p:sp>
      <p:sp>
        <p:nvSpPr>
          <p:cNvPr id="20" name="Text 15"/>
          <p:cNvSpPr/>
          <p:nvPr/>
        </p:nvSpPr>
        <p:spPr>
          <a:xfrm>
            <a:off x="841248" y="4901184"/>
            <a:ext cx="4809744" cy="822960"/>
          </a:xfrm>
          <a:prstGeom prst="rect">
            <a:avLst/>
          </a:prstGeom>
          <a:noFill/>
          <a:ln/>
        </p:spPr>
        <p:txBody>
          <a:bodyPr wrap="square" lIns="0" tIns="0" rIns="0" bIns="0" rtlCol="0" anchor="ctr"/>
          <a:lstStyle/>
          <a:p>
            <a:pPr indent="0" marL="0">
              <a:lnSpc>
                <a:spcPct val="120000"/>
              </a:lnSpc>
              <a:buNone/>
            </a:pPr>
            <a:r>
              <a:rPr lang="en-US" sz="1200" dirty="0">
                <a:solidFill>
                  <a:srgbClr val="20303F"/>
                </a:solidFill>
                <a:latin typeface="Meiryo UI" pitchFamily="34" charset="0"/>
                <a:ea typeface="Meiryo UI" pitchFamily="34" charset="-122"/>
                <a:cs typeface="Meiryo UI" pitchFamily="34" charset="-120"/>
              </a:rPr>
              <a:t>Copilotは本人が見られるファイルを参照する。共有フォルダの権限設定を見直す</a:t>
            </a:r>
            <a:endParaRPr lang="en-US" sz="1200" dirty="0"/>
          </a:p>
        </p:txBody>
      </p:sp>
      <p:sp>
        <p:nvSpPr>
          <p:cNvPr id="21" name="Shape 16"/>
          <p:cNvSpPr/>
          <p:nvPr/>
        </p:nvSpPr>
        <p:spPr>
          <a:xfrm>
            <a:off x="6245352" y="3913632"/>
            <a:ext cx="5394960" cy="1920240"/>
          </a:xfrm>
          <a:prstGeom prst="roundRect">
            <a:avLst>
              <a:gd name="adj" fmla="val 3810"/>
            </a:avLst>
          </a:prstGeom>
          <a:solidFill>
            <a:srgbClr val="EFF6FA"/>
          </a:solidFill>
          <a:ln/>
        </p:spPr>
      </p:sp>
      <p:sp>
        <p:nvSpPr>
          <p:cNvPr id="22" name="Shape 17"/>
          <p:cNvSpPr/>
          <p:nvPr/>
        </p:nvSpPr>
        <p:spPr>
          <a:xfrm>
            <a:off x="6519672" y="4187952"/>
            <a:ext cx="603504" cy="603504"/>
          </a:xfrm>
          <a:prstGeom prst="ellipse">
            <a:avLst/>
          </a:prstGeom>
          <a:solidFill>
            <a:srgbClr val="1C7293"/>
          </a:solidFill>
          <a:ln/>
        </p:spPr>
      </p:sp>
      <p:pic>
        <p:nvPicPr>
          <p:cNvPr id="23" name="Image 3" descr="preencoded.png">    </p:cNvPr>
          <p:cNvPicPr>
            <a:picLocks noChangeAspect="1"/>
          </p:cNvPicPr>
          <p:nvPr/>
        </p:nvPicPr>
        <p:blipFill>
          <a:blip r:embed="rId4"/>
          <a:stretch>
            <a:fillRect/>
          </a:stretch>
        </p:blipFill>
        <p:spPr>
          <a:xfrm>
            <a:off x="6676583" y="4344863"/>
            <a:ext cx="289682" cy="289682"/>
          </a:xfrm>
          <a:prstGeom prst="rect">
            <a:avLst/>
          </a:prstGeom>
        </p:spPr>
      </p:pic>
      <p:sp>
        <p:nvSpPr>
          <p:cNvPr id="24" name="Text 18"/>
          <p:cNvSpPr/>
          <p:nvPr/>
        </p:nvSpPr>
        <p:spPr>
          <a:xfrm>
            <a:off x="7269480" y="4187952"/>
            <a:ext cx="4114800" cy="603504"/>
          </a:xfrm>
          <a:prstGeom prst="rect">
            <a:avLst/>
          </a:prstGeom>
          <a:noFill/>
          <a:ln/>
        </p:spPr>
        <p:txBody>
          <a:bodyPr wrap="square" lIns="0" tIns="0" rIns="0" bIns="0" rtlCol="0" anchor="ctr"/>
          <a:lstStyle/>
          <a:p>
            <a:pPr indent="0" marL="0">
              <a:buNone/>
            </a:pPr>
            <a:r>
              <a:rPr lang="en-US" sz="1550" b="1" dirty="0">
                <a:solidFill>
                  <a:srgbClr val="065A82"/>
                </a:solidFill>
                <a:latin typeface="Meiryo UI" pitchFamily="34" charset="0"/>
                <a:ea typeface="Meiryo UI" pitchFamily="34" charset="-122"/>
                <a:cs typeface="Meiryo UI" pitchFamily="34" charset="-120"/>
              </a:rPr>
              <a:t>推進体制とキックオフ</a:t>
            </a:r>
            <a:endParaRPr lang="en-US" sz="1550" dirty="0"/>
          </a:p>
        </p:txBody>
      </p:sp>
      <p:sp>
        <p:nvSpPr>
          <p:cNvPr id="25" name="Text 19"/>
          <p:cNvSpPr/>
          <p:nvPr/>
        </p:nvSpPr>
        <p:spPr>
          <a:xfrm>
            <a:off x="6537960" y="4901184"/>
            <a:ext cx="4809744" cy="822960"/>
          </a:xfrm>
          <a:prstGeom prst="rect">
            <a:avLst/>
          </a:prstGeom>
          <a:noFill/>
          <a:ln/>
        </p:spPr>
        <p:txBody>
          <a:bodyPr wrap="square" lIns="0" tIns="0" rIns="0" bIns="0" rtlCol="0" anchor="ctr"/>
          <a:lstStyle/>
          <a:p>
            <a:pPr indent="0" marL="0">
              <a:lnSpc>
                <a:spcPct val="120000"/>
              </a:lnSpc>
              <a:buNone/>
            </a:pPr>
            <a:r>
              <a:rPr lang="en-US" sz="1200" dirty="0">
                <a:solidFill>
                  <a:srgbClr val="20303F"/>
                </a:solidFill>
                <a:latin typeface="Meiryo UI" pitchFamily="34" charset="0"/>
                <a:ea typeface="Meiryo UI" pitchFamily="34" charset="-122"/>
                <a:cs typeface="Meiryo UI" pitchFamily="34" charset="-120"/>
              </a:rPr>
              <a:t>推進リーダー1名と各チームの「チャンピオン」を決め、説明会で目的とルールを共有する</a:t>
            </a:r>
            <a:endParaRPr lang="en-US" sz="1200" dirty="0"/>
          </a:p>
        </p:txBody>
      </p:sp>
      <p:sp>
        <p:nvSpPr>
          <p:cNvPr id="26" name="Text 20"/>
          <p:cNvSpPr/>
          <p:nvPr/>
        </p:nvSpPr>
        <p:spPr>
          <a:xfrm>
            <a:off x="548640" y="5989320"/>
            <a:ext cx="11064240" cy="365760"/>
          </a:xfrm>
          <a:prstGeom prst="rect">
            <a:avLst/>
          </a:prstGeom>
          <a:noFill/>
          <a:ln/>
        </p:spPr>
        <p:txBody>
          <a:bodyPr wrap="square" lIns="0" tIns="0" rIns="0" bIns="0" rtlCol="0" anchor="ctr"/>
          <a:lstStyle/>
          <a:p>
            <a:pPr indent="0" marL="0">
              <a:buNone/>
            </a:pPr>
            <a:r>
              <a:rPr lang="en-US" sz="1200" b="1" dirty="0">
                <a:solidFill>
                  <a:srgbClr val="1C7293"/>
                </a:solidFill>
                <a:latin typeface="Meiryo UI" pitchFamily="34" charset="0"/>
                <a:ea typeface="Meiryo UI" pitchFamily="34" charset="-122"/>
                <a:cs typeface="Meiryo UI" pitchFamily="34" charset="-120"/>
              </a:rPr>
              <a:t>完了条件：全員がサインインできる／ルールを周知済み／リーダー・チャンピオン決定／キックオフ実施</a:t>
            </a:r>
            <a:endParaRPr lang="en-US" sz="1200" dirty="0"/>
          </a:p>
        </p:txBody>
      </p:sp>
      <p:sp>
        <p:nvSpPr>
          <p:cNvPr id="27" name="Text 21"/>
          <p:cNvSpPr/>
          <p:nvPr/>
        </p:nvSpPr>
        <p:spPr>
          <a:xfrm>
            <a:off x="8897112" y="6473952"/>
            <a:ext cx="2743200" cy="274320"/>
          </a:xfrm>
          <a:prstGeom prst="rect">
            <a:avLst/>
          </a:prstGeom>
          <a:noFill/>
          <a:ln/>
        </p:spPr>
        <p:txBody>
          <a:bodyPr wrap="square" lIns="0" tIns="0" rIns="0" bIns="0" rtlCol="0" anchor="ctr"/>
          <a:lstStyle/>
          <a:p>
            <a:pPr algn="r" indent="0" marL="0">
              <a:buNone/>
            </a:pPr>
            <a:r>
              <a:rPr lang="en-US" sz="900" dirty="0">
                <a:solidFill>
                  <a:srgbClr val="9AAAB8"/>
                </a:solidFill>
                <a:latin typeface="Meiryo UI" pitchFamily="34" charset="0"/>
                <a:ea typeface="Meiryo UI" pitchFamily="34" charset="-122"/>
                <a:cs typeface="Meiryo UI" pitchFamily="34" charset="-120"/>
              </a:rPr>
              <a:t>Microsoft 365 Copilot 活用ガイド｜5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868680" cy="868680"/>
          </a:xfrm>
          <a:prstGeom prst="ellipse">
            <a:avLst/>
          </a:prstGeom>
          <a:solidFill>
            <a:srgbClr val="1C7293"/>
          </a:solidFill>
          <a:ln/>
        </p:spPr>
      </p:sp>
      <p:sp>
        <p:nvSpPr>
          <p:cNvPr id="3" name="Text 1"/>
          <p:cNvSpPr/>
          <p:nvPr/>
        </p:nvSpPr>
        <p:spPr>
          <a:xfrm>
            <a:off x="548640" y="32004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Meiryo UI" pitchFamily="34" charset="0"/>
                <a:ea typeface="Meiryo UI" pitchFamily="34" charset="-122"/>
                <a:cs typeface="Meiryo UI" pitchFamily="34" charset="-120"/>
              </a:rPr>
              <a:t>1</a:t>
            </a:r>
            <a:endParaRPr lang="en-US" sz="3400" dirty="0"/>
          </a:p>
        </p:txBody>
      </p:sp>
      <p:sp>
        <p:nvSpPr>
          <p:cNvPr id="4" name="Text 2"/>
          <p:cNvSpPr/>
          <p:nvPr/>
        </p:nvSpPr>
        <p:spPr>
          <a:xfrm>
            <a:off x="1600200" y="320040"/>
            <a:ext cx="9966960" cy="548640"/>
          </a:xfrm>
          <a:prstGeom prst="rect">
            <a:avLst/>
          </a:prstGeom>
          <a:noFill/>
          <a:ln/>
        </p:spPr>
        <p:txBody>
          <a:bodyPr wrap="square" lIns="0" tIns="0" rIns="0" bIns="0" rtlCol="0" anchor="ctr"/>
          <a:lstStyle/>
          <a:p>
            <a:pPr indent="0" marL="0">
              <a:buNone/>
            </a:pPr>
            <a:r>
              <a:rPr lang="en-US" sz="2700" b="1" dirty="0">
                <a:solidFill>
                  <a:srgbClr val="065A82"/>
                </a:solidFill>
                <a:latin typeface="Meiryo UI" pitchFamily="34" charset="0"/>
                <a:ea typeface="Meiryo UI" pitchFamily="34" charset="-122"/>
                <a:cs typeface="Meiryo UI" pitchFamily="34" charset="-120"/>
              </a:rPr>
              <a:t>まず触ってみる ― 1日1回の習慣づくり</a:t>
            </a:r>
            <a:endParaRPr lang="en-US" sz="2700" dirty="0"/>
          </a:p>
        </p:txBody>
      </p:sp>
      <p:sp>
        <p:nvSpPr>
          <p:cNvPr id="5" name="Text 3"/>
          <p:cNvSpPr/>
          <p:nvPr/>
        </p:nvSpPr>
        <p:spPr>
          <a:xfrm>
            <a:off x="1627632" y="868680"/>
            <a:ext cx="9966960" cy="347472"/>
          </a:xfrm>
          <a:prstGeom prst="rect">
            <a:avLst/>
          </a:prstGeom>
          <a:noFill/>
          <a:ln/>
        </p:spPr>
        <p:txBody>
          <a:bodyPr wrap="square" lIns="0" tIns="0" rIns="0" bIns="0" rtlCol="0" anchor="ctr"/>
          <a:lstStyle/>
          <a:p>
            <a:pPr indent="0" marL="0">
              <a:buNone/>
            </a:pPr>
            <a:r>
              <a:rPr lang="en-US" sz="1300" b="1" dirty="0">
                <a:solidFill>
                  <a:srgbClr val="1C7293"/>
                </a:solidFill>
                <a:latin typeface="Meiryo UI" pitchFamily="34" charset="0"/>
                <a:ea typeface="Meiryo UI" pitchFamily="34" charset="-122"/>
                <a:cs typeface="Meiryo UI" pitchFamily="34" charset="-120"/>
              </a:rPr>
              <a:t>ゴール：</a:t>
            </a:r>
            <a:pPr indent="0" marL="0">
              <a:buNone/>
            </a:pPr>
            <a:r>
              <a:rPr lang="en-US" sz="1300" dirty="0">
                <a:solidFill>
                  <a:srgbClr val="5E7182"/>
                </a:solidFill>
                <a:latin typeface="Meiryo UI" pitchFamily="34" charset="0"/>
                <a:ea typeface="Meiryo UI" pitchFamily="34" charset="-122"/>
                <a:cs typeface="Meiryo UI" pitchFamily="34" charset="-120"/>
              </a:rPr>
              <a:t>全員が1日1回以上Copilot Chatを使い、「AIに頼む」ことに慣れる（1〜2週間）</a:t>
            </a:r>
            <a:endParaRPr lang="en-US" sz="1300" dirty="0"/>
          </a:p>
        </p:txBody>
      </p:sp>
      <p:sp>
        <p:nvSpPr>
          <p:cNvPr id="6" name="Shape 4"/>
          <p:cNvSpPr/>
          <p:nvPr/>
        </p:nvSpPr>
        <p:spPr>
          <a:xfrm>
            <a:off x="548640" y="1691640"/>
            <a:ext cx="4937760" cy="4114800"/>
          </a:xfrm>
          <a:prstGeom prst="roundRect">
            <a:avLst>
              <a:gd name="adj" fmla="val 1778"/>
            </a:avLst>
          </a:prstGeom>
          <a:solidFill>
            <a:srgbClr val="21295C"/>
          </a:solidFill>
          <a:ln/>
        </p:spPr>
      </p:sp>
      <p:sp>
        <p:nvSpPr>
          <p:cNvPr id="7" name="Text 5"/>
          <p:cNvSpPr/>
          <p:nvPr/>
        </p:nvSpPr>
        <p:spPr>
          <a:xfrm>
            <a:off x="822960" y="2148840"/>
            <a:ext cx="4389120" cy="1005840"/>
          </a:xfrm>
          <a:prstGeom prst="rect">
            <a:avLst/>
          </a:prstGeom>
          <a:noFill/>
          <a:ln/>
        </p:spPr>
        <p:txBody>
          <a:bodyPr wrap="square" lIns="0" tIns="0" rIns="0" bIns="0" rtlCol="0" anchor="ctr"/>
          <a:lstStyle/>
          <a:p>
            <a:pPr algn="ctr" indent="0" marL="0">
              <a:buNone/>
            </a:pPr>
            <a:r>
              <a:rPr lang="en-US" sz="5400" b="1" dirty="0">
                <a:solidFill>
                  <a:srgbClr val="8FD6E8"/>
                </a:solidFill>
                <a:latin typeface="Meiryo UI" pitchFamily="34" charset="0"/>
                <a:ea typeface="Meiryo UI" pitchFamily="34" charset="-122"/>
                <a:cs typeface="Meiryo UI" pitchFamily="34" charset="-120"/>
              </a:rPr>
              <a:t>1日1回</a:t>
            </a:r>
            <a:endParaRPr lang="en-US" sz="5400" dirty="0"/>
          </a:p>
        </p:txBody>
      </p:sp>
      <p:sp>
        <p:nvSpPr>
          <p:cNvPr id="8" name="Text 6"/>
          <p:cNvSpPr/>
          <p:nvPr/>
        </p:nvSpPr>
        <p:spPr>
          <a:xfrm>
            <a:off x="822960" y="3200400"/>
            <a:ext cx="43891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なんでもいいので話しかける</a:t>
            </a:r>
            <a:endParaRPr lang="en-US" sz="1600" dirty="0"/>
          </a:p>
        </p:txBody>
      </p:sp>
      <p:sp>
        <p:nvSpPr>
          <p:cNvPr id="9" name="Text 7"/>
          <p:cNvSpPr/>
          <p:nvPr/>
        </p:nvSpPr>
        <p:spPr>
          <a:xfrm>
            <a:off x="1051560" y="3886200"/>
            <a:ext cx="4023360" cy="1463040"/>
          </a:xfrm>
          <a:prstGeom prst="rect">
            <a:avLst/>
          </a:prstGeom>
          <a:noFill/>
          <a:ln/>
        </p:spPr>
        <p:txBody>
          <a:bodyPr wrap="square" lIns="0" tIns="0" rIns="0" bIns="0" rtlCol="0" anchor="ctr"/>
          <a:lstStyle/>
          <a:p>
            <a:pPr indent="0" marL="0">
              <a:lnSpc>
                <a:spcPct val="150000"/>
              </a:lnSpc>
              <a:buNone/>
            </a:pPr>
            <a:r>
              <a:rPr lang="en-US" sz="1300" dirty="0">
                <a:solidFill>
                  <a:srgbClr val="CADCFC"/>
                </a:solidFill>
                <a:latin typeface="Meiryo UI" pitchFamily="34" charset="0"/>
                <a:ea typeface="Meiryo UI" pitchFamily="34" charset="-122"/>
                <a:cs typeface="Meiryo UI" pitchFamily="34" charset="-120"/>
              </a:rPr>
              <a:t>・要約して、翻訳して、箇条書きにして</a:t>
            </a:r>
            <a:endParaRPr lang="en-US" sz="1300" dirty="0"/>
          </a:p>
          <a:p>
            <a:pPr indent="0" marL="0">
              <a:lnSpc>
                <a:spcPct val="150000"/>
              </a:lnSpc>
              <a:buNone/>
            </a:pPr>
            <a:r>
              <a:rPr lang="en-US" sz="1300" dirty="0">
                <a:solidFill>
                  <a:srgbClr val="CADCFC"/>
                </a:solidFill>
                <a:latin typeface="Meiryo UI" pitchFamily="34" charset="0"/>
                <a:ea typeface="Meiryo UI" pitchFamily="34" charset="-122"/>
                <a:cs typeface="Meiryo UI" pitchFamily="34" charset="-120"/>
              </a:rPr>
              <a:t>・完璧な指示は不要。まず雑に頼む</a:t>
            </a:r>
            <a:endParaRPr lang="en-US" sz="1300" dirty="0"/>
          </a:p>
          <a:p>
            <a:pPr indent="0" marL="0">
              <a:lnSpc>
                <a:spcPct val="150000"/>
              </a:lnSpc>
              <a:buNone/>
            </a:pPr>
            <a:r>
              <a:rPr lang="en-US" sz="1300" dirty="0">
                <a:solidFill>
                  <a:srgbClr val="CADCFC"/>
                </a:solidFill>
                <a:latin typeface="Meiryo UI" pitchFamily="34" charset="0"/>
                <a:ea typeface="Meiryo UI" pitchFamily="34" charset="-122"/>
                <a:cs typeface="Meiryo UI" pitchFamily="34" charset="-120"/>
              </a:rPr>
              <a:t>・答えに「もっと短く」と注文を重ねる</a:t>
            </a:r>
            <a:endParaRPr lang="en-US" sz="1300" dirty="0"/>
          </a:p>
        </p:txBody>
      </p:sp>
      <p:sp>
        <p:nvSpPr>
          <p:cNvPr id="10" name="Shape 8"/>
          <p:cNvSpPr/>
          <p:nvPr/>
        </p:nvSpPr>
        <p:spPr>
          <a:xfrm>
            <a:off x="5806440" y="1691640"/>
            <a:ext cx="5833872" cy="4114800"/>
          </a:xfrm>
          <a:prstGeom prst="roundRect">
            <a:avLst>
              <a:gd name="adj" fmla="val 1778"/>
            </a:avLst>
          </a:prstGeom>
          <a:solidFill>
            <a:srgbClr val="EFF6FA"/>
          </a:solidFill>
          <a:ln/>
        </p:spPr>
      </p:sp>
      <p:sp>
        <p:nvSpPr>
          <p:cNvPr id="11" name="Text 9"/>
          <p:cNvSpPr/>
          <p:nvPr/>
        </p:nvSpPr>
        <p:spPr>
          <a:xfrm>
            <a:off x="6126480" y="1920240"/>
            <a:ext cx="5212080" cy="411480"/>
          </a:xfrm>
          <a:prstGeom prst="rect">
            <a:avLst/>
          </a:prstGeom>
          <a:noFill/>
          <a:ln/>
        </p:spPr>
        <p:txBody>
          <a:bodyPr wrap="square" lIns="0" tIns="0" rIns="0" bIns="0" rtlCol="0" anchor="ctr"/>
          <a:lstStyle/>
          <a:p>
            <a:pPr indent="0" marL="0">
              <a:buNone/>
            </a:pPr>
            <a:r>
              <a:rPr lang="en-US" sz="1500" b="1" dirty="0">
                <a:solidFill>
                  <a:srgbClr val="065A82"/>
                </a:solidFill>
                <a:latin typeface="Meiryo UI" pitchFamily="34" charset="0"/>
                <a:ea typeface="Meiryo UI" pitchFamily="34" charset="-122"/>
                <a:cs typeface="Meiryo UI" pitchFamily="34" charset="-120"/>
              </a:rPr>
              <a:t>コピーして使えるプロンプト例</a:t>
            </a:r>
            <a:endParaRPr lang="en-US" sz="1500" dirty="0"/>
          </a:p>
        </p:txBody>
      </p:sp>
      <p:sp>
        <p:nvSpPr>
          <p:cNvPr id="12" name="Shape 10"/>
          <p:cNvSpPr/>
          <p:nvPr/>
        </p:nvSpPr>
        <p:spPr>
          <a:xfrm>
            <a:off x="6126480" y="2487168"/>
            <a:ext cx="5212080" cy="676656"/>
          </a:xfrm>
          <a:prstGeom prst="roundRect">
            <a:avLst>
              <a:gd name="adj" fmla="val 8108"/>
            </a:avLst>
          </a:prstGeom>
          <a:solidFill>
            <a:srgbClr val="FFFFFF"/>
          </a:solidFill>
          <a:ln w="12700">
            <a:solidFill>
              <a:srgbClr val="C9DCE8"/>
            </a:solidFill>
            <a:prstDash val="solid"/>
          </a:ln>
        </p:spPr>
      </p:sp>
      <p:sp>
        <p:nvSpPr>
          <p:cNvPr id="13" name="Text 11"/>
          <p:cNvSpPr/>
          <p:nvPr/>
        </p:nvSpPr>
        <p:spPr>
          <a:xfrm>
            <a:off x="6309360" y="2487168"/>
            <a:ext cx="4892040" cy="676656"/>
          </a:xfrm>
          <a:prstGeom prst="rect">
            <a:avLst/>
          </a:prstGeom>
          <a:noFill/>
          <a:ln/>
        </p:spPr>
        <p:txBody>
          <a:bodyPr wrap="square" lIns="0" tIns="0" rIns="0" bIns="0" rtlCol="0" anchor="ctr"/>
          <a:lstStyle/>
          <a:p>
            <a:pPr indent="0" marL="0">
              <a:buNone/>
            </a:pPr>
            <a:r>
              <a:rPr lang="en-US" sz="1150" dirty="0">
                <a:solidFill>
                  <a:srgbClr val="20303F"/>
                </a:solidFill>
                <a:latin typeface="Meiryo UI" pitchFamily="34" charset="0"/>
                <a:ea typeface="Meiryo UI" pitchFamily="34" charset="-122"/>
                <a:cs typeface="Meiryo UI" pitchFamily="34" charset="-120"/>
              </a:rPr>
              <a:t>この文章を3行で要約してください。［文章を貼り付け］</a:t>
            </a:r>
            <a:endParaRPr lang="en-US" sz="1150" dirty="0"/>
          </a:p>
        </p:txBody>
      </p:sp>
      <p:sp>
        <p:nvSpPr>
          <p:cNvPr id="14" name="Shape 12"/>
          <p:cNvSpPr/>
          <p:nvPr/>
        </p:nvSpPr>
        <p:spPr>
          <a:xfrm>
            <a:off x="6126480" y="3291840"/>
            <a:ext cx="5212080" cy="676656"/>
          </a:xfrm>
          <a:prstGeom prst="roundRect">
            <a:avLst>
              <a:gd name="adj" fmla="val 8108"/>
            </a:avLst>
          </a:prstGeom>
          <a:solidFill>
            <a:srgbClr val="FFFFFF"/>
          </a:solidFill>
          <a:ln w="12700">
            <a:solidFill>
              <a:srgbClr val="C9DCE8"/>
            </a:solidFill>
            <a:prstDash val="solid"/>
          </a:ln>
        </p:spPr>
      </p:sp>
      <p:sp>
        <p:nvSpPr>
          <p:cNvPr id="15" name="Text 13"/>
          <p:cNvSpPr/>
          <p:nvPr/>
        </p:nvSpPr>
        <p:spPr>
          <a:xfrm>
            <a:off x="6309360" y="3291840"/>
            <a:ext cx="4892040" cy="676656"/>
          </a:xfrm>
          <a:prstGeom prst="rect">
            <a:avLst/>
          </a:prstGeom>
          <a:noFill/>
          <a:ln/>
        </p:spPr>
        <p:txBody>
          <a:bodyPr wrap="square" lIns="0" tIns="0" rIns="0" bIns="0" rtlCol="0" anchor="ctr"/>
          <a:lstStyle/>
          <a:p>
            <a:pPr indent="0" marL="0">
              <a:buNone/>
            </a:pPr>
            <a:r>
              <a:rPr lang="en-US" sz="1150" dirty="0">
                <a:solidFill>
                  <a:srgbClr val="20303F"/>
                </a:solidFill>
                <a:latin typeface="Meiryo UI" pitchFamily="34" charset="0"/>
                <a:ea typeface="Meiryo UI" pitchFamily="34" charset="-122"/>
                <a:cs typeface="Meiryo UI" pitchFamily="34" charset="-120"/>
              </a:rPr>
              <a:t>次のメモを、取引先向けの丁寧なメール文に書き直してください。</a:t>
            </a:r>
            <a:endParaRPr lang="en-US" sz="1150" dirty="0"/>
          </a:p>
        </p:txBody>
      </p:sp>
      <p:sp>
        <p:nvSpPr>
          <p:cNvPr id="16" name="Shape 14"/>
          <p:cNvSpPr/>
          <p:nvPr/>
        </p:nvSpPr>
        <p:spPr>
          <a:xfrm>
            <a:off x="6126480" y="4096512"/>
            <a:ext cx="5212080" cy="676656"/>
          </a:xfrm>
          <a:prstGeom prst="roundRect">
            <a:avLst>
              <a:gd name="adj" fmla="val 8108"/>
            </a:avLst>
          </a:prstGeom>
          <a:solidFill>
            <a:srgbClr val="FFFFFF"/>
          </a:solidFill>
          <a:ln w="12700">
            <a:solidFill>
              <a:srgbClr val="C9DCE8"/>
            </a:solidFill>
            <a:prstDash val="solid"/>
          </a:ln>
        </p:spPr>
      </p:sp>
      <p:sp>
        <p:nvSpPr>
          <p:cNvPr id="17" name="Text 15"/>
          <p:cNvSpPr/>
          <p:nvPr/>
        </p:nvSpPr>
        <p:spPr>
          <a:xfrm>
            <a:off x="6309360" y="4096512"/>
            <a:ext cx="4892040" cy="676656"/>
          </a:xfrm>
          <a:prstGeom prst="rect">
            <a:avLst/>
          </a:prstGeom>
          <a:noFill/>
          <a:ln/>
        </p:spPr>
        <p:txBody>
          <a:bodyPr wrap="square" lIns="0" tIns="0" rIns="0" bIns="0" rtlCol="0" anchor="ctr"/>
          <a:lstStyle/>
          <a:p>
            <a:pPr indent="0" marL="0">
              <a:buNone/>
            </a:pPr>
            <a:r>
              <a:rPr lang="en-US" sz="1150" dirty="0">
                <a:solidFill>
                  <a:srgbClr val="20303F"/>
                </a:solidFill>
                <a:latin typeface="Meiryo UI" pitchFamily="34" charset="0"/>
                <a:ea typeface="Meiryo UI" pitchFamily="34" charset="-122"/>
                <a:cs typeface="Meiryo UI" pitchFamily="34" charset="-120"/>
              </a:rPr>
              <a:t>新商品のキャッチコピー案を10個。ターゲットは30代女性です。</a:t>
            </a:r>
            <a:endParaRPr lang="en-US" sz="1150" dirty="0"/>
          </a:p>
        </p:txBody>
      </p:sp>
      <p:sp>
        <p:nvSpPr>
          <p:cNvPr id="18" name="Shape 16"/>
          <p:cNvSpPr/>
          <p:nvPr/>
        </p:nvSpPr>
        <p:spPr>
          <a:xfrm>
            <a:off x="6126480" y="4901184"/>
            <a:ext cx="5212080" cy="676656"/>
          </a:xfrm>
          <a:prstGeom prst="roundRect">
            <a:avLst>
              <a:gd name="adj" fmla="val 8108"/>
            </a:avLst>
          </a:prstGeom>
          <a:solidFill>
            <a:srgbClr val="FFFFFF"/>
          </a:solidFill>
          <a:ln w="12700">
            <a:solidFill>
              <a:srgbClr val="C9DCE8"/>
            </a:solidFill>
            <a:prstDash val="solid"/>
          </a:ln>
        </p:spPr>
      </p:sp>
      <p:sp>
        <p:nvSpPr>
          <p:cNvPr id="19" name="Text 17"/>
          <p:cNvSpPr/>
          <p:nvPr/>
        </p:nvSpPr>
        <p:spPr>
          <a:xfrm>
            <a:off x="6309360" y="4901184"/>
            <a:ext cx="4892040" cy="676656"/>
          </a:xfrm>
          <a:prstGeom prst="rect">
            <a:avLst/>
          </a:prstGeom>
          <a:noFill/>
          <a:ln/>
        </p:spPr>
        <p:txBody>
          <a:bodyPr wrap="square" lIns="0" tIns="0" rIns="0" bIns="0" rtlCol="0" anchor="ctr"/>
          <a:lstStyle/>
          <a:p>
            <a:pPr indent="0" marL="0">
              <a:buNone/>
            </a:pPr>
            <a:r>
              <a:rPr lang="en-US" sz="1150" dirty="0">
                <a:solidFill>
                  <a:srgbClr val="20303F"/>
                </a:solidFill>
                <a:latin typeface="Meiryo UI" pitchFamily="34" charset="0"/>
                <a:ea typeface="Meiryo UI" pitchFamily="34" charset="-122"/>
                <a:cs typeface="Meiryo UI" pitchFamily="34" charset="-120"/>
              </a:rPr>
              <a:t>「減価償却」を新入社員にもわかるように説明してください。</a:t>
            </a:r>
            <a:endParaRPr lang="en-US" sz="1150" dirty="0"/>
          </a:p>
        </p:txBody>
      </p:sp>
      <p:sp>
        <p:nvSpPr>
          <p:cNvPr id="20" name="Text 18"/>
          <p:cNvSpPr/>
          <p:nvPr/>
        </p:nvSpPr>
        <p:spPr>
          <a:xfrm>
            <a:off x="548640" y="5989320"/>
            <a:ext cx="11064240" cy="365760"/>
          </a:xfrm>
          <a:prstGeom prst="rect">
            <a:avLst/>
          </a:prstGeom>
          <a:noFill/>
          <a:ln/>
        </p:spPr>
        <p:txBody>
          <a:bodyPr wrap="square" lIns="0" tIns="0" rIns="0" bIns="0" rtlCol="0" anchor="ctr"/>
          <a:lstStyle/>
          <a:p>
            <a:pPr indent="0" marL="0">
              <a:buNone/>
            </a:pPr>
            <a:r>
              <a:rPr lang="en-US" sz="1200" b="1" dirty="0">
                <a:solidFill>
                  <a:srgbClr val="1C7293"/>
                </a:solidFill>
                <a:latin typeface="Meiryo UI" pitchFamily="34" charset="0"/>
                <a:ea typeface="Meiryo UI" pitchFamily="34" charset="-122"/>
                <a:cs typeface="Meiryo UI" pitchFamily="34" charset="-120"/>
              </a:rPr>
              <a:t>完了条件：毎営業日1回×1週間／要約・翻訳・下書きを体験／チームで「使ってみた」を1回共有</a:t>
            </a:r>
            <a:endParaRPr lang="en-US" sz="1200" dirty="0"/>
          </a:p>
        </p:txBody>
      </p:sp>
      <p:sp>
        <p:nvSpPr>
          <p:cNvPr id="21" name="Text 19"/>
          <p:cNvSpPr/>
          <p:nvPr/>
        </p:nvSpPr>
        <p:spPr>
          <a:xfrm>
            <a:off x="8897112" y="6473952"/>
            <a:ext cx="2743200" cy="274320"/>
          </a:xfrm>
          <a:prstGeom prst="rect">
            <a:avLst/>
          </a:prstGeom>
          <a:noFill/>
          <a:ln/>
        </p:spPr>
        <p:txBody>
          <a:bodyPr wrap="square" lIns="0" tIns="0" rIns="0" bIns="0" rtlCol="0" anchor="ctr"/>
          <a:lstStyle/>
          <a:p>
            <a:pPr algn="r" indent="0" marL="0">
              <a:buNone/>
            </a:pPr>
            <a:r>
              <a:rPr lang="en-US" sz="900" dirty="0">
                <a:solidFill>
                  <a:srgbClr val="9AAAB8"/>
                </a:solidFill>
                <a:latin typeface="Meiryo UI" pitchFamily="34" charset="0"/>
                <a:ea typeface="Meiryo UI" pitchFamily="34" charset="-122"/>
                <a:cs typeface="Meiryo UI" pitchFamily="34" charset="-120"/>
              </a:rPr>
              <a:t>Microsoft 365 Copilot 活用ガイド｜6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868680" cy="868680"/>
          </a:xfrm>
          <a:prstGeom prst="ellipse">
            <a:avLst/>
          </a:prstGeom>
          <a:solidFill>
            <a:srgbClr val="1C7293"/>
          </a:solidFill>
          <a:ln/>
        </p:spPr>
      </p:sp>
      <p:sp>
        <p:nvSpPr>
          <p:cNvPr id="3" name="Text 1"/>
          <p:cNvSpPr/>
          <p:nvPr/>
        </p:nvSpPr>
        <p:spPr>
          <a:xfrm>
            <a:off x="548640" y="32004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Meiryo UI" pitchFamily="34" charset="0"/>
                <a:ea typeface="Meiryo UI" pitchFamily="34" charset="-122"/>
                <a:cs typeface="Meiryo UI" pitchFamily="34" charset="-120"/>
              </a:rPr>
              <a:t>2</a:t>
            </a:r>
            <a:endParaRPr lang="en-US" sz="3400" dirty="0"/>
          </a:p>
        </p:txBody>
      </p:sp>
      <p:sp>
        <p:nvSpPr>
          <p:cNvPr id="4" name="Text 2"/>
          <p:cNvSpPr/>
          <p:nvPr/>
        </p:nvSpPr>
        <p:spPr>
          <a:xfrm>
            <a:off x="1600200" y="320040"/>
            <a:ext cx="9966960" cy="548640"/>
          </a:xfrm>
          <a:prstGeom prst="rect">
            <a:avLst/>
          </a:prstGeom>
          <a:noFill/>
          <a:ln/>
        </p:spPr>
        <p:txBody>
          <a:bodyPr wrap="square" lIns="0" tIns="0" rIns="0" bIns="0" rtlCol="0" anchor="ctr"/>
          <a:lstStyle/>
          <a:p>
            <a:pPr indent="0" marL="0">
              <a:buNone/>
            </a:pPr>
            <a:r>
              <a:rPr lang="en-US" sz="2700" b="1" dirty="0">
                <a:solidFill>
                  <a:srgbClr val="065A82"/>
                </a:solidFill>
                <a:latin typeface="Meiryo UI" pitchFamily="34" charset="0"/>
                <a:ea typeface="Meiryo UI" pitchFamily="34" charset="-122"/>
                <a:cs typeface="Meiryo UI" pitchFamily="34" charset="-120"/>
              </a:rPr>
              <a:t>日常業務に組み込む ― メールと会議から</a:t>
            </a:r>
            <a:endParaRPr lang="en-US" sz="2700" dirty="0"/>
          </a:p>
        </p:txBody>
      </p:sp>
      <p:sp>
        <p:nvSpPr>
          <p:cNvPr id="5" name="Text 3"/>
          <p:cNvSpPr/>
          <p:nvPr/>
        </p:nvSpPr>
        <p:spPr>
          <a:xfrm>
            <a:off x="1627632" y="868680"/>
            <a:ext cx="9966960" cy="347472"/>
          </a:xfrm>
          <a:prstGeom prst="rect">
            <a:avLst/>
          </a:prstGeom>
          <a:noFill/>
          <a:ln/>
        </p:spPr>
        <p:txBody>
          <a:bodyPr wrap="square" lIns="0" tIns="0" rIns="0" bIns="0" rtlCol="0" anchor="ctr"/>
          <a:lstStyle/>
          <a:p>
            <a:pPr indent="0" marL="0">
              <a:buNone/>
            </a:pPr>
            <a:r>
              <a:rPr lang="en-US" sz="1300" b="1" dirty="0">
                <a:solidFill>
                  <a:srgbClr val="1C7293"/>
                </a:solidFill>
                <a:latin typeface="Meiryo UI" pitchFamily="34" charset="0"/>
                <a:ea typeface="Meiryo UI" pitchFamily="34" charset="-122"/>
                <a:cs typeface="Meiryo UI" pitchFamily="34" charset="-120"/>
              </a:rPr>
              <a:t>ゴール：</a:t>
            </a:r>
            <a:pPr indent="0" marL="0">
              <a:buNone/>
            </a:pPr>
            <a:r>
              <a:rPr lang="en-US" sz="1300" dirty="0">
                <a:solidFill>
                  <a:srgbClr val="5E7182"/>
                </a:solidFill>
                <a:latin typeface="Meiryo UI" pitchFamily="34" charset="0"/>
                <a:ea typeface="Meiryo UI" pitchFamily="34" charset="-122"/>
                <a:cs typeface="Meiryo UI" pitchFamily="34" charset="-120"/>
              </a:rPr>
              <a:t>メール処理と会議の前後でCopilotを使うのが当たり前になる（約1か月）</a:t>
            </a:r>
            <a:endParaRPr lang="en-US" sz="1300" dirty="0"/>
          </a:p>
        </p:txBody>
      </p:sp>
      <p:sp>
        <p:nvSpPr>
          <p:cNvPr id="6" name="Shape 4"/>
          <p:cNvSpPr/>
          <p:nvPr/>
        </p:nvSpPr>
        <p:spPr>
          <a:xfrm>
            <a:off x="548640" y="1691640"/>
            <a:ext cx="5394960" cy="4114800"/>
          </a:xfrm>
          <a:prstGeom prst="roundRect">
            <a:avLst>
              <a:gd name="adj" fmla="val 1778"/>
            </a:avLst>
          </a:prstGeom>
          <a:solidFill>
            <a:srgbClr val="EFF6FA"/>
          </a:solidFill>
          <a:ln/>
        </p:spPr>
      </p:sp>
      <p:sp>
        <p:nvSpPr>
          <p:cNvPr id="7" name="Shape 5"/>
          <p:cNvSpPr/>
          <p:nvPr/>
        </p:nvSpPr>
        <p:spPr>
          <a:xfrm>
            <a:off x="822960" y="1965960"/>
            <a:ext cx="640080" cy="640080"/>
          </a:xfrm>
          <a:prstGeom prst="ellipse">
            <a:avLst/>
          </a:prstGeom>
          <a:solidFill>
            <a:srgbClr val="065A82"/>
          </a:solidFill>
          <a:ln/>
        </p:spPr>
      </p:sp>
      <p:pic>
        <p:nvPicPr>
          <p:cNvPr id="8" name="Image 0" descr="preencoded.png">    </p:cNvPr>
          <p:cNvPicPr>
            <a:picLocks noChangeAspect="1"/>
          </p:cNvPicPr>
          <p:nvPr/>
        </p:nvPicPr>
        <p:blipFill>
          <a:blip r:embed="rId1"/>
          <a:stretch>
            <a:fillRect/>
          </a:stretch>
        </p:blipFill>
        <p:spPr>
          <a:xfrm>
            <a:off x="989381" y="2132381"/>
            <a:ext cx="307238" cy="307238"/>
          </a:xfrm>
          <a:prstGeom prst="rect">
            <a:avLst/>
          </a:prstGeom>
        </p:spPr>
      </p:pic>
      <p:sp>
        <p:nvSpPr>
          <p:cNvPr id="9" name="Text 6"/>
          <p:cNvSpPr/>
          <p:nvPr/>
        </p:nvSpPr>
        <p:spPr>
          <a:xfrm>
            <a:off x="1609344" y="1965960"/>
            <a:ext cx="4114800" cy="640080"/>
          </a:xfrm>
          <a:prstGeom prst="rect">
            <a:avLst/>
          </a:prstGeom>
          <a:noFill/>
          <a:ln/>
        </p:spPr>
        <p:txBody>
          <a:bodyPr wrap="square" lIns="0" tIns="0" rIns="0" bIns="0" rtlCol="0" anchor="ctr"/>
          <a:lstStyle/>
          <a:p>
            <a:pPr indent="0" marL="0">
              <a:buNone/>
            </a:pPr>
            <a:r>
              <a:rPr lang="en-US" sz="1800" b="1" dirty="0">
                <a:solidFill>
                  <a:srgbClr val="065A82"/>
                </a:solidFill>
                <a:latin typeface="Meiryo UI" pitchFamily="34" charset="0"/>
                <a:ea typeface="Meiryo UI" pitchFamily="34" charset="-122"/>
                <a:cs typeface="Meiryo UI" pitchFamily="34" charset="-120"/>
              </a:rPr>
              <a:t>Outlook（メール）</a:t>
            </a:r>
            <a:endParaRPr lang="en-US" sz="1800" dirty="0"/>
          </a:p>
        </p:txBody>
      </p:sp>
      <p:sp>
        <p:nvSpPr>
          <p:cNvPr id="10" name="Text 7"/>
          <p:cNvSpPr/>
          <p:nvPr/>
        </p:nvSpPr>
        <p:spPr>
          <a:xfrm>
            <a:off x="868680" y="2788920"/>
            <a:ext cx="4754880" cy="1737360"/>
          </a:xfrm>
          <a:prstGeom prst="rect">
            <a:avLst/>
          </a:prstGeom>
          <a:noFill/>
          <a:ln/>
        </p:spPr>
        <p:txBody>
          <a:bodyPr wrap="square" lIns="0" tIns="0" rIns="0" bIns="0" rtlCol="0" anchor="ctr"/>
          <a:lstStyle/>
          <a:p>
            <a:pPr marL="177800" indent="-177800">
              <a:lnSpc>
                <a:spcPct val="115000"/>
              </a:lnSpc>
              <a:spcAft>
                <a:spcPts val="800"/>
              </a:spcAft>
              <a:buSzPct val="100000"/>
              <a:buChar char="•"/>
            </a:pPr>
            <a:r>
              <a:rPr lang="en-US" sz="1250" dirty="0">
                <a:solidFill>
                  <a:srgbClr val="20303F"/>
                </a:solidFill>
                <a:latin typeface="Meiryo UI" pitchFamily="34" charset="0"/>
                <a:ea typeface="Meiryo UI" pitchFamily="34" charset="-122"/>
                <a:cs typeface="Meiryo UI" pitchFamily="34" charset="-120"/>
              </a:rPr>
              <a:t>長いスレッドはまず「要約」で経緯を把握</a:t>
            </a:r>
            <a:endParaRPr lang="en-US" sz="1250" dirty="0"/>
          </a:p>
          <a:p>
            <a:pPr marL="177800" indent="-177800">
              <a:lnSpc>
                <a:spcPct val="115000"/>
              </a:lnSpc>
              <a:spcAft>
                <a:spcPts val="800"/>
              </a:spcAft>
              <a:buSzPct val="100000"/>
              <a:buChar char="•"/>
            </a:pPr>
            <a:r>
              <a:rPr lang="en-US" sz="1250" dirty="0">
                <a:solidFill>
                  <a:srgbClr val="20303F"/>
                </a:solidFill>
                <a:latin typeface="Meiryo UI" pitchFamily="34" charset="0"/>
                <a:ea typeface="Meiryo UI" pitchFamily="34" charset="-122"/>
                <a:cs typeface="Meiryo UI" pitchFamily="34" charset="-120"/>
              </a:rPr>
              <a:t>返信はゼロから書かず、下書きさせて手直し</a:t>
            </a:r>
            <a:endParaRPr lang="en-US" sz="1250" dirty="0"/>
          </a:p>
          <a:p>
            <a:pPr marL="177800" indent="-177800">
              <a:lnSpc>
                <a:spcPct val="115000"/>
              </a:lnSpc>
              <a:spcAft>
                <a:spcPts val="800"/>
              </a:spcAft>
              <a:buSzPct val="100000"/>
              <a:buChar char="•"/>
            </a:pPr>
            <a:r>
              <a:rPr lang="en-US" sz="1250" dirty="0">
                <a:solidFill>
                  <a:srgbClr val="20303F"/>
                </a:solidFill>
                <a:latin typeface="Meiryo UI" pitchFamily="34" charset="0"/>
                <a:ea typeface="Meiryo UI" pitchFamily="34" charset="-122"/>
                <a:cs typeface="Meiryo UI" pitchFamily="34" charset="-120"/>
              </a:rPr>
              <a:t>重要なメールは失礼がないかチェックさせる</a:t>
            </a:r>
            <a:endParaRPr lang="en-US" sz="1250" dirty="0"/>
          </a:p>
        </p:txBody>
      </p:sp>
      <p:sp>
        <p:nvSpPr>
          <p:cNvPr id="11" name="Shape 8"/>
          <p:cNvSpPr/>
          <p:nvPr/>
        </p:nvSpPr>
        <p:spPr>
          <a:xfrm>
            <a:off x="822960" y="4709160"/>
            <a:ext cx="4846320" cy="868680"/>
          </a:xfrm>
          <a:prstGeom prst="roundRect">
            <a:avLst>
              <a:gd name="adj" fmla="val 6316"/>
            </a:avLst>
          </a:prstGeom>
          <a:solidFill>
            <a:srgbClr val="FFFFFF"/>
          </a:solidFill>
          <a:ln w="12700">
            <a:solidFill>
              <a:srgbClr val="C9DCE8"/>
            </a:solidFill>
            <a:prstDash val="solid"/>
          </a:ln>
        </p:spPr>
      </p:sp>
      <p:sp>
        <p:nvSpPr>
          <p:cNvPr id="12" name="Text 9"/>
          <p:cNvSpPr/>
          <p:nvPr/>
        </p:nvSpPr>
        <p:spPr>
          <a:xfrm>
            <a:off x="1005840" y="4709160"/>
            <a:ext cx="4480560" cy="868680"/>
          </a:xfrm>
          <a:prstGeom prst="rect">
            <a:avLst/>
          </a:prstGeom>
          <a:noFill/>
          <a:ln/>
        </p:spPr>
        <p:txBody>
          <a:bodyPr wrap="square" lIns="0" tIns="0" rIns="0" bIns="0" rtlCol="0" anchor="ctr"/>
          <a:lstStyle/>
          <a:p>
            <a:pPr indent="0" marL="0">
              <a:buNone/>
            </a:pPr>
            <a:r>
              <a:rPr lang="en-US" sz="1100" i="1" dirty="0">
                <a:solidFill>
                  <a:srgbClr val="1C7293"/>
                </a:solidFill>
                <a:latin typeface="Meiryo UI" pitchFamily="34" charset="0"/>
                <a:ea typeface="Meiryo UI" pitchFamily="34" charset="-122"/>
                <a:cs typeface="Meiryo UI" pitchFamily="34" charset="-120"/>
              </a:rPr>
              <a:t>例：このスレッドの経緯と、私が対応すべきことを箇条書きでまとめてください。</a:t>
            </a:r>
            <a:endParaRPr lang="en-US" sz="1100" dirty="0"/>
          </a:p>
        </p:txBody>
      </p:sp>
      <p:sp>
        <p:nvSpPr>
          <p:cNvPr id="13" name="Shape 10"/>
          <p:cNvSpPr/>
          <p:nvPr/>
        </p:nvSpPr>
        <p:spPr>
          <a:xfrm>
            <a:off x="6245352" y="1691640"/>
            <a:ext cx="5394960" cy="4114800"/>
          </a:xfrm>
          <a:prstGeom prst="roundRect">
            <a:avLst>
              <a:gd name="adj" fmla="val 1778"/>
            </a:avLst>
          </a:prstGeom>
          <a:solidFill>
            <a:srgbClr val="EFF6FA"/>
          </a:solidFill>
          <a:ln/>
        </p:spPr>
      </p:sp>
      <p:sp>
        <p:nvSpPr>
          <p:cNvPr id="14" name="Shape 11"/>
          <p:cNvSpPr/>
          <p:nvPr/>
        </p:nvSpPr>
        <p:spPr>
          <a:xfrm>
            <a:off x="6519672" y="1965960"/>
            <a:ext cx="640080" cy="640080"/>
          </a:xfrm>
          <a:prstGeom prst="ellipse">
            <a:avLst/>
          </a:prstGeom>
          <a:solidFill>
            <a:srgbClr val="065A82"/>
          </a:solidFill>
          <a:ln/>
        </p:spPr>
      </p:sp>
      <p:pic>
        <p:nvPicPr>
          <p:cNvPr id="15" name="Image 1" descr="preencoded.png">    </p:cNvPr>
          <p:cNvPicPr>
            <a:picLocks noChangeAspect="1"/>
          </p:cNvPicPr>
          <p:nvPr/>
        </p:nvPicPr>
        <p:blipFill>
          <a:blip r:embed="rId2"/>
          <a:stretch>
            <a:fillRect/>
          </a:stretch>
        </p:blipFill>
        <p:spPr>
          <a:xfrm>
            <a:off x="6686093" y="2132381"/>
            <a:ext cx="307238" cy="307238"/>
          </a:xfrm>
          <a:prstGeom prst="rect">
            <a:avLst/>
          </a:prstGeom>
        </p:spPr>
      </p:pic>
      <p:sp>
        <p:nvSpPr>
          <p:cNvPr id="16" name="Text 12"/>
          <p:cNvSpPr/>
          <p:nvPr/>
        </p:nvSpPr>
        <p:spPr>
          <a:xfrm>
            <a:off x="7306056" y="1965960"/>
            <a:ext cx="4114800" cy="640080"/>
          </a:xfrm>
          <a:prstGeom prst="rect">
            <a:avLst/>
          </a:prstGeom>
          <a:noFill/>
          <a:ln/>
        </p:spPr>
        <p:txBody>
          <a:bodyPr wrap="square" lIns="0" tIns="0" rIns="0" bIns="0" rtlCol="0" anchor="ctr"/>
          <a:lstStyle/>
          <a:p>
            <a:pPr indent="0" marL="0">
              <a:buNone/>
            </a:pPr>
            <a:r>
              <a:rPr lang="en-US" sz="1800" b="1" dirty="0">
                <a:solidFill>
                  <a:srgbClr val="065A82"/>
                </a:solidFill>
                <a:latin typeface="Meiryo UI" pitchFamily="34" charset="0"/>
                <a:ea typeface="Meiryo UI" pitchFamily="34" charset="-122"/>
                <a:cs typeface="Meiryo UI" pitchFamily="34" charset="-120"/>
              </a:rPr>
              <a:t>Teams（会議）</a:t>
            </a:r>
            <a:endParaRPr lang="en-US" sz="1800" dirty="0"/>
          </a:p>
        </p:txBody>
      </p:sp>
      <p:sp>
        <p:nvSpPr>
          <p:cNvPr id="17" name="Text 13"/>
          <p:cNvSpPr/>
          <p:nvPr/>
        </p:nvSpPr>
        <p:spPr>
          <a:xfrm>
            <a:off x="6565392" y="2788920"/>
            <a:ext cx="4754880" cy="1737360"/>
          </a:xfrm>
          <a:prstGeom prst="rect">
            <a:avLst/>
          </a:prstGeom>
          <a:noFill/>
          <a:ln/>
        </p:spPr>
        <p:txBody>
          <a:bodyPr wrap="square" lIns="0" tIns="0" rIns="0" bIns="0" rtlCol="0" anchor="ctr"/>
          <a:lstStyle/>
          <a:p>
            <a:pPr marL="177800" indent="-177800">
              <a:lnSpc>
                <a:spcPct val="115000"/>
              </a:lnSpc>
              <a:spcAft>
                <a:spcPts val="800"/>
              </a:spcAft>
              <a:buSzPct val="100000"/>
              <a:buChar char="•"/>
            </a:pPr>
            <a:r>
              <a:rPr lang="en-US" sz="1250" dirty="0">
                <a:solidFill>
                  <a:srgbClr val="20303F"/>
                </a:solidFill>
                <a:latin typeface="Meiryo UI" pitchFamily="34" charset="0"/>
                <a:ea typeface="Meiryo UI" pitchFamily="34" charset="-122"/>
                <a:cs typeface="Meiryo UI" pitchFamily="34" charset="-120"/>
              </a:rPr>
              <a:t>文字起こしをONにして、終了後に議事録を抽出</a:t>
            </a:r>
            <a:endParaRPr lang="en-US" sz="1250" dirty="0"/>
          </a:p>
          <a:p>
            <a:pPr marL="177800" indent="-177800">
              <a:lnSpc>
                <a:spcPct val="115000"/>
              </a:lnSpc>
              <a:spcAft>
                <a:spcPts val="800"/>
              </a:spcAft>
              <a:buSzPct val="100000"/>
              <a:buChar char="•"/>
            </a:pPr>
            <a:r>
              <a:rPr lang="en-US" sz="1250" dirty="0">
                <a:solidFill>
                  <a:srgbClr val="20303F"/>
                </a:solidFill>
                <a:latin typeface="Meiryo UI" pitchFamily="34" charset="0"/>
                <a:ea typeface="Meiryo UI" pitchFamily="34" charset="-122"/>
                <a:cs typeface="Meiryo UI" pitchFamily="34" charset="-120"/>
              </a:rPr>
              <a:t>決定事項・担当者別ToDoを表形式で整理</a:t>
            </a:r>
            <a:endParaRPr lang="en-US" sz="1250" dirty="0"/>
          </a:p>
          <a:p>
            <a:pPr marL="177800" indent="-177800">
              <a:lnSpc>
                <a:spcPct val="115000"/>
              </a:lnSpc>
              <a:spcAft>
                <a:spcPts val="800"/>
              </a:spcAft>
              <a:buSzPct val="100000"/>
              <a:buChar char="•"/>
            </a:pPr>
            <a:r>
              <a:rPr lang="en-US" sz="1250" dirty="0">
                <a:solidFill>
                  <a:srgbClr val="20303F"/>
                </a:solidFill>
                <a:latin typeface="Meiryo UI" pitchFamily="34" charset="0"/>
                <a:ea typeface="Meiryo UI" pitchFamily="34" charset="-122"/>
                <a:cs typeface="Meiryo UI" pitchFamily="34" charset="-120"/>
              </a:rPr>
              <a:t>欠席した会議は録画＋要約でキャッチアップ</a:t>
            </a:r>
            <a:endParaRPr lang="en-US" sz="1250" dirty="0"/>
          </a:p>
        </p:txBody>
      </p:sp>
      <p:sp>
        <p:nvSpPr>
          <p:cNvPr id="18" name="Shape 14"/>
          <p:cNvSpPr/>
          <p:nvPr/>
        </p:nvSpPr>
        <p:spPr>
          <a:xfrm>
            <a:off x="6519672" y="4709160"/>
            <a:ext cx="4846320" cy="868680"/>
          </a:xfrm>
          <a:prstGeom prst="roundRect">
            <a:avLst>
              <a:gd name="adj" fmla="val 6316"/>
            </a:avLst>
          </a:prstGeom>
          <a:solidFill>
            <a:srgbClr val="FFFFFF"/>
          </a:solidFill>
          <a:ln w="12700">
            <a:solidFill>
              <a:srgbClr val="C9DCE8"/>
            </a:solidFill>
            <a:prstDash val="solid"/>
          </a:ln>
        </p:spPr>
      </p:sp>
      <p:sp>
        <p:nvSpPr>
          <p:cNvPr id="19" name="Text 15"/>
          <p:cNvSpPr/>
          <p:nvPr/>
        </p:nvSpPr>
        <p:spPr>
          <a:xfrm>
            <a:off x="6702552" y="4709160"/>
            <a:ext cx="4480560" cy="868680"/>
          </a:xfrm>
          <a:prstGeom prst="rect">
            <a:avLst/>
          </a:prstGeom>
          <a:noFill/>
          <a:ln/>
        </p:spPr>
        <p:txBody>
          <a:bodyPr wrap="square" lIns="0" tIns="0" rIns="0" bIns="0" rtlCol="0" anchor="ctr"/>
          <a:lstStyle/>
          <a:p>
            <a:pPr indent="0" marL="0">
              <a:buNone/>
            </a:pPr>
            <a:r>
              <a:rPr lang="en-US" sz="1100" i="1" dirty="0">
                <a:solidFill>
                  <a:srgbClr val="1C7293"/>
                </a:solidFill>
                <a:latin typeface="Meiryo UI" pitchFamily="34" charset="0"/>
                <a:ea typeface="Meiryo UI" pitchFamily="34" charset="-122"/>
                <a:cs typeface="Meiryo UI" pitchFamily="34" charset="-120"/>
              </a:rPr>
              <a:t>例：この会議の決定事項と担当者別ToDoを表形式でまとめてください。</a:t>
            </a:r>
            <a:endParaRPr lang="en-US" sz="1100" dirty="0"/>
          </a:p>
        </p:txBody>
      </p:sp>
      <p:sp>
        <p:nvSpPr>
          <p:cNvPr id="20" name="Text 16"/>
          <p:cNvSpPr/>
          <p:nvPr/>
        </p:nvSpPr>
        <p:spPr>
          <a:xfrm>
            <a:off x="548640" y="5989320"/>
            <a:ext cx="11064240" cy="365760"/>
          </a:xfrm>
          <a:prstGeom prst="rect">
            <a:avLst/>
          </a:prstGeom>
          <a:noFill/>
          <a:ln/>
        </p:spPr>
        <p:txBody>
          <a:bodyPr wrap="square" lIns="0" tIns="0" rIns="0" bIns="0" rtlCol="0" anchor="ctr"/>
          <a:lstStyle/>
          <a:p>
            <a:pPr indent="0" marL="0">
              <a:buNone/>
            </a:pPr>
            <a:r>
              <a:rPr lang="en-US" sz="1200" b="1" dirty="0">
                <a:solidFill>
                  <a:srgbClr val="1C7293"/>
                </a:solidFill>
                <a:latin typeface="Meiryo UI" pitchFamily="34" charset="0"/>
                <a:ea typeface="Meiryo UI" pitchFamily="34" charset="-122"/>
                <a:cs typeface="Meiryo UI" pitchFamily="34" charset="-120"/>
              </a:rPr>
              <a:t>完了条件：メールの下書き・要約を週5回以上／定例会議の議事録をCopilotで作成しチームに展開</a:t>
            </a:r>
            <a:endParaRPr lang="en-US" sz="1200" dirty="0"/>
          </a:p>
        </p:txBody>
      </p:sp>
      <p:sp>
        <p:nvSpPr>
          <p:cNvPr id="21" name="Text 17"/>
          <p:cNvSpPr/>
          <p:nvPr/>
        </p:nvSpPr>
        <p:spPr>
          <a:xfrm>
            <a:off x="8897112" y="6473952"/>
            <a:ext cx="2743200" cy="274320"/>
          </a:xfrm>
          <a:prstGeom prst="rect">
            <a:avLst/>
          </a:prstGeom>
          <a:noFill/>
          <a:ln/>
        </p:spPr>
        <p:txBody>
          <a:bodyPr wrap="square" lIns="0" tIns="0" rIns="0" bIns="0" rtlCol="0" anchor="ctr"/>
          <a:lstStyle/>
          <a:p>
            <a:pPr algn="r" indent="0" marL="0">
              <a:buNone/>
            </a:pPr>
            <a:r>
              <a:rPr lang="en-US" sz="900" dirty="0">
                <a:solidFill>
                  <a:srgbClr val="9AAAB8"/>
                </a:solidFill>
                <a:latin typeface="Meiryo UI" pitchFamily="34" charset="0"/>
                <a:ea typeface="Meiryo UI" pitchFamily="34" charset="-122"/>
                <a:cs typeface="Meiryo UI" pitchFamily="34" charset="-120"/>
              </a:rPr>
              <a:t>Microsoft 365 Copilot 活用ガイド｜7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868680" cy="868680"/>
          </a:xfrm>
          <a:prstGeom prst="ellipse">
            <a:avLst/>
          </a:prstGeom>
          <a:solidFill>
            <a:srgbClr val="1C7293"/>
          </a:solidFill>
          <a:ln/>
        </p:spPr>
      </p:sp>
      <p:sp>
        <p:nvSpPr>
          <p:cNvPr id="3" name="Text 1"/>
          <p:cNvSpPr/>
          <p:nvPr/>
        </p:nvSpPr>
        <p:spPr>
          <a:xfrm>
            <a:off x="548640" y="32004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Meiryo UI" pitchFamily="34" charset="0"/>
                <a:ea typeface="Meiryo UI" pitchFamily="34" charset="-122"/>
                <a:cs typeface="Meiryo UI" pitchFamily="34" charset="-120"/>
              </a:rPr>
              <a:t>3</a:t>
            </a:r>
            <a:endParaRPr lang="en-US" sz="3400" dirty="0"/>
          </a:p>
        </p:txBody>
      </p:sp>
      <p:sp>
        <p:nvSpPr>
          <p:cNvPr id="4" name="Text 2"/>
          <p:cNvSpPr/>
          <p:nvPr/>
        </p:nvSpPr>
        <p:spPr>
          <a:xfrm>
            <a:off x="1600200" y="320040"/>
            <a:ext cx="9966960" cy="548640"/>
          </a:xfrm>
          <a:prstGeom prst="rect">
            <a:avLst/>
          </a:prstGeom>
          <a:noFill/>
          <a:ln/>
        </p:spPr>
        <p:txBody>
          <a:bodyPr wrap="square" lIns="0" tIns="0" rIns="0" bIns="0" rtlCol="0" anchor="ctr"/>
          <a:lstStyle/>
          <a:p>
            <a:pPr indent="0" marL="0">
              <a:buNone/>
            </a:pPr>
            <a:r>
              <a:rPr lang="en-US" sz="2700" b="1" dirty="0">
                <a:solidFill>
                  <a:srgbClr val="065A82"/>
                </a:solidFill>
                <a:latin typeface="Meiryo UI" pitchFamily="34" charset="0"/>
                <a:ea typeface="Meiryo UI" pitchFamily="34" charset="-122"/>
                <a:cs typeface="Meiryo UI" pitchFamily="34" charset="-120"/>
              </a:rPr>
              <a:t>資料作成を効率化する</a:t>
            </a:r>
            <a:endParaRPr lang="en-US" sz="2700" dirty="0"/>
          </a:p>
        </p:txBody>
      </p:sp>
      <p:sp>
        <p:nvSpPr>
          <p:cNvPr id="5" name="Text 3"/>
          <p:cNvSpPr/>
          <p:nvPr/>
        </p:nvSpPr>
        <p:spPr>
          <a:xfrm>
            <a:off x="1627632" y="868680"/>
            <a:ext cx="9966960" cy="347472"/>
          </a:xfrm>
          <a:prstGeom prst="rect">
            <a:avLst/>
          </a:prstGeom>
          <a:noFill/>
          <a:ln/>
        </p:spPr>
        <p:txBody>
          <a:bodyPr wrap="square" lIns="0" tIns="0" rIns="0" bIns="0" rtlCol="0" anchor="ctr"/>
          <a:lstStyle/>
          <a:p>
            <a:pPr indent="0" marL="0">
              <a:buNone/>
            </a:pPr>
            <a:r>
              <a:rPr lang="en-US" sz="1300" b="1" dirty="0">
                <a:solidFill>
                  <a:srgbClr val="1C7293"/>
                </a:solidFill>
                <a:latin typeface="Meiryo UI" pitchFamily="34" charset="0"/>
                <a:ea typeface="Meiryo UI" pitchFamily="34" charset="-122"/>
                <a:cs typeface="Meiryo UI" pitchFamily="34" charset="-120"/>
              </a:rPr>
              <a:t>ゴール：</a:t>
            </a:r>
            <a:pPr indent="0" marL="0">
              <a:buNone/>
            </a:pPr>
            <a:r>
              <a:rPr lang="en-US" sz="1300" dirty="0">
                <a:solidFill>
                  <a:srgbClr val="5E7182"/>
                </a:solidFill>
                <a:latin typeface="Meiryo UI" pitchFamily="34" charset="0"/>
                <a:ea typeface="Meiryo UI" pitchFamily="34" charset="-122"/>
                <a:cs typeface="Meiryo UI" pitchFamily="34" charset="-120"/>
              </a:rPr>
              <a:t>たたき台づくりをCopilotに任せ、人は中身の質を高める作業に集中する（1〜2か月）</a:t>
            </a:r>
            <a:endParaRPr lang="en-US" sz="1300" dirty="0"/>
          </a:p>
        </p:txBody>
      </p:sp>
      <p:sp>
        <p:nvSpPr>
          <p:cNvPr id="6" name="Shape 4"/>
          <p:cNvSpPr/>
          <p:nvPr/>
        </p:nvSpPr>
        <p:spPr>
          <a:xfrm>
            <a:off x="548640" y="1691640"/>
            <a:ext cx="3511296" cy="4114800"/>
          </a:xfrm>
          <a:prstGeom prst="roundRect">
            <a:avLst>
              <a:gd name="adj" fmla="val 2083"/>
            </a:avLst>
          </a:prstGeom>
          <a:solidFill>
            <a:srgbClr val="EFF6FA"/>
          </a:solidFill>
          <a:ln/>
        </p:spPr>
      </p:sp>
      <p:sp>
        <p:nvSpPr>
          <p:cNvPr id="7" name="Shape 5"/>
          <p:cNvSpPr/>
          <p:nvPr/>
        </p:nvSpPr>
        <p:spPr>
          <a:xfrm>
            <a:off x="822960" y="1965960"/>
            <a:ext cx="603504" cy="603504"/>
          </a:xfrm>
          <a:prstGeom prst="ellipse">
            <a:avLst/>
          </a:prstGeom>
          <a:solidFill>
            <a:srgbClr val="065A82"/>
          </a:solidFill>
          <a:ln/>
        </p:spPr>
      </p:sp>
      <p:pic>
        <p:nvPicPr>
          <p:cNvPr id="8" name="Image 0" descr="preencoded.png">    </p:cNvPr>
          <p:cNvPicPr>
            <a:picLocks noChangeAspect="1"/>
          </p:cNvPicPr>
          <p:nvPr/>
        </p:nvPicPr>
        <p:blipFill>
          <a:blip r:embed="rId1"/>
          <a:stretch>
            <a:fillRect/>
          </a:stretch>
        </p:blipFill>
        <p:spPr>
          <a:xfrm>
            <a:off x="979871" y="2122871"/>
            <a:ext cx="289682" cy="289682"/>
          </a:xfrm>
          <a:prstGeom prst="rect">
            <a:avLst/>
          </a:prstGeom>
        </p:spPr>
      </p:pic>
      <p:sp>
        <p:nvSpPr>
          <p:cNvPr id="9" name="Text 6"/>
          <p:cNvSpPr/>
          <p:nvPr/>
        </p:nvSpPr>
        <p:spPr>
          <a:xfrm>
            <a:off x="1554480" y="1965960"/>
            <a:ext cx="2322576" cy="603504"/>
          </a:xfrm>
          <a:prstGeom prst="rect">
            <a:avLst/>
          </a:prstGeom>
          <a:noFill/>
          <a:ln/>
        </p:spPr>
        <p:txBody>
          <a:bodyPr wrap="square" lIns="0" tIns="0" rIns="0" bIns="0" rtlCol="0" anchor="ctr"/>
          <a:lstStyle/>
          <a:p>
            <a:pPr indent="0" marL="0">
              <a:buNone/>
            </a:pPr>
            <a:r>
              <a:rPr lang="en-US" sz="1800" b="1" dirty="0">
                <a:solidFill>
                  <a:srgbClr val="065A82"/>
                </a:solidFill>
                <a:latin typeface="Meiryo UI" pitchFamily="34" charset="0"/>
                <a:ea typeface="Meiryo UI" pitchFamily="34" charset="-122"/>
                <a:cs typeface="Meiryo UI" pitchFamily="34" charset="-120"/>
              </a:rPr>
              <a:t>Word</a:t>
            </a:r>
            <a:endParaRPr lang="en-US" sz="1800" dirty="0"/>
          </a:p>
        </p:txBody>
      </p:sp>
      <p:sp>
        <p:nvSpPr>
          <p:cNvPr id="10" name="Text 7"/>
          <p:cNvSpPr/>
          <p:nvPr/>
        </p:nvSpPr>
        <p:spPr>
          <a:xfrm>
            <a:off x="841248" y="2743200"/>
            <a:ext cx="2926080" cy="1737360"/>
          </a:xfrm>
          <a:prstGeom prst="rect">
            <a:avLst/>
          </a:prstGeom>
          <a:noFill/>
          <a:ln/>
        </p:spPr>
        <p:txBody>
          <a:bodyPr wrap="square" lIns="0" tIns="0" rIns="0" bIns="0" rtlCol="0" anchor="ctr"/>
          <a:lstStyle/>
          <a:p>
            <a:pPr marL="152400" indent="-152400">
              <a:lnSpc>
                <a:spcPct val="120000"/>
              </a:lnSpc>
              <a:spcAft>
                <a:spcPts val="800"/>
              </a:spcAft>
              <a:buSzPct val="100000"/>
              <a:buChar char="•"/>
            </a:pPr>
            <a:r>
              <a:rPr lang="en-US" sz="1200" dirty="0">
                <a:solidFill>
                  <a:srgbClr val="20303F"/>
                </a:solidFill>
                <a:latin typeface="Meiryo UI" pitchFamily="34" charset="0"/>
                <a:ea typeface="Meiryo UI" pitchFamily="34" charset="-122"/>
                <a:cs typeface="Meiryo UI" pitchFamily="34" charset="-120"/>
              </a:rPr>
              <a:t>構成案と下書きを作らせてから肉付け</a:t>
            </a:r>
            <a:endParaRPr lang="en-US" sz="1200" dirty="0"/>
          </a:p>
          <a:p>
            <a:pPr marL="152400" indent="-152400">
              <a:lnSpc>
                <a:spcPct val="120000"/>
              </a:lnSpc>
              <a:spcAft>
                <a:spcPts val="800"/>
              </a:spcAft>
              <a:buSzPct val="100000"/>
              <a:buChar char="•"/>
            </a:pPr>
            <a:r>
              <a:rPr lang="en-US" sz="1200" dirty="0">
                <a:solidFill>
                  <a:srgbClr val="20303F"/>
                </a:solidFill>
                <a:latin typeface="Meiryo UI" pitchFamily="34" charset="0"/>
                <a:ea typeface="Meiryo UI" pitchFamily="34" charset="-122"/>
                <a:cs typeface="Meiryo UI" pitchFamily="34" charset="-120"/>
              </a:rPr>
              <a:t>要約・トーン調整・誤字や冗長表現の確認</a:t>
            </a:r>
            <a:endParaRPr lang="en-US" sz="1200" dirty="0"/>
          </a:p>
        </p:txBody>
      </p:sp>
      <p:sp>
        <p:nvSpPr>
          <p:cNvPr id="11" name="Shape 8"/>
          <p:cNvSpPr/>
          <p:nvPr/>
        </p:nvSpPr>
        <p:spPr>
          <a:xfrm>
            <a:off x="804672" y="4572000"/>
            <a:ext cx="2999232" cy="1005840"/>
          </a:xfrm>
          <a:prstGeom prst="roundRect">
            <a:avLst>
              <a:gd name="adj" fmla="val 5455"/>
            </a:avLst>
          </a:prstGeom>
          <a:solidFill>
            <a:srgbClr val="FFFFFF"/>
          </a:solidFill>
          <a:ln w="12700">
            <a:solidFill>
              <a:srgbClr val="C9DCE8"/>
            </a:solidFill>
            <a:prstDash val="solid"/>
          </a:ln>
        </p:spPr>
      </p:sp>
      <p:sp>
        <p:nvSpPr>
          <p:cNvPr id="12" name="Text 9"/>
          <p:cNvSpPr/>
          <p:nvPr/>
        </p:nvSpPr>
        <p:spPr>
          <a:xfrm>
            <a:off x="960120" y="4572000"/>
            <a:ext cx="2688336" cy="1005840"/>
          </a:xfrm>
          <a:prstGeom prst="rect">
            <a:avLst/>
          </a:prstGeom>
          <a:noFill/>
          <a:ln/>
        </p:spPr>
        <p:txBody>
          <a:bodyPr wrap="square" lIns="0" tIns="0" rIns="0" bIns="0" rtlCol="0" anchor="ctr"/>
          <a:lstStyle/>
          <a:p>
            <a:pPr indent="0" marL="0">
              <a:buNone/>
            </a:pPr>
            <a:r>
              <a:rPr lang="en-US" sz="1050" i="1" dirty="0">
                <a:solidFill>
                  <a:srgbClr val="1C7293"/>
                </a:solidFill>
                <a:latin typeface="Meiryo UI" pitchFamily="34" charset="0"/>
                <a:ea typeface="Meiryo UI" pitchFamily="34" charset="-122"/>
                <a:cs typeface="Meiryo UI" pitchFamily="34" charset="-120"/>
              </a:rPr>
              <a:t>例：提案書の構成案を章立てと要点つきで作ってください。</a:t>
            </a:r>
            <a:endParaRPr lang="en-US" sz="1050" dirty="0"/>
          </a:p>
        </p:txBody>
      </p:sp>
      <p:sp>
        <p:nvSpPr>
          <p:cNvPr id="13" name="Shape 10"/>
          <p:cNvSpPr/>
          <p:nvPr/>
        </p:nvSpPr>
        <p:spPr>
          <a:xfrm>
            <a:off x="4334256" y="1691640"/>
            <a:ext cx="3511296" cy="4114800"/>
          </a:xfrm>
          <a:prstGeom prst="roundRect">
            <a:avLst>
              <a:gd name="adj" fmla="val 2083"/>
            </a:avLst>
          </a:prstGeom>
          <a:solidFill>
            <a:srgbClr val="EFF6FA"/>
          </a:solidFill>
          <a:ln/>
        </p:spPr>
      </p:sp>
      <p:sp>
        <p:nvSpPr>
          <p:cNvPr id="14" name="Shape 11"/>
          <p:cNvSpPr/>
          <p:nvPr/>
        </p:nvSpPr>
        <p:spPr>
          <a:xfrm>
            <a:off x="4608576" y="1965960"/>
            <a:ext cx="603504" cy="603504"/>
          </a:xfrm>
          <a:prstGeom prst="ellipse">
            <a:avLst/>
          </a:prstGeom>
          <a:solidFill>
            <a:srgbClr val="065A82"/>
          </a:solidFill>
          <a:ln/>
        </p:spPr>
      </p:sp>
      <p:pic>
        <p:nvPicPr>
          <p:cNvPr id="15" name="Image 1" descr="preencoded.png">    </p:cNvPr>
          <p:cNvPicPr>
            <a:picLocks noChangeAspect="1"/>
          </p:cNvPicPr>
          <p:nvPr/>
        </p:nvPicPr>
        <p:blipFill>
          <a:blip r:embed="rId2"/>
          <a:stretch>
            <a:fillRect/>
          </a:stretch>
        </p:blipFill>
        <p:spPr>
          <a:xfrm>
            <a:off x="4765487" y="2122871"/>
            <a:ext cx="289682" cy="289682"/>
          </a:xfrm>
          <a:prstGeom prst="rect">
            <a:avLst/>
          </a:prstGeom>
        </p:spPr>
      </p:pic>
      <p:sp>
        <p:nvSpPr>
          <p:cNvPr id="16" name="Text 12"/>
          <p:cNvSpPr/>
          <p:nvPr/>
        </p:nvSpPr>
        <p:spPr>
          <a:xfrm>
            <a:off x="5340096" y="1965960"/>
            <a:ext cx="2322576" cy="603504"/>
          </a:xfrm>
          <a:prstGeom prst="rect">
            <a:avLst/>
          </a:prstGeom>
          <a:noFill/>
          <a:ln/>
        </p:spPr>
        <p:txBody>
          <a:bodyPr wrap="square" lIns="0" tIns="0" rIns="0" bIns="0" rtlCol="0" anchor="ctr"/>
          <a:lstStyle/>
          <a:p>
            <a:pPr indent="0" marL="0">
              <a:buNone/>
            </a:pPr>
            <a:r>
              <a:rPr lang="en-US" sz="1800" b="1" dirty="0">
                <a:solidFill>
                  <a:srgbClr val="065A82"/>
                </a:solidFill>
                <a:latin typeface="Meiryo UI" pitchFamily="34" charset="0"/>
                <a:ea typeface="Meiryo UI" pitchFamily="34" charset="-122"/>
                <a:cs typeface="Meiryo UI" pitchFamily="34" charset="-120"/>
              </a:rPr>
              <a:t>PowerPoint</a:t>
            </a:r>
            <a:endParaRPr lang="en-US" sz="1800" dirty="0"/>
          </a:p>
        </p:txBody>
      </p:sp>
      <p:sp>
        <p:nvSpPr>
          <p:cNvPr id="17" name="Text 13"/>
          <p:cNvSpPr/>
          <p:nvPr/>
        </p:nvSpPr>
        <p:spPr>
          <a:xfrm>
            <a:off x="4626864" y="2743200"/>
            <a:ext cx="2926080" cy="1737360"/>
          </a:xfrm>
          <a:prstGeom prst="rect">
            <a:avLst/>
          </a:prstGeom>
          <a:noFill/>
          <a:ln/>
        </p:spPr>
        <p:txBody>
          <a:bodyPr wrap="square" lIns="0" tIns="0" rIns="0" bIns="0" rtlCol="0" anchor="ctr"/>
          <a:lstStyle/>
          <a:p>
            <a:pPr marL="152400" indent="-152400">
              <a:lnSpc>
                <a:spcPct val="120000"/>
              </a:lnSpc>
              <a:spcAft>
                <a:spcPts val="800"/>
              </a:spcAft>
              <a:buSzPct val="100000"/>
              <a:buChar char="•"/>
            </a:pPr>
            <a:r>
              <a:rPr lang="en-US" sz="1200" dirty="0">
                <a:solidFill>
                  <a:srgbClr val="20303F"/>
                </a:solidFill>
                <a:latin typeface="Meiryo UI" pitchFamily="34" charset="0"/>
                <a:ea typeface="Meiryo UI" pitchFamily="34" charset="-122"/>
                <a:cs typeface="Meiryo UI" pitchFamily="34" charset="-120"/>
              </a:rPr>
              <a:t>Word文書や議事録からスライドを自動生成</a:t>
            </a:r>
            <a:endParaRPr lang="en-US" sz="1200" dirty="0"/>
          </a:p>
          <a:p>
            <a:pPr marL="152400" indent="-152400">
              <a:lnSpc>
                <a:spcPct val="120000"/>
              </a:lnSpc>
              <a:spcAft>
                <a:spcPts val="800"/>
              </a:spcAft>
              <a:buSzPct val="100000"/>
              <a:buChar char="•"/>
            </a:pPr>
            <a:r>
              <a:rPr lang="en-US" sz="1200" dirty="0">
                <a:solidFill>
                  <a:srgbClr val="20303F"/>
                </a:solidFill>
                <a:latin typeface="Meiryo UI" pitchFamily="34" charset="0"/>
                <a:ea typeface="Meiryo UI" pitchFamily="34" charset="-122"/>
                <a:cs typeface="Meiryo UI" pitchFamily="34" charset="-120"/>
              </a:rPr>
              <a:t>「この内容で1枚追加して」で増補</a:t>
            </a:r>
            <a:endParaRPr lang="en-US" sz="1200" dirty="0"/>
          </a:p>
        </p:txBody>
      </p:sp>
      <p:sp>
        <p:nvSpPr>
          <p:cNvPr id="18" name="Shape 14"/>
          <p:cNvSpPr/>
          <p:nvPr/>
        </p:nvSpPr>
        <p:spPr>
          <a:xfrm>
            <a:off x="4590288" y="4572000"/>
            <a:ext cx="2999232" cy="1005840"/>
          </a:xfrm>
          <a:prstGeom prst="roundRect">
            <a:avLst>
              <a:gd name="adj" fmla="val 5455"/>
            </a:avLst>
          </a:prstGeom>
          <a:solidFill>
            <a:srgbClr val="FFFFFF"/>
          </a:solidFill>
          <a:ln w="12700">
            <a:solidFill>
              <a:srgbClr val="C9DCE8"/>
            </a:solidFill>
            <a:prstDash val="solid"/>
          </a:ln>
        </p:spPr>
      </p:sp>
      <p:sp>
        <p:nvSpPr>
          <p:cNvPr id="19" name="Text 15"/>
          <p:cNvSpPr/>
          <p:nvPr/>
        </p:nvSpPr>
        <p:spPr>
          <a:xfrm>
            <a:off x="4745736" y="4572000"/>
            <a:ext cx="2688336" cy="1005840"/>
          </a:xfrm>
          <a:prstGeom prst="rect">
            <a:avLst/>
          </a:prstGeom>
          <a:noFill/>
          <a:ln/>
        </p:spPr>
        <p:txBody>
          <a:bodyPr wrap="square" lIns="0" tIns="0" rIns="0" bIns="0" rtlCol="0" anchor="ctr"/>
          <a:lstStyle/>
          <a:p>
            <a:pPr indent="0" marL="0">
              <a:buNone/>
            </a:pPr>
            <a:r>
              <a:rPr lang="en-US" sz="1050" i="1" dirty="0">
                <a:solidFill>
                  <a:srgbClr val="1C7293"/>
                </a:solidFill>
                <a:latin typeface="Meiryo UI" pitchFamily="34" charset="0"/>
                <a:ea typeface="Meiryo UI" pitchFamily="34" charset="-122"/>
                <a:cs typeface="Meiryo UI" pitchFamily="34" charset="-120"/>
              </a:rPr>
              <a:t>例：このWord文書から10枚程度の報告用スライドを作成してください。</a:t>
            </a:r>
            <a:endParaRPr lang="en-US" sz="1050" dirty="0"/>
          </a:p>
        </p:txBody>
      </p:sp>
      <p:sp>
        <p:nvSpPr>
          <p:cNvPr id="20" name="Shape 16"/>
          <p:cNvSpPr/>
          <p:nvPr/>
        </p:nvSpPr>
        <p:spPr>
          <a:xfrm>
            <a:off x="8119872" y="1691640"/>
            <a:ext cx="3511296" cy="4114800"/>
          </a:xfrm>
          <a:prstGeom prst="roundRect">
            <a:avLst>
              <a:gd name="adj" fmla="val 2083"/>
            </a:avLst>
          </a:prstGeom>
          <a:solidFill>
            <a:srgbClr val="EFF6FA"/>
          </a:solidFill>
          <a:ln/>
        </p:spPr>
      </p:sp>
      <p:sp>
        <p:nvSpPr>
          <p:cNvPr id="21" name="Shape 17"/>
          <p:cNvSpPr/>
          <p:nvPr/>
        </p:nvSpPr>
        <p:spPr>
          <a:xfrm>
            <a:off x="8394192" y="1965960"/>
            <a:ext cx="603504" cy="603504"/>
          </a:xfrm>
          <a:prstGeom prst="ellipse">
            <a:avLst/>
          </a:prstGeom>
          <a:solidFill>
            <a:srgbClr val="065A82"/>
          </a:solidFill>
          <a:ln/>
        </p:spPr>
      </p:sp>
      <p:pic>
        <p:nvPicPr>
          <p:cNvPr id="22" name="Image 2" descr="preencoded.png">    </p:cNvPr>
          <p:cNvPicPr>
            <a:picLocks noChangeAspect="1"/>
          </p:cNvPicPr>
          <p:nvPr/>
        </p:nvPicPr>
        <p:blipFill>
          <a:blip r:embed="rId3"/>
          <a:stretch>
            <a:fillRect/>
          </a:stretch>
        </p:blipFill>
        <p:spPr>
          <a:xfrm>
            <a:off x="8551103" y="2122871"/>
            <a:ext cx="289682" cy="289682"/>
          </a:xfrm>
          <a:prstGeom prst="rect">
            <a:avLst/>
          </a:prstGeom>
        </p:spPr>
      </p:pic>
      <p:sp>
        <p:nvSpPr>
          <p:cNvPr id="23" name="Text 18"/>
          <p:cNvSpPr/>
          <p:nvPr/>
        </p:nvSpPr>
        <p:spPr>
          <a:xfrm>
            <a:off x="9125712" y="1965960"/>
            <a:ext cx="2322576" cy="603504"/>
          </a:xfrm>
          <a:prstGeom prst="rect">
            <a:avLst/>
          </a:prstGeom>
          <a:noFill/>
          <a:ln/>
        </p:spPr>
        <p:txBody>
          <a:bodyPr wrap="square" lIns="0" tIns="0" rIns="0" bIns="0" rtlCol="0" anchor="ctr"/>
          <a:lstStyle/>
          <a:p>
            <a:pPr indent="0" marL="0">
              <a:buNone/>
            </a:pPr>
            <a:r>
              <a:rPr lang="en-US" sz="1800" b="1" dirty="0">
                <a:solidFill>
                  <a:srgbClr val="065A82"/>
                </a:solidFill>
                <a:latin typeface="Meiryo UI" pitchFamily="34" charset="0"/>
                <a:ea typeface="Meiryo UI" pitchFamily="34" charset="-122"/>
                <a:cs typeface="Meiryo UI" pitchFamily="34" charset="-120"/>
              </a:rPr>
              <a:t>Excel</a:t>
            </a:r>
            <a:endParaRPr lang="en-US" sz="1800" dirty="0"/>
          </a:p>
        </p:txBody>
      </p:sp>
      <p:sp>
        <p:nvSpPr>
          <p:cNvPr id="24" name="Text 19"/>
          <p:cNvSpPr/>
          <p:nvPr/>
        </p:nvSpPr>
        <p:spPr>
          <a:xfrm>
            <a:off x="8412480" y="2743200"/>
            <a:ext cx="2926080" cy="1737360"/>
          </a:xfrm>
          <a:prstGeom prst="rect">
            <a:avLst/>
          </a:prstGeom>
          <a:noFill/>
          <a:ln/>
        </p:spPr>
        <p:txBody>
          <a:bodyPr wrap="square" lIns="0" tIns="0" rIns="0" bIns="0" rtlCol="0" anchor="ctr"/>
          <a:lstStyle/>
          <a:p>
            <a:pPr marL="152400" indent="-152400">
              <a:lnSpc>
                <a:spcPct val="120000"/>
              </a:lnSpc>
              <a:spcAft>
                <a:spcPts val="800"/>
              </a:spcAft>
              <a:buSzPct val="100000"/>
              <a:buChar char="•"/>
            </a:pPr>
            <a:r>
              <a:rPr lang="en-US" sz="1200" dirty="0">
                <a:solidFill>
                  <a:srgbClr val="20303F"/>
                </a:solidFill>
                <a:latin typeface="Meiryo UI" pitchFamily="34" charset="0"/>
                <a:ea typeface="Meiryo UI" pitchFamily="34" charset="-122"/>
                <a:cs typeface="Meiryo UI" pitchFamily="34" charset="-120"/>
              </a:rPr>
              <a:t>数式・関数の相談相手として使う</a:t>
            </a:r>
            <a:endParaRPr lang="en-US" sz="1200" dirty="0"/>
          </a:p>
          <a:p>
            <a:pPr marL="152400" indent="-152400">
              <a:lnSpc>
                <a:spcPct val="120000"/>
              </a:lnSpc>
              <a:spcAft>
                <a:spcPts val="800"/>
              </a:spcAft>
              <a:buSzPct val="100000"/>
              <a:buChar char="•"/>
            </a:pPr>
            <a:r>
              <a:rPr lang="en-US" sz="1200" dirty="0">
                <a:solidFill>
                  <a:srgbClr val="20303F"/>
                </a:solidFill>
                <a:latin typeface="Meiryo UI" pitchFamily="34" charset="0"/>
                <a:ea typeface="Meiryo UI" pitchFamily="34" charset="-122"/>
                <a:cs typeface="Meiryo UI" pitchFamily="34" charset="-120"/>
              </a:rPr>
              <a:t>傾向分析・外れ値の指摘・グラフ作成</a:t>
            </a:r>
            <a:endParaRPr lang="en-US" sz="1200" dirty="0"/>
          </a:p>
        </p:txBody>
      </p:sp>
      <p:sp>
        <p:nvSpPr>
          <p:cNvPr id="25" name="Shape 20"/>
          <p:cNvSpPr/>
          <p:nvPr/>
        </p:nvSpPr>
        <p:spPr>
          <a:xfrm>
            <a:off x="8375904" y="4572000"/>
            <a:ext cx="2999232" cy="1005840"/>
          </a:xfrm>
          <a:prstGeom prst="roundRect">
            <a:avLst>
              <a:gd name="adj" fmla="val 5455"/>
            </a:avLst>
          </a:prstGeom>
          <a:solidFill>
            <a:srgbClr val="FFFFFF"/>
          </a:solidFill>
          <a:ln w="12700">
            <a:solidFill>
              <a:srgbClr val="C9DCE8"/>
            </a:solidFill>
            <a:prstDash val="solid"/>
          </a:ln>
        </p:spPr>
      </p:sp>
      <p:sp>
        <p:nvSpPr>
          <p:cNvPr id="26" name="Text 21"/>
          <p:cNvSpPr/>
          <p:nvPr/>
        </p:nvSpPr>
        <p:spPr>
          <a:xfrm>
            <a:off x="8531352" y="4572000"/>
            <a:ext cx="2688336" cy="1005840"/>
          </a:xfrm>
          <a:prstGeom prst="rect">
            <a:avLst/>
          </a:prstGeom>
          <a:noFill/>
          <a:ln/>
        </p:spPr>
        <p:txBody>
          <a:bodyPr wrap="square" lIns="0" tIns="0" rIns="0" bIns="0" rtlCol="0" anchor="ctr"/>
          <a:lstStyle/>
          <a:p>
            <a:pPr indent="0" marL="0">
              <a:buNone/>
            </a:pPr>
            <a:r>
              <a:rPr lang="en-US" sz="1050" i="1" dirty="0">
                <a:solidFill>
                  <a:srgbClr val="1C7293"/>
                </a:solidFill>
                <a:latin typeface="Meiryo UI" pitchFamily="34" charset="0"/>
                <a:ea typeface="Meiryo UI" pitchFamily="34" charset="-122"/>
                <a:cs typeface="Meiryo UI" pitchFamily="34" charset="-120"/>
              </a:rPr>
              <a:t>例：このデータの傾向を分析し、特徴的な点を3つ挙げてください。</a:t>
            </a:r>
            <a:endParaRPr lang="en-US" sz="1050" dirty="0"/>
          </a:p>
        </p:txBody>
      </p:sp>
      <p:sp>
        <p:nvSpPr>
          <p:cNvPr id="27" name="Text 22"/>
          <p:cNvSpPr/>
          <p:nvPr/>
        </p:nvSpPr>
        <p:spPr>
          <a:xfrm>
            <a:off x="548640" y="5989320"/>
            <a:ext cx="11064240" cy="365760"/>
          </a:xfrm>
          <a:prstGeom prst="rect">
            <a:avLst/>
          </a:prstGeom>
          <a:noFill/>
          <a:ln/>
        </p:spPr>
        <p:txBody>
          <a:bodyPr wrap="square" lIns="0" tIns="0" rIns="0" bIns="0" rtlCol="0" anchor="ctr"/>
          <a:lstStyle/>
          <a:p>
            <a:pPr indent="0" marL="0">
              <a:buNone/>
            </a:pPr>
            <a:r>
              <a:rPr lang="en-US" sz="1200" b="1" dirty="0">
                <a:solidFill>
                  <a:srgbClr val="1C7293"/>
                </a:solidFill>
                <a:latin typeface="Meiryo UI" pitchFamily="34" charset="0"/>
                <a:ea typeface="Meiryo UI" pitchFamily="34" charset="-122"/>
                <a:cs typeface="Meiryo UI" pitchFamily="34" charset="-120"/>
              </a:rPr>
              <a:t>完了条件：資料の半分以上でたたき台に活用／Word・PowerPoint・Excelを各1回以上／時短効果をチームで共有</a:t>
            </a:r>
            <a:endParaRPr lang="en-US" sz="1200" dirty="0"/>
          </a:p>
        </p:txBody>
      </p:sp>
      <p:sp>
        <p:nvSpPr>
          <p:cNvPr id="28" name="Text 23"/>
          <p:cNvSpPr/>
          <p:nvPr/>
        </p:nvSpPr>
        <p:spPr>
          <a:xfrm>
            <a:off x="8897112" y="6473952"/>
            <a:ext cx="2743200" cy="274320"/>
          </a:xfrm>
          <a:prstGeom prst="rect">
            <a:avLst/>
          </a:prstGeom>
          <a:noFill/>
          <a:ln/>
        </p:spPr>
        <p:txBody>
          <a:bodyPr wrap="square" lIns="0" tIns="0" rIns="0" bIns="0" rtlCol="0" anchor="ctr"/>
          <a:lstStyle/>
          <a:p>
            <a:pPr algn="r" indent="0" marL="0">
              <a:buNone/>
            </a:pPr>
            <a:r>
              <a:rPr lang="en-US" sz="900" dirty="0">
                <a:solidFill>
                  <a:srgbClr val="9AAAB8"/>
                </a:solidFill>
                <a:latin typeface="Meiryo UI" pitchFamily="34" charset="0"/>
                <a:ea typeface="Meiryo UI" pitchFamily="34" charset="-122"/>
                <a:cs typeface="Meiryo UI" pitchFamily="34" charset="-120"/>
              </a:rPr>
              <a:t>Microsoft 365 Copilot 活用ガイド｜8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868680" cy="868680"/>
          </a:xfrm>
          <a:prstGeom prst="ellipse">
            <a:avLst/>
          </a:prstGeom>
          <a:solidFill>
            <a:srgbClr val="1C7293"/>
          </a:solidFill>
          <a:ln/>
        </p:spPr>
      </p:sp>
      <p:sp>
        <p:nvSpPr>
          <p:cNvPr id="3" name="Text 1"/>
          <p:cNvSpPr/>
          <p:nvPr/>
        </p:nvSpPr>
        <p:spPr>
          <a:xfrm>
            <a:off x="548640" y="32004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Meiryo UI" pitchFamily="34" charset="0"/>
                <a:ea typeface="Meiryo UI" pitchFamily="34" charset="-122"/>
                <a:cs typeface="Meiryo UI" pitchFamily="34" charset="-120"/>
              </a:rPr>
              <a:t>4</a:t>
            </a:r>
            <a:endParaRPr lang="en-US" sz="3400" dirty="0"/>
          </a:p>
        </p:txBody>
      </p:sp>
      <p:sp>
        <p:nvSpPr>
          <p:cNvPr id="4" name="Text 2"/>
          <p:cNvSpPr/>
          <p:nvPr/>
        </p:nvSpPr>
        <p:spPr>
          <a:xfrm>
            <a:off x="1600200" y="320040"/>
            <a:ext cx="9966960" cy="548640"/>
          </a:xfrm>
          <a:prstGeom prst="rect">
            <a:avLst/>
          </a:prstGeom>
          <a:noFill/>
          <a:ln/>
        </p:spPr>
        <p:txBody>
          <a:bodyPr wrap="square" lIns="0" tIns="0" rIns="0" bIns="0" rtlCol="0" anchor="ctr"/>
          <a:lstStyle/>
          <a:p>
            <a:pPr indent="0" marL="0">
              <a:buNone/>
            </a:pPr>
            <a:r>
              <a:rPr lang="en-US" sz="2700" b="1" dirty="0">
                <a:solidFill>
                  <a:srgbClr val="065A82"/>
                </a:solidFill>
                <a:latin typeface="Meiryo UI" pitchFamily="34" charset="0"/>
                <a:ea typeface="Meiryo UI" pitchFamily="34" charset="-122"/>
                <a:cs typeface="Meiryo UI" pitchFamily="34" charset="-120"/>
              </a:rPr>
              <a:t>部門で標準化する ― 個人技をチームの仕組みへ</a:t>
            </a:r>
            <a:endParaRPr lang="en-US" sz="2700" dirty="0"/>
          </a:p>
        </p:txBody>
      </p:sp>
      <p:sp>
        <p:nvSpPr>
          <p:cNvPr id="5" name="Text 3"/>
          <p:cNvSpPr/>
          <p:nvPr/>
        </p:nvSpPr>
        <p:spPr>
          <a:xfrm>
            <a:off x="1627632" y="868680"/>
            <a:ext cx="9966960" cy="347472"/>
          </a:xfrm>
          <a:prstGeom prst="rect">
            <a:avLst/>
          </a:prstGeom>
          <a:noFill/>
          <a:ln/>
        </p:spPr>
        <p:txBody>
          <a:bodyPr wrap="square" lIns="0" tIns="0" rIns="0" bIns="0" rtlCol="0" anchor="ctr"/>
          <a:lstStyle/>
          <a:p>
            <a:pPr indent="0" marL="0">
              <a:buNone/>
            </a:pPr>
            <a:r>
              <a:rPr lang="en-US" sz="1300" b="1" dirty="0">
                <a:solidFill>
                  <a:srgbClr val="1C7293"/>
                </a:solidFill>
                <a:latin typeface="Meiryo UI" pitchFamily="34" charset="0"/>
                <a:ea typeface="Meiryo UI" pitchFamily="34" charset="-122"/>
                <a:cs typeface="Meiryo UI" pitchFamily="34" charset="-120"/>
              </a:rPr>
              <a:t>ゴール：</a:t>
            </a:r>
            <a:pPr indent="0" marL="0">
              <a:buNone/>
            </a:pPr>
            <a:r>
              <a:rPr lang="en-US" sz="1300" dirty="0">
                <a:solidFill>
                  <a:srgbClr val="5E7182"/>
                </a:solidFill>
                <a:latin typeface="Meiryo UI" pitchFamily="34" charset="0"/>
                <a:ea typeface="Meiryo UI" pitchFamily="34" charset="-122"/>
                <a:cs typeface="Meiryo UI" pitchFamily="34" charset="-120"/>
              </a:rPr>
              <a:t>うまくいく使い方が個人のノウハウではなく、部門の共有資産になっている（3か月目〜）</a:t>
            </a:r>
            <a:endParaRPr lang="en-US" sz="1300" dirty="0"/>
          </a:p>
        </p:txBody>
      </p:sp>
      <p:sp>
        <p:nvSpPr>
          <p:cNvPr id="6" name="Shape 4"/>
          <p:cNvSpPr/>
          <p:nvPr/>
        </p:nvSpPr>
        <p:spPr>
          <a:xfrm>
            <a:off x="548640" y="1691640"/>
            <a:ext cx="5394960" cy="1920240"/>
          </a:xfrm>
          <a:prstGeom prst="roundRect">
            <a:avLst>
              <a:gd name="adj" fmla="val 3810"/>
            </a:avLst>
          </a:prstGeom>
          <a:solidFill>
            <a:srgbClr val="EFF6FA"/>
          </a:solidFill>
          <a:ln/>
        </p:spPr>
      </p:sp>
      <p:sp>
        <p:nvSpPr>
          <p:cNvPr id="7" name="Shape 5"/>
          <p:cNvSpPr/>
          <p:nvPr/>
        </p:nvSpPr>
        <p:spPr>
          <a:xfrm>
            <a:off x="822960" y="1965960"/>
            <a:ext cx="603504" cy="603504"/>
          </a:xfrm>
          <a:prstGeom prst="ellipse">
            <a:avLst/>
          </a:prstGeom>
          <a:solidFill>
            <a:srgbClr val="1C7293"/>
          </a:solidFill>
          <a:ln/>
        </p:spPr>
      </p:sp>
      <p:pic>
        <p:nvPicPr>
          <p:cNvPr id="8" name="Image 0" descr="preencoded.png">    </p:cNvPr>
          <p:cNvPicPr>
            <a:picLocks noChangeAspect="1"/>
          </p:cNvPicPr>
          <p:nvPr/>
        </p:nvPicPr>
        <p:blipFill>
          <a:blip r:embed="rId1"/>
          <a:stretch>
            <a:fillRect/>
          </a:stretch>
        </p:blipFill>
        <p:spPr>
          <a:xfrm>
            <a:off x="979871" y="2122871"/>
            <a:ext cx="289682" cy="289682"/>
          </a:xfrm>
          <a:prstGeom prst="rect">
            <a:avLst/>
          </a:prstGeom>
        </p:spPr>
      </p:pic>
      <p:sp>
        <p:nvSpPr>
          <p:cNvPr id="9" name="Text 6"/>
          <p:cNvSpPr/>
          <p:nvPr/>
        </p:nvSpPr>
        <p:spPr>
          <a:xfrm>
            <a:off x="1572768" y="1965960"/>
            <a:ext cx="4114800" cy="603504"/>
          </a:xfrm>
          <a:prstGeom prst="rect">
            <a:avLst/>
          </a:prstGeom>
          <a:noFill/>
          <a:ln/>
        </p:spPr>
        <p:txBody>
          <a:bodyPr wrap="square" lIns="0" tIns="0" rIns="0" bIns="0" rtlCol="0" anchor="ctr"/>
          <a:lstStyle/>
          <a:p>
            <a:pPr indent="0" marL="0">
              <a:buNone/>
            </a:pPr>
            <a:r>
              <a:rPr lang="en-US" sz="1550" b="1" dirty="0">
                <a:solidFill>
                  <a:srgbClr val="065A82"/>
                </a:solidFill>
                <a:latin typeface="Meiryo UI" pitchFamily="34" charset="0"/>
                <a:ea typeface="Meiryo UI" pitchFamily="34" charset="-122"/>
                <a:cs typeface="Meiryo UI" pitchFamily="34" charset="-120"/>
              </a:rPr>
              <a:t>部門プロンプト集をつくる</a:t>
            </a:r>
            <a:endParaRPr lang="en-US" sz="1550" dirty="0"/>
          </a:p>
        </p:txBody>
      </p:sp>
      <p:sp>
        <p:nvSpPr>
          <p:cNvPr id="10" name="Text 7"/>
          <p:cNvSpPr/>
          <p:nvPr/>
        </p:nvSpPr>
        <p:spPr>
          <a:xfrm>
            <a:off x="841248" y="2679192"/>
            <a:ext cx="4809744" cy="841248"/>
          </a:xfrm>
          <a:prstGeom prst="rect">
            <a:avLst/>
          </a:prstGeom>
          <a:noFill/>
          <a:ln/>
        </p:spPr>
        <p:txBody>
          <a:bodyPr wrap="square" lIns="0" tIns="0" rIns="0" bIns="0" rtlCol="0" anchor="ctr"/>
          <a:lstStyle/>
          <a:p>
            <a:pPr indent="0" marL="0">
              <a:lnSpc>
                <a:spcPct val="115000"/>
              </a:lnSpc>
              <a:buNone/>
            </a:pPr>
            <a:r>
              <a:rPr lang="en-US" sz="1150" dirty="0">
                <a:solidFill>
                  <a:srgbClr val="20303F"/>
                </a:solidFill>
                <a:latin typeface="Meiryo UI" pitchFamily="34" charset="0"/>
                <a:ea typeface="Meiryo UI" pitchFamily="34" charset="-122"/>
                <a:cs typeface="Meiryo UI" pitchFamily="34" charset="-120"/>
              </a:rPr>
              <a:t>業務別に「使えるプロンプト」を集約し、共有フォルダで誰でも参照できるようにする。利用場面・注意点もセットで記録</a:t>
            </a:r>
            <a:endParaRPr lang="en-US" sz="1150" dirty="0"/>
          </a:p>
        </p:txBody>
      </p:sp>
      <p:sp>
        <p:nvSpPr>
          <p:cNvPr id="11" name="Shape 8"/>
          <p:cNvSpPr/>
          <p:nvPr/>
        </p:nvSpPr>
        <p:spPr>
          <a:xfrm>
            <a:off x="6245352" y="1691640"/>
            <a:ext cx="5394960" cy="1920240"/>
          </a:xfrm>
          <a:prstGeom prst="roundRect">
            <a:avLst>
              <a:gd name="adj" fmla="val 3810"/>
            </a:avLst>
          </a:prstGeom>
          <a:solidFill>
            <a:srgbClr val="EFF6FA"/>
          </a:solidFill>
          <a:ln/>
        </p:spPr>
      </p:sp>
      <p:sp>
        <p:nvSpPr>
          <p:cNvPr id="12" name="Shape 9"/>
          <p:cNvSpPr/>
          <p:nvPr/>
        </p:nvSpPr>
        <p:spPr>
          <a:xfrm>
            <a:off x="6519672" y="1965960"/>
            <a:ext cx="603504" cy="603504"/>
          </a:xfrm>
          <a:prstGeom prst="ellipse">
            <a:avLst/>
          </a:prstGeom>
          <a:solidFill>
            <a:srgbClr val="1C7293"/>
          </a:solidFill>
          <a:ln/>
        </p:spPr>
      </p:sp>
      <p:pic>
        <p:nvPicPr>
          <p:cNvPr id="13" name="Image 1" descr="preencoded.png">    </p:cNvPr>
          <p:cNvPicPr>
            <a:picLocks noChangeAspect="1"/>
          </p:cNvPicPr>
          <p:nvPr/>
        </p:nvPicPr>
        <p:blipFill>
          <a:blip r:embed="rId2"/>
          <a:stretch>
            <a:fillRect/>
          </a:stretch>
        </p:blipFill>
        <p:spPr>
          <a:xfrm>
            <a:off x="6676583" y="2122871"/>
            <a:ext cx="289682" cy="289682"/>
          </a:xfrm>
          <a:prstGeom prst="rect">
            <a:avLst/>
          </a:prstGeom>
        </p:spPr>
      </p:pic>
      <p:sp>
        <p:nvSpPr>
          <p:cNvPr id="14" name="Text 10"/>
          <p:cNvSpPr/>
          <p:nvPr/>
        </p:nvSpPr>
        <p:spPr>
          <a:xfrm>
            <a:off x="7269480" y="1965960"/>
            <a:ext cx="4114800" cy="603504"/>
          </a:xfrm>
          <a:prstGeom prst="rect">
            <a:avLst/>
          </a:prstGeom>
          <a:noFill/>
          <a:ln/>
        </p:spPr>
        <p:txBody>
          <a:bodyPr wrap="square" lIns="0" tIns="0" rIns="0" bIns="0" rtlCol="0" anchor="ctr"/>
          <a:lstStyle/>
          <a:p>
            <a:pPr indent="0" marL="0">
              <a:buNone/>
            </a:pPr>
            <a:r>
              <a:rPr lang="en-US" sz="1550" b="1" dirty="0">
                <a:solidFill>
                  <a:srgbClr val="065A82"/>
                </a:solidFill>
                <a:latin typeface="Meiryo UI" pitchFamily="34" charset="0"/>
                <a:ea typeface="Meiryo UI" pitchFamily="34" charset="-122"/>
                <a:cs typeface="Meiryo UI" pitchFamily="34" charset="-120"/>
              </a:rPr>
              <a:t>定型業務をテンプレート化</a:t>
            </a:r>
            <a:endParaRPr lang="en-US" sz="1550" dirty="0"/>
          </a:p>
        </p:txBody>
      </p:sp>
      <p:sp>
        <p:nvSpPr>
          <p:cNvPr id="15" name="Text 11"/>
          <p:cNvSpPr/>
          <p:nvPr/>
        </p:nvSpPr>
        <p:spPr>
          <a:xfrm>
            <a:off x="6537960" y="2679192"/>
            <a:ext cx="4809744" cy="841248"/>
          </a:xfrm>
          <a:prstGeom prst="rect">
            <a:avLst/>
          </a:prstGeom>
          <a:noFill/>
          <a:ln/>
        </p:spPr>
        <p:txBody>
          <a:bodyPr wrap="square" lIns="0" tIns="0" rIns="0" bIns="0" rtlCol="0" anchor="ctr"/>
          <a:lstStyle/>
          <a:p>
            <a:pPr indent="0" marL="0">
              <a:lnSpc>
                <a:spcPct val="115000"/>
              </a:lnSpc>
              <a:buNone/>
            </a:pPr>
            <a:r>
              <a:rPr lang="en-US" sz="1150" dirty="0">
                <a:solidFill>
                  <a:srgbClr val="20303F"/>
                </a:solidFill>
                <a:latin typeface="Meiryo UI" pitchFamily="34" charset="0"/>
                <a:ea typeface="Meiryo UI" pitchFamily="34" charset="-122"/>
                <a:cs typeface="Meiryo UI" pitchFamily="34" charset="-120"/>
              </a:rPr>
              <a:t>週報・月次レポート・議事録などの手順書に「Copilotで下書き→人が確認」を組み込む</a:t>
            </a:r>
            <a:endParaRPr lang="en-US" sz="1150" dirty="0"/>
          </a:p>
        </p:txBody>
      </p:sp>
      <p:sp>
        <p:nvSpPr>
          <p:cNvPr id="16" name="Shape 12"/>
          <p:cNvSpPr/>
          <p:nvPr/>
        </p:nvSpPr>
        <p:spPr>
          <a:xfrm>
            <a:off x="548640" y="3913632"/>
            <a:ext cx="5394960" cy="1920240"/>
          </a:xfrm>
          <a:prstGeom prst="roundRect">
            <a:avLst>
              <a:gd name="adj" fmla="val 3810"/>
            </a:avLst>
          </a:prstGeom>
          <a:solidFill>
            <a:srgbClr val="EFF6FA"/>
          </a:solidFill>
          <a:ln/>
        </p:spPr>
      </p:sp>
      <p:sp>
        <p:nvSpPr>
          <p:cNvPr id="17" name="Shape 13"/>
          <p:cNvSpPr/>
          <p:nvPr/>
        </p:nvSpPr>
        <p:spPr>
          <a:xfrm>
            <a:off x="822960" y="4187952"/>
            <a:ext cx="603504" cy="603504"/>
          </a:xfrm>
          <a:prstGeom prst="ellipse">
            <a:avLst/>
          </a:prstGeom>
          <a:solidFill>
            <a:srgbClr val="1C7293"/>
          </a:solidFill>
          <a:ln/>
        </p:spPr>
      </p:sp>
      <p:pic>
        <p:nvPicPr>
          <p:cNvPr id="18" name="Image 2" descr="preencoded.png">    </p:cNvPr>
          <p:cNvPicPr>
            <a:picLocks noChangeAspect="1"/>
          </p:cNvPicPr>
          <p:nvPr/>
        </p:nvPicPr>
        <p:blipFill>
          <a:blip r:embed="rId3"/>
          <a:stretch>
            <a:fillRect/>
          </a:stretch>
        </p:blipFill>
        <p:spPr>
          <a:xfrm>
            <a:off x="979871" y="4344863"/>
            <a:ext cx="289682" cy="289682"/>
          </a:xfrm>
          <a:prstGeom prst="rect">
            <a:avLst/>
          </a:prstGeom>
        </p:spPr>
      </p:pic>
      <p:sp>
        <p:nvSpPr>
          <p:cNvPr id="19" name="Text 14"/>
          <p:cNvSpPr/>
          <p:nvPr/>
        </p:nvSpPr>
        <p:spPr>
          <a:xfrm>
            <a:off x="1572768" y="4187952"/>
            <a:ext cx="4114800" cy="603504"/>
          </a:xfrm>
          <a:prstGeom prst="rect">
            <a:avLst/>
          </a:prstGeom>
          <a:noFill/>
          <a:ln/>
        </p:spPr>
        <p:txBody>
          <a:bodyPr wrap="square" lIns="0" tIns="0" rIns="0" bIns="0" rtlCol="0" anchor="ctr"/>
          <a:lstStyle/>
          <a:p>
            <a:pPr indent="0" marL="0">
              <a:buNone/>
            </a:pPr>
            <a:r>
              <a:rPr lang="en-US" sz="1550" b="1" dirty="0">
                <a:solidFill>
                  <a:srgbClr val="065A82"/>
                </a:solidFill>
                <a:latin typeface="Meiryo UI" pitchFamily="34" charset="0"/>
                <a:ea typeface="Meiryo UI" pitchFamily="34" charset="-122"/>
                <a:cs typeface="Meiryo UI" pitchFamily="34" charset="-120"/>
              </a:rPr>
              <a:t>事例共有会を月1回</a:t>
            </a:r>
            <a:endParaRPr lang="en-US" sz="1550" dirty="0"/>
          </a:p>
        </p:txBody>
      </p:sp>
      <p:sp>
        <p:nvSpPr>
          <p:cNvPr id="20" name="Text 15"/>
          <p:cNvSpPr/>
          <p:nvPr/>
        </p:nvSpPr>
        <p:spPr>
          <a:xfrm>
            <a:off x="841248" y="4901184"/>
            <a:ext cx="4809744" cy="841248"/>
          </a:xfrm>
          <a:prstGeom prst="rect">
            <a:avLst/>
          </a:prstGeom>
          <a:noFill/>
          <a:ln/>
        </p:spPr>
        <p:txBody>
          <a:bodyPr wrap="square" lIns="0" tIns="0" rIns="0" bIns="0" rtlCol="0" anchor="ctr"/>
          <a:lstStyle/>
          <a:p>
            <a:pPr indent="0" marL="0">
              <a:lnSpc>
                <a:spcPct val="115000"/>
              </a:lnSpc>
              <a:buNone/>
            </a:pPr>
            <a:r>
              <a:rPr lang="en-US" sz="1150" dirty="0">
                <a:solidFill>
                  <a:srgbClr val="20303F"/>
                </a:solidFill>
                <a:latin typeface="Meiryo UI" pitchFamily="34" charset="0"/>
                <a:ea typeface="Meiryo UI" pitchFamily="34" charset="-122"/>
                <a:cs typeface="Meiryo UI" pitchFamily="34" charset="-120"/>
              </a:rPr>
              <a:t>15分でよいので「今月のベスト活用事例」を共有する場を定例化。称賛が定着をつくる</a:t>
            </a:r>
            <a:endParaRPr lang="en-US" sz="1150" dirty="0"/>
          </a:p>
        </p:txBody>
      </p:sp>
      <p:sp>
        <p:nvSpPr>
          <p:cNvPr id="21" name="Shape 16"/>
          <p:cNvSpPr/>
          <p:nvPr/>
        </p:nvSpPr>
        <p:spPr>
          <a:xfrm>
            <a:off x="6245352" y="3913632"/>
            <a:ext cx="5394960" cy="1920240"/>
          </a:xfrm>
          <a:prstGeom prst="roundRect">
            <a:avLst>
              <a:gd name="adj" fmla="val 3810"/>
            </a:avLst>
          </a:prstGeom>
          <a:solidFill>
            <a:srgbClr val="EFF6FA"/>
          </a:solidFill>
          <a:ln/>
        </p:spPr>
      </p:sp>
      <p:sp>
        <p:nvSpPr>
          <p:cNvPr id="22" name="Shape 17"/>
          <p:cNvSpPr/>
          <p:nvPr/>
        </p:nvSpPr>
        <p:spPr>
          <a:xfrm>
            <a:off x="6519672" y="4187952"/>
            <a:ext cx="603504" cy="603504"/>
          </a:xfrm>
          <a:prstGeom prst="ellipse">
            <a:avLst/>
          </a:prstGeom>
          <a:solidFill>
            <a:srgbClr val="1C7293"/>
          </a:solidFill>
          <a:ln/>
        </p:spPr>
      </p:sp>
      <p:pic>
        <p:nvPicPr>
          <p:cNvPr id="23" name="Image 3" descr="preencoded.png">    </p:cNvPr>
          <p:cNvPicPr>
            <a:picLocks noChangeAspect="1"/>
          </p:cNvPicPr>
          <p:nvPr/>
        </p:nvPicPr>
        <p:blipFill>
          <a:blip r:embed="rId4"/>
          <a:stretch>
            <a:fillRect/>
          </a:stretch>
        </p:blipFill>
        <p:spPr>
          <a:xfrm>
            <a:off x="6676583" y="4344863"/>
            <a:ext cx="289682" cy="289682"/>
          </a:xfrm>
          <a:prstGeom prst="rect">
            <a:avLst/>
          </a:prstGeom>
        </p:spPr>
      </p:pic>
      <p:sp>
        <p:nvSpPr>
          <p:cNvPr id="24" name="Text 18"/>
          <p:cNvSpPr/>
          <p:nvPr/>
        </p:nvSpPr>
        <p:spPr>
          <a:xfrm>
            <a:off x="7269480" y="4187952"/>
            <a:ext cx="4114800" cy="603504"/>
          </a:xfrm>
          <a:prstGeom prst="rect">
            <a:avLst/>
          </a:prstGeom>
          <a:noFill/>
          <a:ln/>
        </p:spPr>
        <p:txBody>
          <a:bodyPr wrap="square" lIns="0" tIns="0" rIns="0" bIns="0" rtlCol="0" anchor="ctr"/>
          <a:lstStyle/>
          <a:p>
            <a:pPr indent="0" marL="0">
              <a:buNone/>
            </a:pPr>
            <a:r>
              <a:rPr lang="en-US" sz="1550" b="1" dirty="0">
                <a:solidFill>
                  <a:srgbClr val="065A82"/>
                </a:solidFill>
                <a:latin typeface="Meiryo UI" pitchFamily="34" charset="0"/>
                <a:ea typeface="Meiryo UI" pitchFamily="34" charset="-122"/>
                <a:cs typeface="Meiryo UI" pitchFamily="34" charset="-120"/>
              </a:rPr>
              <a:t>新メンバーのオンボーディング</a:t>
            </a:r>
            <a:endParaRPr lang="en-US" sz="1550" dirty="0"/>
          </a:p>
        </p:txBody>
      </p:sp>
      <p:sp>
        <p:nvSpPr>
          <p:cNvPr id="25" name="Text 19"/>
          <p:cNvSpPr/>
          <p:nvPr/>
        </p:nvSpPr>
        <p:spPr>
          <a:xfrm>
            <a:off x="6537960" y="4901184"/>
            <a:ext cx="4809744" cy="841248"/>
          </a:xfrm>
          <a:prstGeom prst="rect">
            <a:avLst/>
          </a:prstGeom>
          <a:noFill/>
          <a:ln/>
        </p:spPr>
        <p:txBody>
          <a:bodyPr wrap="square" lIns="0" tIns="0" rIns="0" bIns="0" rtlCol="0" anchor="ctr"/>
          <a:lstStyle/>
          <a:p>
            <a:pPr indent="0" marL="0">
              <a:lnSpc>
                <a:spcPct val="115000"/>
              </a:lnSpc>
              <a:buNone/>
            </a:pPr>
            <a:r>
              <a:rPr lang="en-US" sz="1150" dirty="0">
                <a:solidFill>
                  <a:srgbClr val="20303F"/>
                </a:solidFill>
                <a:latin typeface="Meiryo UI" pitchFamily="34" charset="0"/>
                <a:ea typeface="Meiryo UI" pitchFamily="34" charset="-122"/>
                <a:cs typeface="Meiryo UI" pitchFamily="34" charset="-120"/>
              </a:rPr>
              <a:t>本ガイドとプロンプト集を受け入れ資料に組み込み、着任初週から使える状態にする</a:t>
            </a:r>
            <a:endParaRPr lang="en-US" sz="1150" dirty="0"/>
          </a:p>
        </p:txBody>
      </p:sp>
      <p:sp>
        <p:nvSpPr>
          <p:cNvPr id="26" name="Text 20"/>
          <p:cNvSpPr/>
          <p:nvPr/>
        </p:nvSpPr>
        <p:spPr>
          <a:xfrm>
            <a:off x="548640" y="5989320"/>
            <a:ext cx="11064240" cy="365760"/>
          </a:xfrm>
          <a:prstGeom prst="rect">
            <a:avLst/>
          </a:prstGeom>
          <a:noFill/>
          <a:ln/>
        </p:spPr>
        <p:txBody>
          <a:bodyPr wrap="square" lIns="0" tIns="0" rIns="0" bIns="0" rtlCol="0" anchor="ctr"/>
          <a:lstStyle/>
          <a:p>
            <a:pPr indent="0" marL="0">
              <a:buNone/>
            </a:pPr>
            <a:r>
              <a:rPr lang="en-US" sz="1200" b="1" dirty="0">
                <a:solidFill>
                  <a:srgbClr val="1C7293"/>
                </a:solidFill>
                <a:latin typeface="Meiryo UI" pitchFamily="34" charset="0"/>
                <a:ea typeface="Meiryo UI" pitchFamily="34" charset="-122"/>
                <a:cs typeface="Meiryo UI" pitchFamily="34" charset="-120"/>
              </a:rPr>
              <a:t>完了条件：プロンプト集が存在し全員が場所を知っている／手順書3つ以上に組み込み／共有会を2回以上開催</a:t>
            </a:r>
            <a:endParaRPr lang="en-US" sz="1200" dirty="0"/>
          </a:p>
        </p:txBody>
      </p:sp>
      <p:sp>
        <p:nvSpPr>
          <p:cNvPr id="27" name="Text 21"/>
          <p:cNvSpPr/>
          <p:nvPr/>
        </p:nvSpPr>
        <p:spPr>
          <a:xfrm>
            <a:off x="8897112" y="6473952"/>
            <a:ext cx="2743200" cy="274320"/>
          </a:xfrm>
          <a:prstGeom prst="rect">
            <a:avLst/>
          </a:prstGeom>
          <a:noFill/>
          <a:ln/>
        </p:spPr>
        <p:txBody>
          <a:bodyPr wrap="square" lIns="0" tIns="0" rIns="0" bIns="0" rtlCol="0" anchor="ctr"/>
          <a:lstStyle/>
          <a:p>
            <a:pPr algn="r" indent="0" marL="0">
              <a:buNone/>
            </a:pPr>
            <a:r>
              <a:rPr lang="en-US" sz="900" dirty="0">
                <a:solidFill>
                  <a:srgbClr val="9AAAB8"/>
                </a:solidFill>
                <a:latin typeface="Meiryo UI" pitchFamily="34" charset="0"/>
                <a:ea typeface="Meiryo UI" pitchFamily="34" charset="-122"/>
                <a:cs typeface="Meiryo UI" pitchFamily="34" charset="-120"/>
              </a:rPr>
              <a:t>Microsoft 365 Copilot 活用ガイド｜9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868680" cy="868680"/>
          </a:xfrm>
          <a:prstGeom prst="ellipse">
            <a:avLst/>
          </a:prstGeom>
          <a:solidFill>
            <a:srgbClr val="1C7293"/>
          </a:solidFill>
          <a:ln/>
        </p:spPr>
      </p:sp>
      <p:sp>
        <p:nvSpPr>
          <p:cNvPr id="3" name="Text 1"/>
          <p:cNvSpPr/>
          <p:nvPr/>
        </p:nvSpPr>
        <p:spPr>
          <a:xfrm>
            <a:off x="548640" y="32004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Meiryo UI" pitchFamily="34" charset="0"/>
                <a:ea typeface="Meiryo UI" pitchFamily="34" charset="-122"/>
                <a:cs typeface="Meiryo UI" pitchFamily="34" charset="-120"/>
              </a:rPr>
              <a:t>5</a:t>
            </a:r>
            <a:endParaRPr lang="en-US" sz="3400" dirty="0"/>
          </a:p>
        </p:txBody>
      </p:sp>
      <p:sp>
        <p:nvSpPr>
          <p:cNvPr id="4" name="Text 2"/>
          <p:cNvSpPr/>
          <p:nvPr/>
        </p:nvSpPr>
        <p:spPr>
          <a:xfrm>
            <a:off x="1600200" y="320040"/>
            <a:ext cx="9966960" cy="548640"/>
          </a:xfrm>
          <a:prstGeom prst="rect">
            <a:avLst/>
          </a:prstGeom>
          <a:noFill/>
          <a:ln/>
        </p:spPr>
        <p:txBody>
          <a:bodyPr wrap="square" lIns="0" tIns="0" rIns="0" bIns="0" rtlCol="0" anchor="ctr"/>
          <a:lstStyle/>
          <a:p>
            <a:pPr indent="0" marL="0">
              <a:buNone/>
            </a:pPr>
            <a:r>
              <a:rPr lang="en-US" sz="2700" b="1" dirty="0">
                <a:solidFill>
                  <a:srgbClr val="065A82"/>
                </a:solidFill>
                <a:latin typeface="Meiryo UI" pitchFamily="34" charset="0"/>
                <a:ea typeface="Meiryo UI" pitchFamily="34" charset="-122"/>
                <a:cs typeface="Meiryo UI" pitchFamily="34" charset="-120"/>
              </a:rPr>
              <a:t>フル活用 ― エージェントと業務の再設計</a:t>
            </a:r>
            <a:endParaRPr lang="en-US" sz="2700" dirty="0"/>
          </a:p>
        </p:txBody>
      </p:sp>
      <p:sp>
        <p:nvSpPr>
          <p:cNvPr id="5" name="Text 3"/>
          <p:cNvSpPr/>
          <p:nvPr/>
        </p:nvSpPr>
        <p:spPr>
          <a:xfrm>
            <a:off x="1627632" y="868680"/>
            <a:ext cx="9966960" cy="347472"/>
          </a:xfrm>
          <a:prstGeom prst="rect">
            <a:avLst/>
          </a:prstGeom>
          <a:noFill/>
          <a:ln/>
        </p:spPr>
        <p:txBody>
          <a:bodyPr wrap="square" lIns="0" tIns="0" rIns="0" bIns="0" rtlCol="0" anchor="ctr"/>
          <a:lstStyle/>
          <a:p>
            <a:pPr indent="0" marL="0">
              <a:buNone/>
            </a:pPr>
            <a:r>
              <a:rPr lang="en-US" sz="1300" b="1" dirty="0">
                <a:solidFill>
                  <a:srgbClr val="1C7293"/>
                </a:solidFill>
                <a:latin typeface="Meiryo UI" pitchFamily="34" charset="0"/>
                <a:ea typeface="Meiryo UI" pitchFamily="34" charset="-122"/>
                <a:cs typeface="Meiryo UI" pitchFamily="34" charset="-120"/>
              </a:rPr>
              <a:t>ゴール：</a:t>
            </a:r>
            <a:pPr indent="0" marL="0">
              <a:buNone/>
            </a:pPr>
            <a:r>
              <a:rPr lang="en-US" sz="1300" dirty="0">
                <a:solidFill>
                  <a:srgbClr val="5E7182"/>
                </a:solidFill>
                <a:latin typeface="Meiryo UI" pitchFamily="34" charset="0"/>
                <a:ea typeface="Meiryo UI" pitchFamily="34" charset="-122"/>
                <a:cs typeface="Meiryo UI" pitchFamily="34" charset="-120"/>
              </a:rPr>
              <a:t>繰り返し業務が自動化され、業務プロセスがCopilot前提で再設計されている（6か月目〜）</a:t>
            </a:r>
            <a:endParaRPr lang="en-US" sz="1300" dirty="0"/>
          </a:p>
        </p:txBody>
      </p:sp>
      <p:sp>
        <p:nvSpPr>
          <p:cNvPr id="6" name="Shape 4"/>
          <p:cNvSpPr/>
          <p:nvPr/>
        </p:nvSpPr>
        <p:spPr>
          <a:xfrm>
            <a:off x="548640" y="1691640"/>
            <a:ext cx="5394960" cy="1920240"/>
          </a:xfrm>
          <a:prstGeom prst="roundRect">
            <a:avLst>
              <a:gd name="adj" fmla="val 3810"/>
            </a:avLst>
          </a:prstGeom>
          <a:solidFill>
            <a:srgbClr val="EFF6FA"/>
          </a:solidFill>
          <a:ln/>
        </p:spPr>
      </p:sp>
      <p:sp>
        <p:nvSpPr>
          <p:cNvPr id="7" name="Shape 5"/>
          <p:cNvSpPr/>
          <p:nvPr/>
        </p:nvSpPr>
        <p:spPr>
          <a:xfrm>
            <a:off x="822960" y="1965960"/>
            <a:ext cx="603504" cy="603504"/>
          </a:xfrm>
          <a:prstGeom prst="ellipse">
            <a:avLst/>
          </a:prstGeom>
          <a:solidFill>
            <a:srgbClr val="21295C"/>
          </a:solidFill>
          <a:ln/>
        </p:spPr>
      </p:sp>
      <p:pic>
        <p:nvPicPr>
          <p:cNvPr id="8" name="Image 0" descr="preencoded.png">    </p:cNvPr>
          <p:cNvPicPr>
            <a:picLocks noChangeAspect="1"/>
          </p:cNvPicPr>
          <p:nvPr/>
        </p:nvPicPr>
        <p:blipFill>
          <a:blip r:embed="rId1"/>
          <a:stretch>
            <a:fillRect/>
          </a:stretch>
        </p:blipFill>
        <p:spPr>
          <a:xfrm>
            <a:off x="979871" y="2122871"/>
            <a:ext cx="289682" cy="289682"/>
          </a:xfrm>
          <a:prstGeom prst="rect">
            <a:avLst/>
          </a:prstGeom>
        </p:spPr>
      </p:pic>
      <p:sp>
        <p:nvSpPr>
          <p:cNvPr id="9" name="Text 6"/>
          <p:cNvSpPr/>
          <p:nvPr/>
        </p:nvSpPr>
        <p:spPr>
          <a:xfrm>
            <a:off x="1572768" y="1965960"/>
            <a:ext cx="4114800" cy="603504"/>
          </a:xfrm>
          <a:prstGeom prst="rect">
            <a:avLst/>
          </a:prstGeom>
          <a:noFill/>
          <a:ln/>
        </p:spPr>
        <p:txBody>
          <a:bodyPr wrap="square" lIns="0" tIns="0" rIns="0" bIns="0" rtlCol="0" anchor="ctr"/>
          <a:lstStyle/>
          <a:p>
            <a:pPr indent="0" marL="0">
              <a:buNone/>
            </a:pPr>
            <a:r>
              <a:rPr lang="en-US" sz="1550" b="1" dirty="0">
                <a:solidFill>
                  <a:srgbClr val="065A82"/>
                </a:solidFill>
                <a:latin typeface="Meiryo UI" pitchFamily="34" charset="0"/>
                <a:ea typeface="Meiryo UI" pitchFamily="34" charset="-122"/>
                <a:cs typeface="Meiryo UI" pitchFamily="34" charset="-120"/>
              </a:rPr>
              <a:t>業務特化エージェントの構築</a:t>
            </a:r>
            <a:endParaRPr lang="en-US" sz="1550" dirty="0"/>
          </a:p>
        </p:txBody>
      </p:sp>
      <p:sp>
        <p:nvSpPr>
          <p:cNvPr id="10" name="Text 7"/>
          <p:cNvSpPr/>
          <p:nvPr/>
        </p:nvSpPr>
        <p:spPr>
          <a:xfrm>
            <a:off x="841248" y="2679192"/>
            <a:ext cx="4809744" cy="841248"/>
          </a:xfrm>
          <a:prstGeom prst="rect">
            <a:avLst/>
          </a:prstGeom>
          <a:noFill/>
          <a:ln/>
        </p:spPr>
        <p:txBody>
          <a:bodyPr wrap="square" lIns="0" tIns="0" rIns="0" bIns="0" rtlCol="0" anchor="ctr"/>
          <a:lstStyle/>
          <a:p>
            <a:pPr indent="0" marL="0">
              <a:lnSpc>
                <a:spcPct val="115000"/>
              </a:lnSpc>
              <a:buNone/>
            </a:pPr>
            <a:r>
              <a:rPr lang="en-US" sz="1150" dirty="0">
                <a:solidFill>
                  <a:srgbClr val="20303F"/>
                </a:solidFill>
                <a:latin typeface="Meiryo UI" pitchFamily="34" charset="0"/>
                <a:ea typeface="Meiryo UI" pitchFamily="34" charset="-122"/>
                <a:cs typeface="Meiryo UI" pitchFamily="34" charset="-120"/>
              </a:rPr>
              <a:t>Copilot Studioで、社内規程の問い合わせ対応や定型レポート作成など、特定業務専用のAIエージェントをつくる</a:t>
            </a:r>
            <a:endParaRPr lang="en-US" sz="1150" dirty="0"/>
          </a:p>
        </p:txBody>
      </p:sp>
      <p:sp>
        <p:nvSpPr>
          <p:cNvPr id="11" name="Shape 8"/>
          <p:cNvSpPr/>
          <p:nvPr/>
        </p:nvSpPr>
        <p:spPr>
          <a:xfrm>
            <a:off x="6245352" y="1691640"/>
            <a:ext cx="5394960" cy="1920240"/>
          </a:xfrm>
          <a:prstGeom prst="roundRect">
            <a:avLst>
              <a:gd name="adj" fmla="val 3810"/>
            </a:avLst>
          </a:prstGeom>
          <a:solidFill>
            <a:srgbClr val="EFF6FA"/>
          </a:solidFill>
          <a:ln/>
        </p:spPr>
      </p:sp>
      <p:sp>
        <p:nvSpPr>
          <p:cNvPr id="12" name="Shape 9"/>
          <p:cNvSpPr/>
          <p:nvPr/>
        </p:nvSpPr>
        <p:spPr>
          <a:xfrm>
            <a:off x="6519672" y="1965960"/>
            <a:ext cx="603504" cy="603504"/>
          </a:xfrm>
          <a:prstGeom prst="ellipse">
            <a:avLst/>
          </a:prstGeom>
          <a:solidFill>
            <a:srgbClr val="21295C"/>
          </a:solidFill>
          <a:ln/>
        </p:spPr>
      </p:sp>
      <p:pic>
        <p:nvPicPr>
          <p:cNvPr id="13" name="Image 1" descr="preencoded.png">    </p:cNvPr>
          <p:cNvPicPr>
            <a:picLocks noChangeAspect="1"/>
          </p:cNvPicPr>
          <p:nvPr/>
        </p:nvPicPr>
        <p:blipFill>
          <a:blip r:embed="rId2"/>
          <a:stretch>
            <a:fillRect/>
          </a:stretch>
        </p:blipFill>
        <p:spPr>
          <a:xfrm>
            <a:off x="6676583" y="2122871"/>
            <a:ext cx="289682" cy="289682"/>
          </a:xfrm>
          <a:prstGeom prst="rect">
            <a:avLst/>
          </a:prstGeom>
        </p:spPr>
      </p:pic>
      <p:sp>
        <p:nvSpPr>
          <p:cNvPr id="14" name="Text 10"/>
          <p:cNvSpPr/>
          <p:nvPr/>
        </p:nvSpPr>
        <p:spPr>
          <a:xfrm>
            <a:off x="7269480" y="1965960"/>
            <a:ext cx="4114800" cy="603504"/>
          </a:xfrm>
          <a:prstGeom prst="rect">
            <a:avLst/>
          </a:prstGeom>
          <a:noFill/>
          <a:ln/>
        </p:spPr>
        <p:txBody>
          <a:bodyPr wrap="square" lIns="0" tIns="0" rIns="0" bIns="0" rtlCol="0" anchor="ctr"/>
          <a:lstStyle/>
          <a:p>
            <a:pPr indent="0" marL="0">
              <a:buNone/>
            </a:pPr>
            <a:r>
              <a:rPr lang="en-US" sz="1550" b="1" dirty="0">
                <a:solidFill>
                  <a:srgbClr val="065A82"/>
                </a:solidFill>
                <a:latin typeface="Meiryo UI" pitchFamily="34" charset="0"/>
                <a:ea typeface="Meiryo UI" pitchFamily="34" charset="-122"/>
                <a:cs typeface="Meiryo UI" pitchFamily="34" charset="-120"/>
              </a:rPr>
              <a:t>ワークフローの自動化</a:t>
            </a:r>
            <a:endParaRPr lang="en-US" sz="1550" dirty="0"/>
          </a:p>
        </p:txBody>
      </p:sp>
      <p:sp>
        <p:nvSpPr>
          <p:cNvPr id="15" name="Text 11"/>
          <p:cNvSpPr/>
          <p:nvPr/>
        </p:nvSpPr>
        <p:spPr>
          <a:xfrm>
            <a:off x="6537960" y="2679192"/>
            <a:ext cx="4809744" cy="841248"/>
          </a:xfrm>
          <a:prstGeom prst="rect">
            <a:avLst/>
          </a:prstGeom>
          <a:noFill/>
          <a:ln/>
        </p:spPr>
        <p:txBody>
          <a:bodyPr wrap="square" lIns="0" tIns="0" rIns="0" bIns="0" rtlCol="0" anchor="ctr"/>
          <a:lstStyle/>
          <a:p>
            <a:pPr indent="0" marL="0">
              <a:lnSpc>
                <a:spcPct val="115000"/>
              </a:lnSpc>
              <a:buNone/>
            </a:pPr>
            <a:r>
              <a:rPr lang="en-US" sz="1150" dirty="0">
                <a:solidFill>
                  <a:srgbClr val="20303F"/>
                </a:solidFill>
                <a:latin typeface="Meiryo UI" pitchFamily="34" charset="0"/>
                <a:ea typeface="Meiryo UI" pitchFamily="34" charset="-122"/>
                <a:cs typeface="Meiryo UI" pitchFamily="34" charset="-120"/>
              </a:rPr>
              <a:t>Power Automateと連携し、「メール受信→要約→担当者へ通知」のような定型フローを自動化する</a:t>
            </a:r>
            <a:endParaRPr lang="en-US" sz="1150" dirty="0"/>
          </a:p>
        </p:txBody>
      </p:sp>
      <p:sp>
        <p:nvSpPr>
          <p:cNvPr id="16" name="Shape 12"/>
          <p:cNvSpPr/>
          <p:nvPr/>
        </p:nvSpPr>
        <p:spPr>
          <a:xfrm>
            <a:off x="548640" y="3913632"/>
            <a:ext cx="5394960" cy="1920240"/>
          </a:xfrm>
          <a:prstGeom prst="roundRect">
            <a:avLst>
              <a:gd name="adj" fmla="val 3810"/>
            </a:avLst>
          </a:prstGeom>
          <a:solidFill>
            <a:srgbClr val="EFF6FA"/>
          </a:solidFill>
          <a:ln/>
        </p:spPr>
      </p:sp>
      <p:sp>
        <p:nvSpPr>
          <p:cNvPr id="17" name="Shape 13"/>
          <p:cNvSpPr/>
          <p:nvPr/>
        </p:nvSpPr>
        <p:spPr>
          <a:xfrm>
            <a:off x="822960" y="4187952"/>
            <a:ext cx="603504" cy="603504"/>
          </a:xfrm>
          <a:prstGeom prst="ellipse">
            <a:avLst/>
          </a:prstGeom>
          <a:solidFill>
            <a:srgbClr val="21295C"/>
          </a:solidFill>
          <a:ln/>
        </p:spPr>
      </p:sp>
      <p:pic>
        <p:nvPicPr>
          <p:cNvPr id="18" name="Image 2" descr="preencoded.png">    </p:cNvPr>
          <p:cNvPicPr>
            <a:picLocks noChangeAspect="1"/>
          </p:cNvPicPr>
          <p:nvPr/>
        </p:nvPicPr>
        <p:blipFill>
          <a:blip r:embed="rId3"/>
          <a:stretch>
            <a:fillRect/>
          </a:stretch>
        </p:blipFill>
        <p:spPr>
          <a:xfrm>
            <a:off x="979871" y="4344863"/>
            <a:ext cx="289682" cy="289682"/>
          </a:xfrm>
          <a:prstGeom prst="rect">
            <a:avLst/>
          </a:prstGeom>
        </p:spPr>
      </p:pic>
      <p:sp>
        <p:nvSpPr>
          <p:cNvPr id="19" name="Text 14"/>
          <p:cNvSpPr/>
          <p:nvPr/>
        </p:nvSpPr>
        <p:spPr>
          <a:xfrm>
            <a:off x="1572768" y="4187952"/>
            <a:ext cx="4114800" cy="603504"/>
          </a:xfrm>
          <a:prstGeom prst="rect">
            <a:avLst/>
          </a:prstGeom>
          <a:noFill/>
          <a:ln/>
        </p:spPr>
        <p:txBody>
          <a:bodyPr wrap="square" lIns="0" tIns="0" rIns="0" bIns="0" rtlCol="0" anchor="ctr"/>
          <a:lstStyle/>
          <a:p>
            <a:pPr indent="0" marL="0">
              <a:buNone/>
            </a:pPr>
            <a:r>
              <a:rPr lang="en-US" sz="1550" b="1" dirty="0">
                <a:solidFill>
                  <a:srgbClr val="065A82"/>
                </a:solidFill>
                <a:latin typeface="Meiryo UI" pitchFamily="34" charset="0"/>
                <a:ea typeface="Meiryo UI" pitchFamily="34" charset="-122"/>
                <a:cs typeface="Meiryo UI" pitchFamily="34" charset="-120"/>
              </a:rPr>
              <a:t>業務プロセスの再設計</a:t>
            </a:r>
            <a:endParaRPr lang="en-US" sz="1550" dirty="0"/>
          </a:p>
        </p:txBody>
      </p:sp>
      <p:sp>
        <p:nvSpPr>
          <p:cNvPr id="20" name="Text 15"/>
          <p:cNvSpPr/>
          <p:nvPr/>
        </p:nvSpPr>
        <p:spPr>
          <a:xfrm>
            <a:off x="841248" y="4901184"/>
            <a:ext cx="4809744" cy="841248"/>
          </a:xfrm>
          <a:prstGeom prst="rect">
            <a:avLst/>
          </a:prstGeom>
          <a:noFill/>
          <a:ln/>
        </p:spPr>
        <p:txBody>
          <a:bodyPr wrap="square" lIns="0" tIns="0" rIns="0" bIns="0" rtlCol="0" anchor="ctr"/>
          <a:lstStyle/>
          <a:p>
            <a:pPr indent="0" marL="0">
              <a:lnSpc>
                <a:spcPct val="115000"/>
              </a:lnSpc>
              <a:buNone/>
            </a:pPr>
            <a:r>
              <a:rPr lang="en-US" sz="1150" dirty="0">
                <a:solidFill>
                  <a:srgbClr val="20303F"/>
                </a:solidFill>
                <a:latin typeface="Meiryo UI" pitchFamily="34" charset="0"/>
                <a:ea typeface="Meiryo UI" pitchFamily="34" charset="-122"/>
                <a:cs typeface="Meiryo UI" pitchFamily="34" charset="-120"/>
              </a:rPr>
              <a:t>「AI前提ならこの業務はどう変わるか」を部門で議論し、業務フローそのものを見直す</a:t>
            </a:r>
            <a:endParaRPr lang="en-US" sz="1150" dirty="0"/>
          </a:p>
        </p:txBody>
      </p:sp>
      <p:sp>
        <p:nvSpPr>
          <p:cNvPr id="21" name="Shape 16"/>
          <p:cNvSpPr/>
          <p:nvPr/>
        </p:nvSpPr>
        <p:spPr>
          <a:xfrm>
            <a:off x="6245352" y="3913632"/>
            <a:ext cx="5394960" cy="1920240"/>
          </a:xfrm>
          <a:prstGeom prst="roundRect">
            <a:avLst>
              <a:gd name="adj" fmla="val 3810"/>
            </a:avLst>
          </a:prstGeom>
          <a:solidFill>
            <a:srgbClr val="EFF6FA"/>
          </a:solidFill>
          <a:ln/>
        </p:spPr>
      </p:sp>
      <p:sp>
        <p:nvSpPr>
          <p:cNvPr id="22" name="Shape 17"/>
          <p:cNvSpPr/>
          <p:nvPr/>
        </p:nvSpPr>
        <p:spPr>
          <a:xfrm>
            <a:off x="6519672" y="4187952"/>
            <a:ext cx="603504" cy="603504"/>
          </a:xfrm>
          <a:prstGeom prst="ellipse">
            <a:avLst/>
          </a:prstGeom>
          <a:solidFill>
            <a:srgbClr val="21295C"/>
          </a:solidFill>
          <a:ln/>
        </p:spPr>
      </p:sp>
      <p:pic>
        <p:nvPicPr>
          <p:cNvPr id="23" name="Image 3" descr="preencoded.png">    </p:cNvPr>
          <p:cNvPicPr>
            <a:picLocks noChangeAspect="1"/>
          </p:cNvPicPr>
          <p:nvPr/>
        </p:nvPicPr>
        <p:blipFill>
          <a:blip r:embed="rId4"/>
          <a:stretch>
            <a:fillRect/>
          </a:stretch>
        </p:blipFill>
        <p:spPr>
          <a:xfrm>
            <a:off x="6676583" y="4344863"/>
            <a:ext cx="289682" cy="289682"/>
          </a:xfrm>
          <a:prstGeom prst="rect">
            <a:avLst/>
          </a:prstGeom>
        </p:spPr>
      </p:pic>
      <p:sp>
        <p:nvSpPr>
          <p:cNvPr id="24" name="Text 18"/>
          <p:cNvSpPr/>
          <p:nvPr/>
        </p:nvSpPr>
        <p:spPr>
          <a:xfrm>
            <a:off x="7269480" y="4187952"/>
            <a:ext cx="4114800" cy="603504"/>
          </a:xfrm>
          <a:prstGeom prst="rect">
            <a:avLst/>
          </a:prstGeom>
          <a:noFill/>
          <a:ln/>
        </p:spPr>
        <p:txBody>
          <a:bodyPr wrap="square" lIns="0" tIns="0" rIns="0" bIns="0" rtlCol="0" anchor="ctr"/>
          <a:lstStyle/>
          <a:p>
            <a:pPr indent="0" marL="0">
              <a:buNone/>
            </a:pPr>
            <a:r>
              <a:rPr lang="en-US" sz="1550" b="1" dirty="0">
                <a:solidFill>
                  <a:srgbClr val="065A82"/>
                </a:solidFill>
                <a:latin typeface="Meiryo UI" pitchFamily="34" charset="0"/>
                <a:ea typeface="Meiryo UI" pitchFamily="34" charset="-122"/>
                <a:cs typeface="Meiryo UI" pitchFamily="34" charset="-120"/>
              </a:rPr>
              <a:t>効果測定と拡大</a:t>
            </a:r>
            <a:endParaRPr lang="en-US" sz="1550" dirty="0"/>
          </a:p>
        </p:txBody>
      </p:sp>
      <p:sp>
        <p:nvSpPr>
          <p:cNvPr id="25" name="Text 19"/>
          <p:cNvSpPr/>
          <p:nvPr/>
        </p:nvSpPr>
        <p:spPr>
          <a:xfrm>
            <a:off x="6537960" y="4901184"/>
            <a:ext cx="4809744" cy="841248"/>
          </a:xfrm>
          <a:prstGeom prst="rect">
            <a:avLst/>
          </a:prstGeom>
          <a:noFill/>
          <a:ln/>
        </p:spPr>
        <p:txBody>
          <a:bodyPr wrap="square" lIns="0" tIns="0" rIns="0" bIns="0" rtlCol="0" anchor="ctr"/>
          <a:lstStyle/>
          <a:p>
            <a:pPr indent="0" marL="0">
              <a:lnSpc>
                <a:spcPct val="115000"/>
              </a:lnSpc>
              <a:buNone/>
            </a:pPr>
            <a:r>
              <a:rPr lang="en-US" sz="1150" dirty="0">
                <a:solidFill>
                  <a:srgbClr val="20303F"/>
                </a:solidFill>
                <a:latin typeface="Meiryo UI" pitchFamily="34" charset="0"/>
                <a:ea typeface="Meiryo UI" pitchFamily="34" charset="-122"/>
                <a:cs typeface="Meiryo UI" pitchFamily="34" charset="-120"/>
              </a:rPr>
              <a:t>KPIで投資対効果を評価しながら、うまくいった型を他の業務・他部門へ広げる</a:t>
            </a:r>
            <a:endParaRPr lang="en-US" sz="1150" dirty="0"/>
          </a:p>
        </p:txBody>
      </p:sp>
      <p:sp>
        <p:nvSpPr>
          <p:cNvPr id="26" name="Text 20"/>
          <p:cNvSpPr/>
          <p:nvPr/>
        </p:nvSpPr>
        <p:spPr>
          <a:xfrm>
            <a:off x="548640" y="5989320"/>
            <a:ext cx="11064240" cy="365760"/>
          </a:xfrm>
          <a:prstGeom prst="rect">
            <a:avLst/>
          </a:prstGeom>
          <a:noFill/>
          <a:ln/>
        </p:spPr>
        <p:txBody>
          <a:bodyPr wrap="square" lIns="0" tIns="0" rIns="0" bIns="0" rtlCol="0" anchor="ctr"/>
          <a:lstStyle/>
          <a:p>
            <a:pPr indent="0" marL="0">
              <a:buNone/>
            </a:pPr>
            <a:r>
              <a:rPr lang="en-US" sz="1200" b="1" dirty="0">
                <a:solidFill>
                  <a:srgbClr val="1C7293"/>
                </a:solidFill>
                <a:latin typeface="Meiryo UI" pitchFamily="34" charset="0"/>
                <a:ea typeface="Meiryo UI" pitchFamily="34" charset="-122"/>
                <a:cs typeface="Meiryo UI" pitchFamily="34" charset="-120"/>
              </a:rPr>
              <a:t>エージェント化に向く業務：同じ質問・依頼が繰り返し発生する／手順と参照資料が明確／失敗してもリカバリーしやすい</a:t>
            </a:r>
            <a:endParaRPr lang="en-US" sz="1200" dirty="0"/>
          </a:p>
        </p:txBody>
      </p:sp>
      <p:sp>
        <p:nvSpPr>
          <p:cNvPr id="27" name="Text 21"/>
          <p:cNvSpPr/>
          <p:nvPr/>
        </p:nvSpPr>
        <p:spPr>
          <a:xfrm>
            <a:off x="8897112" y="6473952"/>
            <a:ext cx="2743200" cy="274320"/>
          </a:xfrm>
          <a:prstGeom prst="rect">
            <a:avLst/>
          </a:prstGeom>
          <a:noFill/>
          <a:ln/>
        </p:spPr>
        <p:txBody>
          <a:bodyPr wrap="square" lIns="0" tIns="0" rIns="0" bIns="0" rtlCol="0" anchor="ctr"/>
          <a:lstStyle/>
          <a:p>
            <a:pPr algn="r" indent="0" marL="0">
              <a:buNone/>
            </a:pPr>
            <a:r>
              <a:rPr lang="en-US" sz="900" dirty="0">
                <a:solidFill>
                  <a:srgbClr val="9AAAB8"/>
                </a:solidFill>
                <a:latin typeface="Meiryo UI" pitchFamily="34" charset="0"/>
                <a:ea typeface="Meiryo UI" pitchFamily="34" charset="-122"/>
                <a:cs typeface="Meiryo UI" pitchFamily="34" charset="-120"/>
              </a:rPr>
              <a:t>Microsoft 365 Copilot 活用ガイド｜10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94360"/>
          </a:xfrm>
          <a:prstGeom prst="rect">
            <a:avLst/>
          </a:prstGeom>
          <a:noFill/>
          <a:ln/>
        </p:spPr>
        <p:txBody>
          <a:bodyPr wrap="square" lIns="0" tIns="0" rIns="0" bIns="0" rtlCol="0" anchor="ctr"/>
          <a:lstStyle/>
          <a:p>
            <a:pPr algn="l" indent="0" marL="0">
              <a:buNone/>
            </a:pPr>
            <a:r>
              <a:rPr lang="en-US" sz="2800" b="1" dirty="0">
                <a:solidFill>
                  <a:srgbClr val="065A82"/>
                </a:solidFill>
                <a:latin typeface="Meiryo UI" pitchFamily="34" charset="0"/>
                <a:ea typeface="Meiryo UI" pitchFamily="34" charset="-122"/>
                <a:cs typeface="Meiryo UI" pitchFamily="34" charset="-120"/>
              </a:rPr>
              <a:t>成果を出すプロンプトの4要素</a:t>
            </a:r>
            <a:endParaRPr lang="en-US" sz="28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algn="l" indent="0" marL="0">
              <a:buNone/>
            </a:pPr>
            <a:r>
              <a:rPr lang="en-US" sz="1300" dirty="0">
                <a:solidFill>
                  <a:srgbClr val="5E7182"/>
                </a:solidFill>
                <a:latin typeface="Meiryo UI" pitchFamily="34" charset="0"/>
                <a:ea typeface="Meiryo UI" pitchFamily="34" charset="-122"/>
                <a:cs typeface="Meiryo UI" pitchFamily="34" charset="-120"/>
              </a:rPr>
              <a:t>この4つを入れるだけで、出力の質は見違える</a:t>
            </a:r>
            <a:endParaRPr lang="en-US" sz="1300" dirty="0"/>
          </a:p>
        </p:txBody>
      </p:sp>
      <p:sp>
        <p:nvSpPr>
          <p:cNvPr id="4" name="Shape 2"/>
          <p:cNvSpPr/>
          <p:nvPr/>
        </p:nvSpPr>
        <p:spPr>
          <a:xfrm>
            <a:off x="548640" y="1600200"/>
            <a:ext cx="2697480" cy="2148840"/>
          </a:xfrm>
          <a:prstGeom prst="roundRect">
            <a:avLst>
              <a:gd name="adj" fmla="val 3404"/>
            </a:avLst>
          </a:prstGeom>
          <a:solidFill>
            <a:srgbClr val="EFF6FA"/>
          </a:solidFill>
          <a:ln/>
        </p:spPr>
      </p:sp>
      <p:sp>
        <p:nvSpPr>
          <p:cNvPr id="5" name="Shape 3"/>
          <p:cNvSpPr/>
          <p:nvPr/>
        </p:nvSpPr>
        <p:spPr>
          <a:xfrm>
            <a:off x="1595628" y="1828800"/>
            <a:ext cx="603504" cy="603504"/>
          </a:xfrm>
          <a:prstGeom prst="ellipse">
            <a:avLst/>
          </a:prstGeom>
          <a:solidFill>
            <a:srgbClr val="1C7293"/>
          </a:solidFill>
          <a:ln/>
        </p:spPr>
      </p:sp>
      <p:pic>
        <p:nvPicPr>
          <p:cNvPr id="6" name="Image 0" descr="preencoded.png">    </p:cNvPr>
          <p:cNvPicPr>
            <a:picLocks noChangeAspect="1"/>
          </p:cNvPicPr>
          <p:nvPr/>
        </p:nvPicPr>
        <p:blipFill>
          <a:blip r:embed="rId1"/>
          <a:stretch>
            <a:fillRect/>
          </a:stretch>
        </p:blipFill>
        <p:spPr>
          <a:xfrm>
            <a:off x="1752539" y="1985711"/>
            <a:ext cx="289682" cy="289682"/>
          </a:xfrm>
          <a:prstGeom prst="rect">
            <a:avLst/>
          </a:prstGeom>
        </p:spPr>
      </p:pic>
      <p:sp>
        <p:nvSpPr>
          <p:cNvPr id="7" name="Text 4"/>
          <p:cNvSpPr/>
          <p:nvPr/>
        </p:nvSpPr>
        <p:spPr>
          <a:xfrm>
            <a:off x="548640" y="2542032"/>
            <a:ext cx="2697480" cy="411480"/>
          </a:xfrm>
          <a:prstGeom prst="rect">
            <a:avLst/>
          </a:prstGeom>
          <a:noFill/>
          <a:ln/>
        </p:spPr>
        <p:txBody>
          <a:bodyPr wrap="square" lIns="0" tIns="0" rIns="0" bIns="0" rtlCol="0" anchor="ctr"/>
          <a:lstStyle/>
          <a:p>
            <a:pPr algn="ctr" indent="0" marL="0">
              <a:buNone/>
            </a:pPr>
            <a:r>
              <a:rPr lang="en-US" sz="1700" b="1" dirty="0">
                <a:solidFill>
                  <a:srgbClr val="065A82"/>
                </a:solidFill>
                <a:latin typeface="Meiryo UI" pitchFamily="34" charset="0"/>
                <a:ea typeface="Meiryo UI" pitchFamily="34" charset="-122"/>
                <a:cs typeface="Meiryo UI" pitchFamily="34" charset="-120"/>
              </a:rPr>
              <a:t>目的</a:t>
            </a:r>
            <a:endParaRPr lang="en-US" sz="1700" dirty="0"/>
          </a:p>
        </p:txBody>
      </p:sp>
      <p:sp>
        <p:nvSpPr>
          <p:cNvPr id="8" name="Text 5"/>
          <p:cNvSpPr/>
          <p:nvPr/>
        </p:nvSpPr>
        <p:spPr>
          <a:xfrm>
            <a:off x="713232" y="2971800"/>
            <a:ext cx="2368296" cy="731520"/>
          </a:xfrm>
          <a:prstGeom prst="rect">
            <a:avLst/>
          </a:prstGeom>
          <a:noFill/>
          <a:ln/>
        </p:spPr>
        <p:txBody>
          <a:bodyPr wrap="square" lIns="0" tIns="0" rIns="0" bIns="0" rtlCol="0" anchor="ctr"/>
          <a:lstStyle/>
          <a:p>
            <a:pPr algn="ctr" indent="0" marL="0">
              <a:lnSpc>
                <a:spcPct val="120000"/>
              </a:lnSpc>
              <a:buNone/>
            </a:pPr>
            <a:r>
              <a:rPr lang="en-US" sz="1100" dirty="0">
                <a:solidFill>
                  <a:srgbClr val="20303F"/>
                </a:solidFill>
                <a:latin typeface="Meiryo UI" pitchFamily="34" charset="0"/>
                <a:ea typeface="Meiryo UI" pitchFamily="34" charset="-122"/>
                <a:cs typeface="Meiryo UI" pitchFamily="34" charset="-120"/>
              </a:rPr>
              <a:t>何をしてほしいか</a:t>
            </a:r>
            <a:endParaRPr lang="en-US" sz="1100" dirty="0"/>
          </a:p>
          <a:p>
            <a:pPr algn="ctr" indent="0" marL="0">
              <a:lnSpc>
                <a:spcPct val="120000"/>
              </a:lnSpc>
              <a:buNone/>
            </a:pPr>
            <a:r>
              <a:rPr lang="en-US" sz="1100" dirty="0">
                <a:solidFill>
                  <a:srgbClr val="20303F"/>
                </a:solidFill>
                <a:latin typeface="Meiryo UI" pitchFamily="34" charset="0"/>
                <a:ea typeface="Meiryo UI" pitchFamily="34" charset="-122"/>
                <a:cs typeface="Meiryo UI" pitchFamily="34" charset="-120"/>
              </a:rPr>
              <a:t>「提案書の構成案を作って」</a:t>
            </a:r>
            <a:endParaRPr lang="en-US" sz="1100" dirty="0"/>
          </a:p>
        </p:txBody>
      </p:sp>
      <p:sp>
        <p:nvSpPr>
          <p:cNvPr id="9" name="Shape 6"/>
          <p:cNvSpPr/>
          <p:nvPr/>
        </p:nvSpPr>
        <p:spPr>
          <a:xfrm>
            <a:off x="3346704" y="1600200"/>
            <a:ext cx="2697480" cy="2148840"/>
          </a:xfrm>
          <a:prstGeom prst="roundRect">
            <a:avLst>
              <a:gd name="adj" fmla="val 3404"/>
            </a:avLst>
          </a:prstGeom>
          <a:solidFill>
            <a:srgbClr val="EFF6FA"/>
          </a:solidFill>
          <a:ln/>
        </p:spPr>
      </p:sp>
      <p:sp>
        <p:nvSpPr>
          <p:cNvPr id="10" name="Shape 7"/>
          <p:cNvSpPr/>
          <p:nvPr/>
        </p:nvSpPr>
        <p:spPr>
          <a:xfrm>
            <a:off x="4393692" y="1828800"/>
            <a:ext cx="603504" cy="603504"/>
          </a:xfrm>
          <a:prstGeom prst="ellipse">
            <a:avLst/>
          </a:prstGeom>
          <a:solidFill>
            <a:srgbClr val="1C7293"/>
          </a:solidFill>
          <a:ln/>
        </p:spPr>
      </p:sp>
      <p:pic>
        <p:nvPicPr>
          <p:cNvPr id="11" name="Image 1" descr="preencoded.png">    </p:cNvPr>
          <p:cNvPicPr>
            <a:picLocks noChangeAspect="1"/>
          </p:cNvPicPr>
          <p:nvPr/>
        </p:nvPicPr>
        <p:blipFill>
          <a:blip r:embed="rId2"/>
          <a:stretch>
            <a:fillRect/>
          </a:stretch>
        </p:blipFill>
        <p:spPr>
          <a:xfrm>
            <a:off x="4550603" y="1985711"/>
            <a:ext cx="289682" cy="289682"/>
          </a:xfrm>
          <a:prstGeom prst="rect">
            <a:avLst/>
          </a:prstGeom>
        </p:spPr>
      </p:pic>
      <p:sp>
        <p:nvSpPr>
          <p:cNvPr id="12" name="Text 8"/>
          <p:cNvSpPr/>
          <p:nvPr/>
        </p:nvSpPr>
        <p:spPr>
          <a:xfrm>
            <a:off x="3346704" y="2542032"/>
            <a:ext cx="2697480" cy="411480"/>
          </a:xfrm>
          <a:prstGeom prst="rect">
            <a:avLst/>
          </a:prstGeom>
          <a:noFill/>
          <a:ln/>
        </p:spPr>
        <p:txBody>
          <a:bodyPr wrap="square" lIns="0" tIns="0" rIns="0" bIns="0" rtlCol="0" anchor="ctr"/>
          <a:lstStyle/>
          <a:p>
            <a:pPr algn="ctr" indent="0" marL="0">
              <a:buNone/>
            </a:pPr>
            <a:r>
              <a:rPr lang="en-US" sz="1700" b="1" dirty="0">
                <a:solidFill>
                  <a:srgbClr val="065A82"/>
                </a:solidFill>
                <a:latin typeface="Meiryo UI" pitchFamily="34" charset="0"/>
                <a:ea typeface="Meiryo UI" pitchFamily="34" charset="-122"/>
                <a:cs typeface="Meiryo UI" pitchFamily="34" charset="-120"/>
              </a:rPr>
              <a:t>背景</a:t>
            </a:r>
            <a:endParaRPr lang="en-US" sz="1700" dirty="0"/>
          </a:p>
        </p:txBody>
      </p:sp>
      <p:sp>
        <p:nvSpPr>
          <p:cNvPr id="13" name="Text 9"/>
          <p:cNvSpPr/>
          <p:nvPr/>
        </p:nvSpPr>
        <p:spPr>
          <a:xfrm>
            <a:off x="3511296" y="2971800"/>
            <a:ext cx="2368296" cy="731520"/>
          </a:xfrm>
          <a:prstGeom prst="rect">
            <a:avLst/>
          </a:prstGeom>
          <a:noFill/>
          <a:ln/>
        </p:spPr>
        <p:txBody>
          <a:bodyPr wrap="square" lIns="0" tIns="0" rIns="0" bIns="0" rtlCol="0" anchor="ctr"/>
          <a:lstStyle/>
          <a:p>
            <a:pPr algn="ctr" indent="0" marL="0">
              <a:lnSpc>
                <a:spcPct val="120000"/>
              </a:lnSpc>
              <a:buNone/>
            </a:pPr>
            <a:r>
              <a:rPr lang="en-US" sz="1100" dirty="0">
                <a:solidFill>
                  <a:srgbClr val="20303F"/>
                </a:solidFill>
                <a:latin typeface="Meiryo UI" pitchFamily="34" charset="0"/>
                <a:ea typeface="Meiryo UI" pitchFamily="34" charset="-122"/>
                <a:cs typeface="Meiryo UI" pitchFamily="34" charset="-120"/>
              </a:rPr>
              <a:t>誰のため・何のためか</a:t>
            </a:r>
            <a:endParaRPr lang="en-US" sz="1100" dirty="0"/>
          </a:p>
          <a:p>
            <a:pPr algn="ctr" indent="0" marL="0">
              <a:lnSpc>
                <a:spcPct val="120000"/>
              </a:lnSpc>
              <a:buNone/>
            </a:pPr>
            <a:r>
              <a:rPr lang="en-US" sz="1100" dirty="0">
                <a:solidFill>
                  <a:srgbClr val="20303F"/>
                </a:solidFill>
                <a:latin typeface="Meiryo UI" pitchFamily="34" charset="0"/>
                <a:ea typeface="Meiryo UI" pitchFamily="34" charset="-122"/>
                <a:cs typeface="Meiryo UI" pitchFamily="34" charset="-120"/>
              </a:rPr>
              <a:t>「相手は初取引の役員」</a:t>
            </a:r>
            <a:endParaRPr lang="en-US" sz="1100" dirty="0"/>
          </a:p>
        </p:txBody>
      </p:sp>
      <p:sp>
        <p:nvSpPr>
          <p:cNvPr id="14" name="Shape 10"/>
          <p:cNvSpPr/>
          <p:nvPr/>
        </p:nvSpPr>
        <p:spPr>
          <a:xfrm>
            <a:off x="6144768" y="1600200"/>
            <a:ext cx="2697480" cy="2148840"/>
          </a:xfrm>
          <a:prstGeom prst="roundRect">
            <a:avLst>
              <a:gd name="adj" fmla="val 3404"/>
            </a:avLst>
          </a:prstGeom>
          <a:solidFill>
            <a:srgbClr val="EFF6FA"/>
          </a:solidFill>
          <a:ln/>
        </p:spPr>
      </p:sp>
      <p:sp>
        <p:nvSpPr>
          <p:cNvPr id="15" name="Shape 11"/>
          <p:cNvSpPr/>
          <p:nvPr/>
        </p:nvSpPr>
        <p:spPr>
          <a:xfrm>
            <a:off x="7191756" y="1828800"/>
            <a:ext cx="603504" cy="603504"/>
          </a:xfrm>
          <a:prstGeom prst="ellipse">
            <a:avLst/>
          </a:prstGeom>
          <a:solidFill>
            <a:srgbClr val="1C7293"/>
          </a:solidFill>
          <a:ln/>
        </p:spPr>
      </p:sp>
      <p:pic>
        <p:nvPicPr>
          <p:cNvPr id="16" name="Image 2" descr="preencoded.png">    </p:cNvPr>
          <p:cNvPicPr>
            <a:picLocks noChangeAspect="1"/>
          </p:cNvPicPr>
          <p:nvPr/>
        </p:nvPicPr>
        <p:blipFill>
          <a:blip r:embed="rId3"/>
          <a:stretch>
            <a:fillRect/>
          </a:stretch>
        </p:blipFill>
        <p:spPr>
          <a:xfrm>
            <a:off x="7348667" y="1985711"/>
            <a:ext cx="289682" cy="289682"/>
          </a:xfrm>
          <a:prstGeom prst="rect">
            <a:avLst/>
          </a:prstGeom>
        </p:spPr>
      </p:pic>
      <p:sp>
        <p:nvSpPr>
          <p:cNvPr id="17" name="Text 12"/>
          <p:cNvSpPr/>
          <p:nvPr/>
        </p:nvSpPr>
        <p:spPr>
          <a:xfrm>
            <a:off x="6144768" y="2542032"/>
            <a:ext cx="2697480" cy="411480"/>
          </a:xfrm>
          <a:prstGeom prst="rect">
            <a:avLst/>
          </a:prstGeom>
          <a:noFill/>
          <a:ln/>
        </p:spPr>
        <p:txBody>
          <a:bodyPr wrap="square" lIns="0" tIns="0" rIns="0" bIns="0" rtlCol="0" anchor="ctr"/>
          <a:lstStyle/>
          <a:p>
            <a:pPr algn="ctr" indent="0" marL="0">
              <a:buNone/>
            </a:pPr>
            <a:r>
              <a:rPr lang="en-US" sz="1700" b="1" dirty="0">
                <a:solidFill>
                  <a:srgbClr val="065A82"/>
                </a:solidFill>
                <a:latin typeface="Meiryo UI" pitchFamily="34" charset="0"/>
                <a:ea typeface="Meiryo UI" pitchFamily="34" charset="-122"/>
                <a:cs typeface="Meiryo UI" pitchFamily="34" charset="-120"/>
              </a:rPr>
              <a:t>形式</a:t>
            </a:r>
            <a:endParaRPr lang="en-US" sz="1700" dirty="0"/>
          </a:p>
        </p:txBody>
      </p:sp>
      <p:sp>
        <p:nvSpPr>
          <p:cNvPr id="18" name="Text 13"/>
          <p:cNvSpPr/>
          <p:nvPr/>
        </p:nvSpPr>
        <p:spPr>
          <a:xfrm>
            <a:off x="6309360" y="2971800"/>
            <a:ext cx="2368296" cy="731520"/>
          </a:xfrm>
          <a:prstGeom prst="rect">
            <a:avLst/>
          </a:prstGeom>
          <a:noFill/>
          <a:ln/>
        </p:spPr>
        <p:txBody>
          <a:bodyPr wrap="square" lIns="0" tIns="0" rIns="0" bIns="0" rtlCol="0" anchor="ctr"/>
          <a:lstStyle/>
          <a:p>
            <a:pPr algn="ctr" indent="0" marL="0">
              <a:lnSpc>
                <a:spcPct val="120000"/>
              </a:lnSpc>
              <a:buNone/>
            </a:pPr>
            <a:r>
              <a:rPr lang="en-US" sz="1100" dirty="0">
                <a:solidFill>
                  <a:srgbClr val="20303F"/>
                </a:solidFill>
                <a:latin typeface="Meiryo UI" pitchFamily="34" charset="0"/>
                <a:ea typeface="Meiryo UI" pitchFamily="34" charset="-122"/>
                <a:cs typeface="Meiryo UI" pitchFamily="34" charset="-120"/>
              </a:rPr>
              <a:t>出力の形・分量・トーン</a:t>
            </a:r>
            <a:endParaRPr lang="en-US" sz="1100" dirty="0"/>
          </a:p>
          <a:p>
            <a:pPr algn="ctr" indent="0" marL="0">
              <a:lnSpc>
                <a:spcPct val="120000"/>
              </a:lnSpc>
              <a:buNone/>
            </a:pPr>
            <a:r>
              <a:rPr lang="en-US" sz="1100" dirty="0">
                <a:solidFill>
                  <a:srgbClr val="20303F"/>
                </a:solidFill>
                <a:latin typeface="Meiryo UI" pitchFamily="34" charset="0"/>
                <a:ea typeface="Meiryo UI" pitchFamily="34" charset="-122"/>
                <a:cs typeface="Meiryo UI" pitchFamily="34" charset="-120"/>
              </a:rPr>
              <a:t>「表形式で」「300字以内で」</a:t>
            </a:r>
            <a:endParaRPr lang="en-US" sz="1100" dirty="0"/>
          </a:p>
        </p:txBody>
      </p:sp>
      <p:sp>
        <p:nvSpPr>
          <p:cNvPr id="19" name="Shape 14"/>
          <p:cNvSpPr/>
          <p:nvPr/>
        </p:nvSpPr>
        <p:spPr>
          <a:xfrm>
            <a:off x="8942832" y="1600200"/>
            <a:ext cx="2697480" cy="2148840"/>
          </a:xfrm>
          <a:prstGeom prst="roundRect">
            <a:avLst>
              <a:gd name="adj" fmla="val 3404"/>
            </a:avLst>
          </a:prstGeom>
          <a:solidFill>
            <a:srgbClr val="EFF6FA"/>
          </a:solidFill>
          <a:ln/>
        </p:spPr>
      </p:sp>
      <p:sp>
        <p:nvSpPr>
          <p:cNvPr id="20" name="Shape 15"/>
          <p:cNvSpPr/>
          <p:nvPr/>
        </p:nvSpPr>
        <p:spPr>
          <a:xfrm>
            <a:off x="9989820" y="1828800"/>
            <a:ext cx="603504" cy="603504"/>
          </a:xfrm>
          <a:prstGeom prst="ellipse">
            <a:avLst/>
          </a:prstGeom>
          <a:solidFill>
            <a:srgbClr val="1C7293"/>
          </a:solidFill>
          <a:ln/>
        </p:spPr>
      </p:sp>
      <p:pic>
        <p:nvPicPr>
          <p:cNvPr id="21" name="Image 3" descr="preencoded.png">    </p:cNvPr>
          <p:cNvPicPr>
            <a:picLocks noChangeAspect="1"/>
          </p:cNvPicPr>
          <p:nvPr/>
        </p:nvPicPr>
        <p:blipFill>
          <a:blip r:embed="rId4"/>
          <a:stretch>
            <a:fillRect/>
          </a:stretch>
        </p:blipFill>
        <p:spPr>
          <a:xfrm>
            <a:off x="10146731" y="1985711"/>
            <a:ext cx="289682" cy="289682"/>
          </a:xfrm>
          <a:prstGeom prst="rect">
            <a:avLst/>
          </a:prstGeom>
        </p:spPr>
      </p:pic>
      <p:sp>
        <p:nvSpPr>
          <p:cNvPr id="22" name="Text 16"/>
          <p:cNvSpPr/>
          <p:nvPr/>
        </p:nvSpPr>
        <p:spPr>
          <a:xfrm>
            <a:off x="8942832" y="2542032"/>
            <a:ext cx="2697480" cy="411480"/>
          </a:xfrm>
          <a:prstGeom prst="rect">
            <a:avLst/>
          </a:prstGeom>
          <a:noFill/>
          <a:ln/>
        </p:spPr>
        <p:txBody>
          <a:bodyPr wrap="square" lIns="0" tIns="0" rIns="0" bIns="0" rtlCol="0" anchor="ctr"/>
          <a:lstStyle/>
          <a:p>
            <a:pPr algn="ctr" indent="0" marL="0">
              <a:buNone/>
            </a:pPr>
            <a:r>
              <a:rPr lang="en-US" sz="1700" b="1" dirty="0">
                <a:solidFill>
                  <a:srgbClr val="065A82"/>
                </a:solidFill>
                <a:latin typeface="Meiryo UI" pitchFamily="34" charset="0"/>
                <a:ea typeface="Meiryo UI" pitchFamily="34" charset="-122"/>
                <a:cs typeface="Meiryo UI" pitchFamily="34" charset="-120"/>
              </a:rPr>
              <a:t>参照情報</a:t>
            </a:r>
            <a:endParaRPr lang="en-US" sz="1700" dirty="0"/>
          </a:p>
        </p:txBody>
      </p:sp>
      <p:sp>
        <p:nvSpPr>
          <p:cNvPr id="23" name="Text 17"/>
          <p:cNvSpPr/>
          <p:nvPr/>
        </p:nvSpPr>
        <p:spPr>
          <a:xfrm>
            <a:off x="9107424" y="2971800"/>
            <a:ext cx="2368296" cy="731520"/>
          </a:xfrm>
          <a:prstGeom prst="rect">
            <a:avLst/>
          </a:prstGeom>
          <a:noFill/>
          <a:ln/>
        </p:spPr>
        <p:txBody>
          <a:bodyPr wrap="square" lIns="0" tIns="0" rIns="0" bIns="0" rtlCol="0" anchor="ctr"/>
          <a:lstStyle/>
          <a:p>
            <a:pPr algn="ctr" indent="0" marL="0">
              <a:lnSpc>
                <a:spcPct val="120000"/>
              </a:lnSpc>
              <a:buNone/>
            </a:pPr>
            <a:r>
              <a:rPr lang="en-US" sz="1100" dirty="0">
                <a:solidFill>
                  <a:srgbClr val="20303F"/>
                </a:solidFill>
                <a:latin typeface="Meiryo UI" pitchFamily="34" charset="0"/>
                <a:ea typeface="Meiryo UI" pitchFamily="34" charset="-122"/>
                <a:cs typeface="Meiryo UI" pitchFamily="34" charset="-120"/>
              </a:rPr>
              <a:t>もとにする資料・データ</a:t>
            </a:r>
            <a:endParaRPr lang="en-US" sz="1100" dirty="0"/>
          </a:p>
          <a:p>
            <a:pPr algn="ctr" indent="0" marL="0">
              <a:lnSpc>
                <a:spcPct val="120000"/>
              </a:lnSpc>
              <a:buNone/>
            </a:pPr>
            <a:r>
              <a:rPr lang="en-US" sz="1100" dirty="0">
                <a:solidFill>
                  <a:srgbClr val="20303F"/>
                </a:solidFill>
                <a:latin typeface="Meiryo UI" pitchFamily="34" charset="0"/>
                <a:ea typeface="Meiryo UI" pitchFamily="34" charset="-122"/>
                <a:cs typeface="Meiryo UI" pitchFamily="34" charset="-120"/>
              </a:rPr>
              <a:t>「この議事録をもとに」</a:t>
            </a:r>
            <a:endParaRPr lang="en-US" sz="1100" dirty="0"/>
          </a:p>
        </p:txBody>
      </p:sp>
      <p:sp>
        <p:nvSpPr>
          <p:cNvPr id="24" name="Shape 18"/>
          <p:cNvSpPr/>
          <p:nvPr/>
        </p:nvSpPr>
        <p:spPr>
          <a:xfrm>
            <a:off x="548640" y="4023360"/>
            <a:ext cx="5486400" cy="1691640"/>
          </a:xfrm>
          <a:prstGeom prst="roundRect">
            <a:avLst>
              <a:gd name="adj" fmla="val 4324"/>
            </a:avLst>
          </a:prstGeom>
          <a:solidFill>
            <a:srgbClr val="FBEDEE"/>
          </a:solidFill>
          <a:ln/>
        </p:spPr>
      </p:sp>
      <p:sp>
        <p:nvSpPr>
          <p:cNvPr id="25" name="Text 19"/>
          <p:cNvSpPr/>
          <p:nvPr/>
        </p:nvSpPr>
        <p:spPr>
          <a:xfrm>
            <a:off x="822960" y="4206240"/>
            <a:ext cx="4937760" cy="365760"/>
          </a:xfrm>
          <a:prstGeom prst="rect">
            <a:avLst/>
          </a:prstGeom>
          <a:noFill/>
          <a:ln/>
        </p:spPr>
        <p:txBody>
          <a:bodyPr wrap="square" lIns="0" tIns="0" rIns="0" bIns="0" rtlCol="0" anchor="ctr"/>
          <a:lstStyle/>
          <a:p>
            <a:pPr indent="0" marL="0">
              <a:buNone/>
            </a:pPr>
            <a:r>
              <a:rPr lang="en-US" sz="1400" b="1" dirty="0">
                <a:solidFill>
                  <a:srgbClr val="990011"/>
                </a:solidFill>
                <a:latin typeface="Meiryo UI" pitchFamily="34" charset="0"/>
                <a:ea typeface="Meiryo UI" pitchFamily="34" charset="-122"/>
                <a:cs typeface="Meiryo UI" pitchFamily="34" charset="-120"/>
              </a:rPr>
              <a:t>✕ 悪い例</a:t>
            </a:r>
            <a:endParaRPr lang="en-US" sz="1400" dirty="0"/>
          </a:p>
        </p:txBody>
      </p:sp>
      <p:sp>
        <p:nvSpPr>
          <p:cNvPr id="26" name="Text 20"/>
          <p:cNvSpPr/>
          <p:nvPr/>
        </p:nvSpPr>
        <p:spPr>
          <a:xfrm>
            <a:off x="822960" y="4617720"/>
            <a:ext cx="4937760" cy="822960"/>
          </a:xfrm>
          <a:prstGeom prst="rect">
            <a:avLst/>
          </a:prstGeom>
          <a:noFill/>
          <a:ln/>
        </p:spPr>
        <p:txBody>
          <a:bodyPr wrap="square" lIns="0" tIns="0" rIns="0" bIns="0" rtlCol="0" anchor="t"/>
          <a:lstStyle/>
          <a:p>
            <a:pPr indent="0" marL="0">
              <a:buNone/>
            </a:pPr>
            <a:r>
              <a:rPr lang="en-US" sz="1300" dirty="0">
                <a:solidFill>
                  <a:srgbClr val="20303F"/>
                </a:solidFill>
                <a:latin typeface="Meiryo UI" pitchFamily="34" charset="0"/>
                <a:ea typeface="Meiryo UI" pitchFamily="34" charset="-122"/>
                <a:cs typeface="Meiryo UI" pitchFamily="34" charset="-120"/>
              </a:rPr>
              <a:t>「メールを書いて」</a:t>
            </a:r>
            <a:endParaRPr lang="en-US" sz="1300" dirty="0"/>
          </a:p>
        </p:txBody>
      </p:sp>
      <p:sp>
        <p:nvSpPr>
          <p:cNvPr id="27" name="Shape 21"/>
          <p:cNvSpPr/>
          <p:nvPr/>
        </p:nvSpPr>
        <p:spPr>
          <a:xfrm>
            <a:off x="6263640" y="4023360"/>
            <a:ext cx="5376672" cy="1691640"/>
          </a:xfrm>
          <a:prstGeom prst="roundRect">
            <a:avLst>
              <a:gd name="adj" fmla="val 4324"/>
            </a:avLst>
          </a:prstGeom>
          <a:solidFill>
            <a:srgbClr val="E8F5F0"/>
          </a:solidFill>
          <a:ln/>
        </p:spPr>
      </p:sp>
      <p:sp>
        <p:nvSpPr>
          <p:cNvPr id="28" name="Text 22"/>
          <p:cNvSpPr/>
          <p:nvPr/>
        </p:nvSpPr>
        <p:spPr>
          <a:xfrm>
            <a:off x="6537960" y="4206240"/>
            <a:ext cx="4846320" cy="365760"/>
          </a:xfrm>
          <a:prstGeom prst="rect">
            <a:avLst/>
          </a:prstGeom>
          <a:noFill/>
          <a:ln/>
        </p:spPr>
        <p:txBody>
          <a:bodyPr wrap="square" lIns="0" tIns="0" rIns="0" bIns="0" rtlCol="0" anchor="ctr"/>
          <a:lstStyle/>
          <a:p>
            <a:pPr indent="0" marL="0">
              <a:buNone/>
            </a:pPr>
            <a:r>
              <a:rPr lang="en-US" sz="1400" b="1" dirty="0">
                <a:solidFill>
                  <a:srgbClr val="0B6E4F"/>
                </a:solidFill>
                <a:latin typeface="Meiryo UI" pitchFamily="34" charset="0"/>
                <a:ea typeface="Meiryo UI" pitchFamily="34" charset="-122"/>
                <a:cs typeface="Meiryo UI" pitchFamily="34" charset="-120"/>
              </a:rPr>
              <a:t>○ 良い例</a:t>
            </a:r>
            <a:endParaRPr lang="en-US" sz="1400" dirty="0"/>
          </a:p>
        </p:txBody>
      </p:sp>
      <p:sp>
        <p:nvSpPr>
          <p:cNvPr id="29" name="Text 23"/>
          <p:cNvSpPr/>
          <p:nvPr/>
        </p:nvSpPr>
        <p:spPr>
          <a:xfrm>
            <a:off x="6537960" y="4617720"/>
            <a:ext cx="4846320" cy="1005840"/>
          </a:xfrm>
          <a:prstGeom prst="rect">
            <a:avLst/>
          </a:prstGeom>
          <a:noFill/>
          <a:ln/>
        </p:spPr>
        <p:txBody>
          <a:bodyPr wrap="square" lIns="0" tIns="0" rIns="0" bIns="0" rtlCol="0" anchor="ctr"/>
          <a:lstStyle/>
          <a:p>
            <a:pPr indent="0" marL="0">
              <a:lnSpc>
                <a:spcPct val="125000"/>
              </a:lnSpc>
              <a:buNone/>
            </a:pPr>
            <a:r>
              <a:rPr lang="en-US" sz="1250" dirty="0">
                <a:solidFill>
                  <a:srgbClr val="20303F"/>
                </a:solidFill>
                <a:latin typeface="Meiryo UI" pitchFamily="34" charset="0"/>
                <a:ea typeface="Meiryo UI" pitchFamily="34" charset="-122"/>
                <a:cs typeface="Meiryo UI" pitchFamily="34" charset="-120"/>
              </a:rPr>
              <a:t>「A社に、来週の定例を水曜から金曜に変更してほしい旨を依頼するメールを。丁寧かつ簡潔に、5文以内で」</a:t>
            </a:r>
            <a:endParaRPr lang="en-US" sz="1250" dirty="0"/>
          </a:p>
        </p:txBody>
      </p:sp>
      <p:sp>
        <p:nvSpPr>
          <p:cNvPr id="30" name="Text 24"/>
          <p:cNvSpPr/>
          <p:nvPr/>
        </p:nvSpPr>
        <p:spPr>
          <a:xfrm>
            <a:off x="548640" y="5989320"/>
            <a:ext cx="11064240" cy="365760"/>
          </a:xfrm>
          <a:prstGeom prst="rect">
            <a:avLst/>
          </a:prstGeom>
          <a:noFill/>
          <a:ln/>
        </p:spPr>
        <p:txBody>
          <a:bodyPr wrap="square" lIns="0" tIns="0" rIns="0" bIns="0" rtlCol="0" anchor="ctr"/>
          <a:lstStyle/>
          <a:p>
            <a:pPr indent="0" marL="0">
              <a:buNone/>
            </a:pPr>
            <a:r>
              <a:rPr lang="en-US" sz="1200" b="1" dirty="0">
                <a:solidFill>
                  <a:srgbClr val="1C7293"/>
                </a:solidFill>
                <a:latin typeface="Meiryo UI" pitchFamily="34" charset="0"/>
                <a:ea typeface="Meiryo UI" pitchFamily="34" charset="-122"/>
                <a:cs typeface="Meiryo UI" pitchFamily="34" charset="-120"/>
              </a:rPr>
              <a:t>一発で完璧を求めない。出力を見て「もっと短く」「観点を追加して」と重ねるのが一番の近道</a:t>
            </a:r>
            <a:endParaRPr lang="en-US" sz="1200" dirty="0"/>
          </a:p>
        </p:txBody>
      </p:sp>
      <p:sp>
        <p:nvSpPr>
          <p:cNvPr id="31" name="Text 25"/>
          <p:cNvSpPr/>
          <p:nvPr/>
        </p:nvSpPr>
        <p:spPr>
          <a:xfrm>
            <a:off x="8897112" y="6473952"/>
            <a:ext cx="2743200" cy="274320"/>
          </a:xfrm>
          <a:prstGeom prst="rect">
            <a:avLst/>
          </a:prstGeom>
          <a:noFill/>
          <a:ln/>
        </p:spPr>
        <p:txBody>
          <a:bodyPr wrap="square" lIns="0" tIns="0" rIns="0" bIns="0" rtlCol="0" anchor="ctr"/>
          <a:lstStyle/>
          <a:p>
            <a:pPr algn="r" indent="0" marL="0">
              <a:buNone/>
            </a:pPr>
            <a:r>
              <a:rPr lang="en-US" sz="900" dirty="0">
                <a:solidFill>
                  <a:srgbClr val="9AAAB8"/>
                </a:solidFill>
                <a:latin typeface="Meiryo UI" pitchFamily="34" charset="0"/>
                <a:ea typeface="Meiryo UI" pitchFamily="34" charset="-122"/>
                <a:cs typeface="Meiryo UI" pitchFamily="34" charset="-120"/>
              </a:rPr>
              <a:t>Microsoft 365 Copilot 活用ガイド｜11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94360"/>
          </a:xfrm>
          <a:prstGeom prst="rect">
            <a:avLst/>
          </a:prstGeom>
          <a:noFill/>
          <a:ln/>
        </p:spPr>
        <p:txBody>
          <a:bodyPr wrap="square" lIns="0" tIns="0" rIns="0" bIns="0" rtlCol="0" anchor="ctr"/>
          <a:lstStyle/>
          <a:p>
            <a:pPr algn="l" indent="0" marL="0">
              <a:buNone/>
            </a:pPr>
            <a:r>
              <a:rPr lang="en-US" sz="2800" b="1" dirty="0">
                <a:solidFill>
                  <a:srgbClr val="065A82"/>
                </a:solidFill>
                <a:latin typeface="Meiryo UI" pitchFamily="34" charset="0"/>
                <a:ea typeface="Meiryo UI" pitchFamily="34" charset="-122"/>
                <a:cs typeface="Meiryo UI" pitchFamily="34" charset="-120"/>
              </a:rPr>
              <a:t>セキュリティと利用の5つのルール</a:t>
            </a:r>
            <a:endParaRPr lang="en-US" sz="28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algn="l" indent="0" marL="0">
              <a:buNone/>
            </a:pPr>
            <a:r>
              <a:rPr lang="en-US" sz="1300" dirty="0">
                <a:solidFill>
                  <a:srgbClr val="5E7182"/>
                </a:solidFill>
                <a:latin typeface="Meiryo UI" pitchFamily="34" charset="0"/>
                <a:ea typeface="Meiryo UI" pitchFamily="34" charset="-122"/>
                <a:cs typeface="Meiryo UI" pitchFamily="34" charset="-120"/>
              </a:rPr>
              <a:t>安心して使い続けるために、部内共通で守ること</a:t>
            </a:r>
            <a:endParaRPr lang="en-US" sz="1300" dirty="0"/>
          </a:p>
        </p:txBody>
      </p:sp>
      <p:sp>
        <p:nvSpPr>
          <p:cNvPr id="4" name="Shape 2"/>
          <p:cNvSpPr/>
          <p:nvPr/>
        </p:nvSpPr>
        <p:spPr>
          <a:xfrm>
            <a:off x="640080" y="1764792"/>
            <a:ext cx="475488" cy="475488"/>
          </a:xfrm>
          <a:prstGeom prst="ellipse">
            <a:avLst/>
          </a:prstGeom>
          <a:solidFill>
            <a:srgbClr val="1C7293"/>
          </a:solidFill>
          <a:ln/>
        </p:spPr>
      </p:sp>
      <p:sp>
        <p:nvSpPr>
          <p:cNvPr id="5" name="Text 3"/>
          <p:cNvSpPr/>
          <p:nvPr/>
        </p:nvSpPr>
        <p:spPr>
          <a:xfrm>
            <a:off x="640080" y="176479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1</a:t>
            </a:r>
            <a:endParaRPr lang="en-US" sz="1600" dirty="0"/>
          </a:p>
        </p:txBody>
      </p:sp>
      <p:sp>
        <p:nvSpPr>
          <p:cNvPr id="6" name="Text 4"/>
          <p:cNvSpPr/>
          <p:nvPr/>
        </p:nvSpPr>
        <p:spPr>
          <a:xfrm>
            <a:off x="1325880" y="1645920"/>
            <a:ext cx="3291840" cy="731520"/>
          </a:xfrm>
          <a:prstGeom prst="rect">
            <a:avLst/>
          </a:prstGeom>
          <a:noFill/>
          <a:ln/>
        </p:spPr>
        <p:txBody>
          <a:bodyPr wrap="square" lIns="0" tIns="0" rIns="0" bIns="0" rtlCol="0" anchor="ctr"/>
          <a:lstStyle/>
          <a:p>
            <a:pPr indent="0" marL="0">
              <a:buNone/>
            </a:pPr>
            <a:r>
              <a:rPr lang="en-US" sz="1400" b="1" dirty="0">
                <a:solidFill>
                  <a:srgbClr val="20303F"/>
                </a:solidFill>
                <a:latin typeface="Meiryo UI" pitchFamily="34" charset="0"/>
                <a:ea typeface="Meiryo UI" pitchFamily="34" charset="-122"/>
                <a:cs typeface="Meiryo UI" pitchFamily="34" charset="-120"/>
              </a:rPr>
              <a:t>出力は必ず人が確認する</a:t>
            </a:r>
            <a:endParaRPr lang="en-US" sz="1400" dirty="0"/>
          </a:p>
        </p:txBody>
      </p:sp>
      <p:sp>
        <p:nvSpPr>
          <p:cNvPr id="7" name="Text 5"/>
          <p:cNvSpPr/>
          <p:nvPr/>
        </p:nvSpPr>
        <p:spPr>
          <a:xfrm>
            <a:off x="4709160" y="1645920"/>
            <a:ext cx="6400800" cy="731520"/>
          </a:xfrm>
          <a:prstGeom prst="rect">
            <a:avLst/>
          </a:prstGeom>
          <a:noFill/>
          <a:ln/>
        </p:spPr>
        <p:txBody>
          <a:bodyPr wrap="square" lIns="0" tIns="0" rIns="0" bIns="0" rtlCol="0" anchor="ctr"/>
          <a:lstStyle/>
          <a:p>
            <a:pPr indent="0" marL="0">
              <a:lnSpc>
                <a:spcPct val="115000"/>
              </a:lnSpc>
              <a:buNone/>
            </a:pPr>
            <a:r>
              <a:rPr lang="en-US" sz="1150" dirty="0">
                <a:solidFill>
                  <a:srgbClr val="5E7182"/>
                </a:solidFill>
                <a:latin typeface="Meiryo UI" pitchFamily="34" charset="0"/>
                <a:ea typeface="Meiryo UI" pitchFamily="34" charset="-122"/>
                <a:cs typeface="Meiryo UI" pitchFamily="34" charset="-120"/>
              </a:rPr>
              <a:t>回答には誤り（ハルシネーション）があり得る。数値・固有名詞・日付は元データと突き合わせる</a:t>
            </a:r>
            <a:endParaRPr lang="en-US" sz="1150" dirty="0"/>
          </a:p>
        </p:txBody>
      </p:sp>
      <p:sp>
        <p:nvSpPr>
          <p:cNvPr id="8" name="Shape 6"/>
          <p:cNvSpPr/>
          <p:nvPr/>
        </p:nvSpPr>
        <p:spPr>
          <a:xfrm>
            <a:off x="640080" y="2606040"/>
            <a:ext cx="475488" cy="475488"/>
          </a:xfrm>
          <a:prstGeom prst="ellipse">
            <a:avLst/>
          </a:prstGeom>
          <a:solidFill>
            <a:srgbClr val="1C7293"/>
          </a:solidFill>
          <a:ln/>
        </p:spPr>
      </p:sp>
      <p:sp>
        <p:nvSpPr>
          <p:cNvPr id="9" name="Text 7"/>
          <p:cNvSpPr/>
          <p:nvPr/>
        </p:nvSpPr>
        <p:spPr>
          <a:xfrm>
            <a:off x="640080" y="260604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2</a:t>
            </a:r>
            <a:endParaRPr lang="en-US" sz="1600" dirty="0"/>
          </a:p>
        </p:txBody>
      </p:sp>
      <p:sp>
        <p:nvSpPr>
          <p:cNvPr id="10" name="Text 8"/>
          <p:cNvSpPr/>
          <p:nvPr/>
        </p:nvSpPr>
        <p:spPr>
          <a:xfrm>
            <a:off x="1325880" y="2487168"/>
            <a:ext cx="3291840" cy="731520"/>
          </a:xfrm>
          <a:prstGeom prst="rect">
            <a:avLst/>
          </a:prstGeom>
          <a:noFill/>
          <a:ln/>
        </p:spPr>
        <p:txBody>
          <a:bodyPr wrap="square" lIns="0" tIns="0" rIns="0" bIns="0" rtlCol="0" anchor="ctr"/>
          <a:lstStyle/>
          <a:p>
            <a:pPr indent="0" marL="0">
              <a:buNone/>
            </a:pPr>
            <a:r>
              <a:rPr lang="en-US" sz="1400" b="1" dirty="0">
                <a:solidFill>
                  <a:srgbClr val="20303F"/>
                </a:solidFill>
                <a:latin typeface="Meiryo UI" pitchFamily="34" charset="0"/>
                <a:ea typeface="Meiryo UI" pitchFamily="34" charset="-122"/>
                <a:cs typeface="Meiryo UI" pitchFamily="34" charset="-120"/>
              </a:rPr>
              <a:t>最終責任は利用者にある</a:t>
            </a:r>
            <a:endParaRPr lang="en-US" sz="1400" dirty="0"/>
          </a:p>
        </p:txBody>
      </p:sp>
      <p:sp>
        <p:nvSpPr>
          <p:cNvPr id="11" name="Text 9"/>
          <p:cNvSpPr/>
          <p:nvPr/>
        </p:nvSpPr>
        <p:spPr>
          <a:xfrm>
            <a:off x="4709160" y="2487168"/>
            <a:ext cx="6400800" cy="731520"/>
          </a:xfrm>
          <a:prstGeom prst="rect">
            <a:avLst/>
          </a:prstGeom>
          <a:noFill/>
          <a:ln/>
        </p:spPr>
        <p:txBody>
          <a:bodyPr wrap="square" lIns="0" tIns="0" rIns="0" bIns="0" rtlCol="0" anchor="ctr"/>
          <a:lstStyle/>
          <a:p>
            <a:pPr indent="0" marL="0">
              <a:lnSpc>
                <a:spcPct val="115000"/>
              </a:lnSpc>
              <a:buNone/>
            </a:pPr>
            <a:r>
              <a:rPr lang="en-US" sz="1150" dirty="0">
                <a:solidFill>
                  <a:srgbClr val="5E7182"/>
                </a:solidFill>
                <a:latin typeface="Meiryo UI" pitchFamily="34" charset="0"/>
                <a:ea typeface="Meiryo UI" pitchFamily="34" charset="-122"/>
                <a:cs typeface="Meiryo UI" pitchFamily="34" charset="-120"/>
              </a:rPr>
              <a:t>Copilotが書いた文書も、送信・提出した人の責任。自分の目で確認してから使う</a:t>
            </a:r>
            <a:endParaRPr lang="en-US" sz="1150" dirty="0"/>
          </a:p>
        </p:txBody>
      </p:sp>
      <p:sp>
        <p:nvSpPr>
          <p:cNvPr id="12" name="Shape 10"/>
          <p:cNvSpPr/>
          <p:nvPr/>
        </p:nvSpPr>
        <p:spPr>
          <a:xfrm>
            <a:off x="640080" y="3447288"/>
            <a:ext cx="475488" cy="475488"/>
          </a:xfrm>
          <a:prstGeom prst="ellipse">
            <a:avLst/>
          </a:prstGeom>
          <a:solidFill>
            <a:srgbClr val="1C7293"/>
          </a:solidFill>
          <a:ln/>
        </p:spPr>
      </p:sp>
      <p:sp>
        <p:nvSpPr>
          <p:cNvPr id="13" name="Text 11"/>
          <p:cNvSpPr/>
          <p:nvPr/>
        </p:nvSpPr>
        <p:spPr>
          <a:xfrm>
            <a:off x="640080" y="344728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3</a:t>
            </a:r>
            <a:endParaRPr lang="en-US" sz="1600" dirty="0"/>
          </a:p>
        </p:txBody>
      </p:sp>
      <p:sp>
        <p:nvSpPr>
          <p:cNvPr id="14" name="Text 12"/>
          <p:cNvSpPr/>
          <p:nvPr/>
        </p:nvSpPr>
        <p:spPr>
          <a:xfrm>
            <a:off x="1325880" y="3328416"/>
            <a:ext cx="3291840" cy="731520"/>
          </a:xfrm>
          <a:prstGeom prst="rect">
            <a:avLst/>
          </a:prstGeom>
          <a:noFill/>
          <a:ln/>
        </p:spPr>
        <p:txBody>
          <a:bodyPr wrap="square" lIns="0" tIns="0" rIns="0" bIns="0" rtlCol="0" anchor="ctr"/>
          <a:lstStyle/>
          <a:p>
            <a:pPr indent="0" marL="0">
              <a:buNone/>
            </a:pPr>
            <a:r>
              <a:rPr lang="en-US" sz="1400" b="1" dirty="0">
                <a:solidFill>
                  <a:srgbClr val="20303F"/>
                </a:solidFill>
                <a:latin typeface="Meiryo UI" pitchFamily="34" charset="0"/>
                <a:ea typeface="Meiryo UI" pitchFamily="34" charset="-122"/>
                <a:cs typeface="Meiryo UI" pitchFamily="34" charset="-120"/>
              </a:rPr>
              <a:t>機密情報の扱いは社内規程どおり</a:t>
            </a:r>
            <a:endParaRPr lang="en-US" sz="1400" dirty="0"/>
          </a:p>
        </p:txBody>
      </p:sp>
      <p:sp>
        <p:nvSpPr>
          <p:cNvPr id="15" name="Text 13"/>
          <p:cNvSpPr/>
          <p:nvPr/>
        </p:nvSpPr>
        <p:spPr>
          <a:xfrm>
            <a:off x="4709160" y="3328416"/>
            <a:ext cx="6400800" cy="731520"/>
          </a:xfrm>
          <a:prstGeom prst="rect">
            <a:avLst/>
          </a:prstGeom>
          <a:noFill/>
          <a:ln/>
        </p:spPr>
        <p:txBody>
          <a:bodyPr wrap="square" lIns="0" tIns="0" rIns="0" bIns="0" rtlCol="0" anchor="ctr"/>
          <a:lstStyle/>
          <a:p>
            <a:pPr indent="0" marL="0">
              <a:lnSpc>
                <a:spcPct val="115000"/>
              </a:lnSpc>
              <a:buNone/>
            </a:pPr>
            <a:r>
              <a:rPr lang="en-US" sz="1150" dirty="0">
                <a:solidFill>
                  <a:srgbClr val="5E7182"/>
                </a:solidFill>
                <a:latin typeface="Meiryo UI" pitchFamily="34" charset="0"/>
                <a:ea typeface="Meiryo UI" pitchFamily="34" charset="-122"/>
                <a:cs typeface="Meiryo UI" pitchFamily="34" charset="-120"/>
              </a:rPr>
              <a:t>Copilot以外の一般的なAIサービス（個人契約のチャットAI等）に社内情報を入力しない</a:t>
            </a:r>
            <a:endParaRPr lang="en-US" sz="1150" dirty="0"/>
          </a:p>
        </p:txBody>
      </p:sp>
      <p:sp>
        <p:nvSpPr>
          <p:cNvPr id="16" name="Shape 14"/>
          <p:cNvSpPr/>
          <p:nvPr/>
        </p:nvSpPr>
        <p:spPr>
          <a:xfrm>
            <a:off x="640080" y="4288536"/>
            <a:ext cx="475488" cy="475488"/>
          </a:xfrm>
          <a:prstGeom prst="ellipse">
            <a:avLst/>
          </a:prstGeom>
          <a:solidFill>
            <a:srgbClr val="1C7293"/>
          </a:solidFill>
          <a:ln/>
        </p:spPr>
      </p:sp>
      <p:sp>
        <p:nvSpPr>
          <p:cNvPr id="17" name="Text 15"/>
          <p:cNvSpPr/>
          <p:nvPr/>
        </p:nvSpPr>
        <p:spPr>
          <a:xfrm>
            <a:off x="640080" y="428853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4</a:t>
            </a:r>
            <a:endParaRPr lang="en-US" sz="1600" dirty="0"/>
          </a:p>
        </p:txBody>
      </p:sp>
      <p:sp>
        <p:nvSpPr>
          <p:cNvPr id="18" name="Text 16"/>
          <p:cNvSpPr/>
          <p:nvPr/>
        </p:nvSpPr>
        <p:spPr>
          <a:xfrm>
            <a:off x="1325880" y="4169664"/>
            <a:ext cx="3291840" cy="731520"/>
          </a:xfrm>
          <a:prstGeom prst="rect">
            <a:avLst/>
          </a:prstGeom>
          <a:noFill/>
          <a:ln/>
        </p:spPr>
        <p:txBody>
          <a:bodyPr wrap="square" lIns="0" tIns="0" rIns="0" bIns="0" rtlCol="0" anchor="ctr"/>
          <a:lstStyle/>
          <a:p>
            <a:pPr indent="0" marL="0">
              <a:buNone/>
            </a:pPr>
            <a:r>
              <a:rPr lang="en-US" sz="1400" b="1" dirty="0">
                <a:solidFill>
                  <a:srgbClr val="20303F"/>
                </a:solidFill>
                <a:latin typeface="Meiryo UI" pitchFamily="34" charset="0"/>
                <a:ea typeface="Meiryo UI" pitchFamily="34" charset="-122"/>
                <a:cs typeface="Meiryo UI" pitchFamily="34" charset="-120"/>
              </a:rPr>
              <a:t>アクセス権に注意する</a:t>
            </a:r>
            <a:endParaRPr lang="en-US" sz="1400" dirty="0"/>
          </a:p>
        </p:txBody>
      </p:sp>
      <p:sp>
        <p:nvSpPr>
          <p:cNvPr id="19" name="Text 17"/>
          <p:cNvSpPr/>
          <p:nvPr/>
        </p:nvSpPr>
        <p:spPr>
          <a:xfrm>
            <a:off x="4709160" y="4169664"/>
            <a:ext cx="6400800" cy="731520"/>
          </a:xfrm>
          <a:prstGeom prst="rect">
            <a:avLst/>
          </a:prstGeom>
          <a:noFill/>
          <a:ln/>
        </p:spPr>
        <p:txBody>
          <a:bodyPr wrap="square" lIns="0" tIns="0" rIns="0" bIns="0" rtlCol="0" anchor="ctr"/>
          <a:lstStyle/>
          <a:p>
            <a:pPr indent="0" marL="0">
              <a:lnSpc>
                <a:spcPct val="115000"/>
              </a:lnSpc>
              <a:buNone/>
            </a:pPr>
            <a:r>
              <a:rPr lang="en-US" sz="1150" dirty="0">
                <a:solidFill>
                  <a:srgbClr val="5E7182"/>
                </a:solidFill>
                <a:latin typeface="Meiryo UI" pitchFamily="34" charset="0"/>
                <a:ea typeface="Meiryo UI" pitchFamily="34" charset="-122"/>
                <a:cs typeface="Meiryo UI" pitchFamily="34" charset="-120"/>
              </a:rPr>
              <a:t>「見えてはいけない情報」が回答に出てきたら、すぐ推進リーダーへ報告する</a:t>
            </a:r>
            <a:endParaRPr lang="en-US" sz="1150" dirty="0"/>
          </a:p>
        </p:txBody>
      </p:sp>
      <p:sp>
        <p:nvSpPr>
          <p:cNvPr id="20" name="Shape 18"/>
          <p:cNvSpPr/>
          <p:nvPr/>
        </p:nvSpPr>
        <p:spPr>
          <a:xfrm>
            <a:off x="640080" y="5129784"/>
            <a:ext cx="475488" cy="475488"/>
          </a:xfrm>
          <a:prstGeom prst="ellipse">
            <a:avLst/>
          </a:prstGeom>
          <a:solidFill>
            <a:srgbClr val="1C7293"/>
          </a:solidFill>
          <a:ln/>
        </p:spPr>
      </p:sp>
      <p:sp>
        <p:nvSpPr>
          <p:cNvPr id="21" name="Text 19"/>
          <p:cNvSpPr/>
          <p:nvPr/>
        </p:nvSpPr>
        <p:spPr>
          <a:xfrm>
            <a:off x="640080" y="512978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UI" pitchFamily="34" charset="0"/>
                <a:ea typeface="Meiryo UI" pitchFamily="34" charset="-122"/>
                <a:cs typeface="Meiryo UI" pitchFamily="34" charset="-120"/>
              </a:rPr>
              <a:t>5</a:t>
            </a:r>
            <a:endParaRPr lang="en-US" sz="1600" dirty="0"/>
          </a:p>
        </p:txBody>
      </p:sp>
      <p:sp>
        <p:nvSpPr>
          <p:cNvPr id="22" name="Text 20"/>
          <p:cNvSpPr/>
          <p:nvPr/>
        </p:nvSpPr>
        <p:spPr>
          <a:xfrm>
            <a:off x="1325880" y="5010912"/>
            <a:ext cx="3291840" cy="731520"/>
          </a:xfrm>
          <a:prstGeom prst="rect">
            <a:avLst/>
          </a:prstGeom>
          <a:noFill/>
          <a:ln/>
        </p:spPr>
        <p:txBody>
          <a:bodyPr wrap="square" lIns="0" tIns="0" rIns="0" bIns="0" rtlCol="0" anchor="ctr"/>
          <a:lstStyle/>
          <a:p>
            <a:pPr indent="0" marL="0">
              <a:buNone/>
            </a:pPr>
            <a:r>
              <a:rPr lang="en-US" sz="1400" b="1" dirty="0">
                <a:solidFill>
                  <a:srgbClr val="20303F"/>
                </a:solidFill>
                <a:latin typeface="Meiryo UI" pitchFamily="34" charset="0"/>
                <a:ea typeface="Meiryo UI" pitchFamily="34" charset="-122"/>
                <a:cs typeface="Meiryo UI" pitchFamily="34" charset="-120"/>
              </a:rPr>
              <a:t>著作権に配慮する</a:t>
            </a:r>
            <a:endParaRPr lang="en-US" sz="1400" dirty="0"/>
          </a:p>
        </p:txBody>
      </p:sp>
      <p:sp>
        <p:nvSpPr>
          <p:cNvPr id="23" name="Text 21"/>
          <p:cNvSpPr/>
          <p:nvPr/>
        </p:nvSpPr>
        <p:spPr>
          <a:xfrm>
            <a:off x="4709160" y="5010912"/>
            <a:ext cx="6400800" cy="731520"/>
          </a:xfrm>
          <a:prstGeom prst="rect">
            <a:avLst/>
          </a:prstGeom>
          <a:noFill/>
          <a:ln/>
        </p:spPr>
        <p:txBody>
          <a:bodyPr wrap="square" lIns="0" tIns="0" rIns="0" bIns="0" rtlCol="0" anchor="ctr"/>
          <a:lstStyle/>
          <a:p>
            <a:pPr indent="0" marL="0">
              <a:lnSpc>
                <a:spcPct val="115000"/>
              </a:lnSpc>
              <a:buNone/>
            </a:pPr>
            <a:r>
              <a:rPr lang="en-US" sz="1150" dirty="0">
                <a:solidFill>
                  <a:srgbClr val="5E7182"/>
                </a:solidFill>
                <a:latin typeface="Meiryo UI" pitchFamily="34" charset="0"/>
                <a:ea typeface="Meiryo UI" pitchFamily="34" charset="-122"/>
                <a:cs typeface="Meiryo UI" pitchFamily="34" charset="-120"/>
              </a:rPr>
              <a:t>生成物を社外向けに使う場合は、既存の著作物と酷似していないか確認する</a:t>
            </a:r>
            <a:endParaRPr lang="en-US" sz="1150" dirty="0"/>
          </a:p>
        </p:txBody>
      </p:sp>
      <p:sp>
        <p:nvSpPr>
          <p:cNvPr id="24" name="Shape 22"/>
          <p:cNvSpPr/>
          <p:nvPr/>
        </p:nvSpPr>
        <p:spPr>
          <a:xfrm>
            <a:off x="548640" y="5897880"/>
            <a:ext cx="11091672" cy="566928"/>
          </a:xfrm>
          <a:prstGeom prst="roundRect">
            <a:avLst>
              <a:gd name="adj" fmla="val 12903"/>
            </a:avLst>
          </a:prstGeom>
          <a:solidFill>
            <a:srgbClr val="EFF6FA"/>
          </a:solidFill>
          <a:ln/>
        </p:spPr>
      </p:sp>
      <p:sp>
        <p:nvSpPr>
          <p:cNvPr id="25" name="Shape 23"/>
          <p:cNvSpPr/>
          <p:nvPr/>
        </p:nvSpPr>
        <p:spPr>
          <a:xfrm>
            <a:off x="713232" y="5971032"/>
            <a:ext cx="420624" cy="420624"/>
          </a:xfrm>
          <a:prstGeom prst="ellipse">
            <a:avLst/>
          </a:prstGeom>
          <a:solidFill>
            <a:srgbClr val="065A82"/>
          </a:solidFill>
          <a:ln/>
        </p:spPr>
      </p:sp>
      <p:pic>
        <p:nvPicPr>
          <p:cNvPr id="26" name="Image 0" descr="preencoded.png">    </p:cNvPr>
          <p:cNvPicPr>
            <a:picLocks noChangeAspect="1"/>
          </p:cNvPicPr>
          <p:nvPr/>
        </p:nvPicPr>
        <p:blipFill>
          <a:blip r:embed="rId1"/>
          <a:stretch>
            <a:fillRect/>
          </a:stretch>
        </p:blipFill>
        <p:spPr>
          <a:xfrm>
            <a:off x="822594" y="6080394"/>
            <a:ext cx="201900" cy="201900"/>
          </a:xfrm>
          <a:prstGeom prst="rect">
            <a:avLst/>
          </a:prstGeom>
        </p:spPr>
      </p:pic>
      <p:sp>
        <p:nvSpPr>
          <p:cNvPr id="27" name="Text 24"/>
          <p:cNvSpPr/>
          <p:nvPr/>
        </p:nvSpPr>
        <p:spPr>
          <a:xfrm>
            <a:off x="1280160" y="5897880"/>
            <a:ext cx="10149840" cy="566928"/>
          </a:xfrm>
          <a:prstGeom prst="rect">
            <a:avLst/>
          </a:prstGeom>
          <a:noFill/>
          <a:ln/>
        </p:spPr>
        <p:txBody>
          <a:bodyPr wrap="square" lIns="0" tIns="0" rIns="0" bIns="0" rtlCol="0" anchor="ctr"/>
          <a:lstStyle/>
          <a:p>
            <a:pPr indent="0" marL="0">
              <a:buNone/>
            </a:pPr>
            <a:r>
              <a:rPr lang="en-US" sz="1200" b="1" dirty="0">
                <a:solidFill>
                  <a:srgbClr val="065A82"/>
                </a:solidFill>
                <a:latin typeface="Meiryo UI" pitchFamily="34" charset="0"/>
                <a:ea typeface="Meiryo UI" pitchFamily="34" charset="-122"/>
                <a:cs typeface="Meiryo UI" pitchFamily="34" charset="-120"/>
              </a:rPr>
              <a:t>Copilotは組織のテナント内でデータが保護され、入力内容がAIの学習に使われることはありません</a:t>
            </a:r>
            <a:endParaRPr lang="en-US" sz="1200" dirty="0"/>
          </a:p>
        </p:txBody>
      </p:sp>
      <p:sp>
        <p:nvSpPr>
          <p:cNvPr id="28" name="Text 25"/>
          <p:cNvSpPr/>
          <p:nvPr/>
        </p:nvSpPr>
        <p:spPr>
          <a:xfrm>
            <a:off x="8897112" y="6473952"/>
            <a:ext cx="2743200" cy="274320"/>
          </a:xfrm>
          <a:prstGeom prst="rect">
            <a:avLst/>
          </a:prstGeom>
          <a:noFill/>
          <a:ln/>
        </p:spPr>
        <p:txBody>
          <a:bodyPr wrap="square" lIns="0" tIns="0" rIns="0" bIns="0" rtlCol="0" anchor="ctr"/>
          <a:lstStyle/>
          <a:p>
            <a:pPr algn="r" indent="0" marL="0">
              <a:buNone/>
            </a:pPr>
            <a:r>
              <a:rPr lang="en-US" sz="900" dirty="0">
                <a:solidFill>
                  <a:srgbClr val="9AAAB8"/>
                </a:solidFill>
                <a:latin typeface="Meiryo UI" pitchFamily="34" charset="0"/>
                <a:ea typeface="Meiryo UI" pitchFamily="34" charset="-122"/>
                <a:cs typeface="Meiryo UI" pitchFamily="34" charset="-120"/>
              </a:rPr>
              <a:t>Microsoft 365 Copilot 活用ガイド｜12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594360"/>
          </a:xfrm>
          <a:prstGeom prst="rect">
            <a:avLst/>
          </a:prstGeom>
          <a:noFill/>
          <a:ln/>
        </p:spPr>
        <p:txBody>
          <a:bodyPr wrap="square" lIns="0" tIns="0" rIns="0" bIns="0" rtlCol="0" anchor="ctr"/>
          <a:lstStyle/>
          <a:p>
            <a:pPr algn="l" indent="0" marL="0">
              <a:buNone/>
            </a:pPr>
            <a:r>
              <a:rPr lang="en-US" sz="2800" b="1" dirty="0">
                <a:solidFill>
                  <a:srgbClr val="065A82"/>
                </a:solidFill>
                <a:latin typeface="Meiryo UI" pitchFamily="34" charset="0"/>
                <a:ea typeface="Meiryo UI" pitchFamily="34" charset="-122"/>
                <a:cs typeface="Meiryo UI" pitchFamily="34" charset="-120"/>
              </a:rPr>
              <a:t>推進体制と進捗の測り方</a:t>
            </a:r>
            <a:endParaRPr lang="en-US" sz="28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algn="l" indent="0" marL="0">
              <a:buNone/>
            </a:pPr>
            <a:r>
              <a:rPr lang="en-US" sz="1300" dirty="0">
                <a:solidFill>
                  <a:srgbClr val="5E7182"/>
                </a:solidFill>
                <a:latin typeface="Meiryo UI" pitchFamily="34" charset="0"/>
                <a:ea typeface="Meiryo UI" pitchFamily="34" charset="-122"/>
                <a:cs typeface="Meiryo UI" pitchFamily="34" charset="-120"/>
              </a:rPr>
              <a:t>「使え」と言うだけでは定着しない。体制とKPIで支える</a:t>
            </a:r>
            <a:endParaRPr lang="en-US" sz="1300" dirty="0"/>
          </a:p>
        </p:txBody>
      </p:sp>
      <p:sp>
        <p:nvSpPr>
          <p:cNvPr id="4" name="Text 2"/>
          <p:cNvSpPr/>
          <p:nvPr/>
        </p:nvSpPr>
        <p:spPr>
          <a:xfrm>
            <a:off x="548640" y="1554480"/>
            <a:ext cx="5394960" cy="411480"/>
          </a:xfrm>
          <a:prstGeom prst="rect">
            <a:avLst/>
          </a:prstGeom>
          <a:noFill/>
          <a:ln/>
        </p:spPr>
        <p:txBody>
          <a:bodyPr wrap="square" lIns="0" tIns="0" rIns="0" bIns="0" rtlCol="0" anchor="ctr"/>
          <a:lstStyle/>
          <a:p>
            <a:pPr indent="0" marL="0">
              <a:buNone/>
            </a:pPr>
            <a:r>
              <a:rPr lang="en-US" sz="1700" b="1" dirty="0">
                <a:solidFill>
                  <a:srgbClr val="065A82"/>
                </a:solidFill>
                <a:latin typeface="Meiryo UI" pitchFamily="34" charset="0"/>
                <a:ea typeface="Meiryo UI" pitchFamily="34" charset="-122"/>
                <a:cs typeface="Meiryo UI" pitchFamily="34" charset="-120"/>
              </a:rPr>
              <a:t>推進体制</a:t>
            </a:r>
            <a:endParaRPr lang="en-US" sz="1700" dirty="0"/>
          </a:p>
        </p:txBody>
      </p:sp>
      <p:sp>
        <p:nvSpPr>
          <p:cNvPr id="5" name="Shape 3"/>
          <p:cNvSpPr/>
          <p:nvPr/>
        </p:nvSpPr>
        <p:spPr>
          <a:xfrm>
            <a:off x="548640" y="2057400"/>
            <a:ext cx="5394960" cy="1078992"/>
          </a:xfrm>
          <a:prstGeom prst="roundRect">
            <a:avLst>
              <a:gd name="adj" fmla="val 6780"/>
            </a:avLst>
          </a:prstGeom>
          <a:solidFill>
            <a:srgbClr val="EFF6FA"/>
          </a:solidFill>
          <a:ln/>
        </p:spPr>
      </p:sp>
      <p:sp>
        <p:nvSpPr>
          <p:cNvPr id="6" name="Shape 4"/>
          <p:cNvSpPr/>
          <p:nvPr/>
        </p:nvSpPr>
        <p:spPr>
          <a:xfrm>
            <a:off x="777240" y="2295144"/>
            <a:ext cx="585216" cy="585216"/>
          </a:xfrm>
          <a:prstGeom prst="ellipse">
            <a:avLst/>
          </a:prstGeom>
          <a:solidFill>
            <a:srgbClr val="1C7293"/>
          </a:solidFill>
          <a:ln/>
        </p:spPr>
      </p:sp>
      <p:pic>
        <p:nvPicPr>
          <p:cNvPr id="7" name="Image 0" descr="preencoded.png">    </p:cNvPr>
          <p:cNvPicPr>
            <a:picLocks noChangeAspect="1"/>
          </p:cNvPicPr>
          <p:nvPr/>
        </p:nvPicPr>
        <p:blipFill>
          <a:blip r:embed="rId1"/>
          <a:stretch>
            <a:fillRect/>
          </a:stretch>
        </p:blipFill>
        <p:spPr>
          <a:xfrm>
            <a:off x="929396" y="2447300"/>
            <a:ext cx="280904" cy="280904"/>
          </a:xfrm>
          <a:prstGeom prst="rect">
            <a:avLst/>
          </a:prstGeom>
        </p:spPr>
      </p:pic>
      <p:sp>
        <p:nvSpPr>
          <p:cNvPr id="8" name="Text 5"/>
          <p:cNvSpPr/>
          <p:nvPr/>
        </p:nvSpPr>
        <p:spPr>
          <a:xfrm>
            <a:off x="1536192" y="2185416"/>
            <a:ext cx="4206240" cy="411480"/>
          </a:xfrm>
          <a:prstGeom prst="rect">
            <a:avLst/>
          </a:prstGeom>
          <a:noFill/>
          <a:ln/>
        </p:spPr>
        <p:txBody>
          <a:bodyPr wrap="square" lIns="0" tIns="0" rIns="0" bIns="0" rtlCol="0" anchor="ctr"/>
          <a:lstStyle/>
          <a:p>
            <a:pPr indent="0" marL="0">
              <a:buNone/>
            </a:pPr>
            <a:r>
              <a:rPr lang="en-US" sz="1400" b="1" dirty="0">
                <a:solidFill>
                  <a:srgbClr val="20303F"/>
                </a:solidFill>
                <a:latin typeface="Meiryo UI" pitchFamily="34" charset="0"/>
                <a:ea typeface="Meiryo UI" pitchFamily="34" charset="-122"/>
                <a:cs typeface="Meiryo UI" pitchFamily="34" charset="-120"/>
              </a:rPr>
              <a:t>推進リーダー（1名）</a:t>
            </a:r>
            <a:endParaRPr lang="en-US" sz="1400" dirty="0"/>
          </a:p>
        </p:txBody>
      </p:sp>
      <p:sp>
        <p:nvSpPr>
          <p:cNvPr id="9" name="Text 6"/>
          <p:cNvSpPr/>
          <p:nvPr/>
        </p:nvSpPr>
        <p:spPr>
          <a:xfrm>
            <a:off x="1536192" y="2606040"/>
            <a:ext cx="4206240" cy="457200"/>
          </a:xfrm>
          <a:prstGeom prst="rect">
            <a:avLst/>
          </a:prstGeom>
          <a:noFill/>
          <a:ln/>
        </p:spPr>
        <p:txBody>
          <a:bodyPr wrap="square" lIns="0" tIns="0" rIns="0" bIns="0" rtlCol="0" anchor="ctr"/>
          <a:lstStyle/>
          <a:p>
            <a:pPr indent="0" marL="0">
              <a:buNone/>
            </a:pPr>
            <a:r>
              <a:rPr lang="en-US" sz="1100" dirty="0">
                <a:solidFill>
                  <a:srgbClr val="5E7182"/>
                </a:solidFill>
                <a:latin typeface="Meiryo UI" pitchFamily="34" charset="0"/>
                <a:ea typeface="Meiryo UI" pitchFamily="34" charset="-122"/>
                <a:cs typeface="Meiryo UI" pitchFamily="34" charset="-120"/>
              </a:rPr>
              <a:t>全体計画・ルール整備・効果測定・経営層への報告</a:t>
            </a:r>
            <a:endParaRPr lang="en-US" sz="1100" dirty="0"/>
          </a:p>
        </p:txBody>
      </p:sp>
      <p:sp>
        <p:nvSpPr>
          <p:cNvPr id="10" name="Shape 7"/>
          <p:cNvSpPr/>
          <p:nvPr/>
        </p:nvSpPr>
        <p:spPr>
          <a:xfrm>
            <a:off x="548640" y="3291840"/>
            <a:ext cx="5394960" cy="1078992"/>
          </a:xfrm>
          <a:prstGeom prst="roundRect">
            <a:avLst>
              <a:gd name="adj" fmla="val 6780"/>
            </a:avLst>
          </a:prstGeom>
          <a:solidFill>
            <a:srgbClr val="EFF6FA"/>
          </a:solidFill>
          <a:ln/>
        </p:spPr>
      </p:sp>
      <p:sp>
        <p:nvSpPr>
          <p:cNvPr id="11" name="Shape 8"/>
          <p:cNvSpPr/>
          <p:nvPr/>
        </p:nvSpPr>
        <p:spPr>
          <a:xfrm>
            <a:off x="777240" y="3529584"/>
            <a:ext cx="585216" cy="585216"/>
          </a:xfrm>
          <a:prstGeom prst="ellipse">
            <a:avLst/>
          </a:prstGeom>
          <a:solidFill>
            <a:srgbClr val="1C7293"/>
          </a:solidFill>
          <a:ln/>
        </p:spPr>
      </p:sp>
      <p:pic>
        <p:nvPicPr>
          <p:cNvPr id="12" name="Image 1" descr="preencoded.png">    </p:cNvPr>
          <p:cNvPicPr>
            <a:picLocks noChangeAspect="1"/>
          </p:cNvPicPr>
          <p:nvPr/>
        </p:nvPicPr>
        <p:blipFill>
          <a:blip r:embed="rId2"/>
          <a:stretch>
            <a:fillRect/>
          </a:stretch>
        </p:blipFill>
        <p:spPr>
          <a:xfrm>
            <a:off x="929396" y="3681740"/>
            <a:ext cx="280904" cy="280904"/>
          </a:xfrm>
          <a:prstGeom prst="rect">
            <a:avLst/>
          </a:prstGeom>
        </p:spPr>
      </p:pic>
      <p:sp>
        <p:nvSpPr>
          <p:cNvPr id="13" name="Text 9"/>
          <p:cNvSpPr/>
          <p:nvPr/>
        </p:nvSpPr>
        <p:spPr>
          <a:xfrm>
            <a:off x="1536192" y="3419856"/>
            <a:ext cx="4206240" cy="411480"/>
          </a:xfrm>
          <a:prstGeom prst="rect">
            <a:avLst/>
          </a:prstGeom>
          <a:noFill/>
          <a:ln/>
        </p:spPr>
        <p:txBody>
          <a:bodyPr wrap="square" lIns="0" tIns="0" rIns="0" bIns="0" rtlCol="0" anchor="ctr"/>
          <a:lstStyle/>
          <a:p>
            <a:pPr indent="0" marL="0">
              <a:buNone/>
            </a:pPr>
            <a:r>
              <a:rPr lang="en-US" sz="1400" b="1" dirty="0">
                <a:solidFill>
                  <a:srgbClr val="20303F"/>
                </a:solidFill>
                <a:latin typeface="Meiryo UI" pitchFamily="34" charset="0"/>
                <a:ea typeface="Meiryo UI" pitchFamily="34" charset="-122"/>
                <a:cs typeface="Meiryo UI" pitchFamily="34" charset="-120"/>
              </a:rPr>
              <a:t>チャンピオン（各チーム1名）</a:t>
            </a:r>
            <a:endParaRPr lang="en-US" sz="1400" dirty="0"/>
          </a:p>
        </p:txBody>
      </p:sp>
      <p:sp>
        <p:nvSpPr>
          <p:cNvPr id="14" name="Text 10"/>
          <p:cNvSpPr/>
          <p:nvPr/>
        </p:nvSpPr>
        <p:spPr>
          <a:xfrm>
            <a:off x="1536192" y="3840480"/>
            <a:ext cx="4206240" cy="457200"/>
          </a:xfrm>
          <a:prstGeom prst="rect">
            <a:avLst/>
          </a:prstGeom>
          <a:noFill/>
          <a:ln/>
        </p:spPr>
        <p:txBody>
          <a:bodyPr wrap="square" lIns="0" tIns="0" rIns="0" bIns="0" rtlCol="0" anchor="ctr"/>
          <a:lstStyle/>
          <a:p>
            <a:pPr indent="0" marL="0">
              <a:buNone/>
            </a:pPr>
            <a:r>
              <a:rPr lang="en-US" sz="1100" dirty="0">
                <a:solidFill>
                  <a:srgbClr val="5E7182"/>
                </a:solidFill>
                <a:latin typeface="Meiryo UI" pitchFamily="34" charset="0"/>
                <a:ea typeface="Meiryo UI" pitchFamily="34" charset="-122"/>
                <a:cs typeface="Meiryo UI" pitchFamily="34" charset="-120"/>
              </a:rPr>
              <a:t>メンバーの質問対応・事例収集・共有会の運営</a:t>
            </a:r>
            <a:endParaRPr lang="en-US" sz="1100" dirty="0"/>
          </a:p>
        </p:txBody>
      </p:sp>
      <p:sp>
        <p:nvSpPr>
          <p:cNvPr id="15" name="Shape 11"/>
          <p:cNvSpPr/>
          <p:nvPr/>
        </p:nvSpPr>
        <p:spPr>
          <a:xfrm>
            <a:off x="548640" y="4526280"/>
            <a:ext cx="5394960" cy="1078992"/>
          </a:xfrm>
          <a:prstGeom prst="roundRect">
            <a:avLst>
              <a:gd name="adj" fmla="val 6780"/>
            </a:avLst>
          </a:prstGeom>
          <a:solidFill>
            <a:srgbClr val="EFF6FA"/>
          </a:solidFill>
          <a:ln/>
        </p:spPr>
      </p:sp>
      <p:sp>
        <p:nvSpPr>
          <p:cNvPr id="16" name="Shape 12"/>
          <p:cNvSpPr/>
          <p:nvPr/>
        </p:nvSpPr>
        <p:spPr>
          <a:xfrm>
            <a:off x="777240" y="4764024"/>
            <a:ext cx="585216" cy="585216"/>
          </a:xfrm>
          <a:prstGeom prst="ellipse">
            <a:avLst/>
          </a:prstGeom>
          <a:solidFill>
            <a:srgbClr val="1C7293"/>
          </a:solidFill>
          <a:ln/>
        </p:spPr>
      </p:sp>
      <p:pic>
        <p:nvPicPr>
          <p:cNvPr id="17" name="Image 2" descr="preencoded.png">    </p:cNvPr>
          <p:cNvPicPr>
            <a:picLocks noChangeAspect="1"/>
          </p:cNvPicPr>
          <p:nvPr/>
        </p:nvPicPr>
        <p:blipFill>
          <a:blip r:embed="rId3"/>
          <a:stretch>
            <a:fillRect/>
          </a:stretch>
        </p:blipFill>
        <p:spPr>
          <a:xfrm>
            <a:off x="929396" y="4916180"/>
            <a:ext cx="280904" cy="280904"/>
          </a:xfrm>
          <a:prstGeom prst="rect">
            <a:avLst/>
          </a:prstGeom>
        </p:spPr>
      </p:pic>
      <p:sp>
        <p:nvSpPr>
          <p:cNvPr id="18" name="Text 13"/>
          <p:cNvSpPr/>
          <p:nvPr/>
        </p:nvSpPr>
        <p:spPr>
          <a:xfrm>
            <a:off x="1536192" y="4654296"/>
            <a:ext cx="4206240" cy="411480"/>
          </a:xfrm>
          <a:prstGeom prst="rect">
            <a:avLst/>
          </a:prstGeom>
          <a:noFill/>
          <a:ln/>
        </p:spPr>
        <p:txBody>
          <a:bodyPr wrap="square" lIns="0" tIns="0" rIns="0" bIns="0" rtlCol="0" anchor="ctr"/>
          <a:lstStyle/>
          <a:p>
            <a:pPr indent="0" marL="0">
              <a:buNone/>
            </a:pPr>
            <a:r>
              <a:rPr lang="en-US" sz="1400" b="1" dirty="0">
                <a:solidFill>
                  <a:srgbClr val="20303F"/>
                </a:solidFill>
                <a:latin typeface="Meiryo UI" pitchFamily="34" charset="0"/>
                <a:ea typeface="Meiryo UI" pitchFamily="34" charset="-122"/>
                <a:cs typeface="Meiryo UI" pitchFamily="34" charset="-120"/>
              </a:rPr>
              <a:t>メンバー全員</a:t>
            </a:r>
            <a:endParaRPr lang="en-US" sz="1400" dirty="0"/>
          </a:p>
        </p:txBody>
      </p:sp>
      <p:sp>
        <p:nvSpPr>
          <p:cNvPr id="19" name="Text 14"/>
          <p:cNvSpPr/>
          <p:nvPr/>
        </p:nvSpPr>
        <p:spPr>
          <a:xfrm>
            <a:off x="1536192" y="5074920"/>
            <a:ext cx="4206240" cy="457200"/>
          </a:xfrm>
          <a:prstGeom prst="rect">
            <a:avLst/>
          </a:prstGeom>
          <a:noFill/>
          <a:ln/>
        </p:spPr>
        <p:txBody>
          <a:bodyPr wrap="square" lIns="0" tIns="0" rIns="0" bIns="0" rtlCol="0" anchor="ctr"/>
          <a:lstStyle/>
          <a:p>
            <a:pPr indent="0" marL="0">
              <a:buNone/>
            </a:pPr>
            <a:r>
              <a:rPr lang="en-US" sz="1100" dirty="0">
                <a:solidFill>
                  <a:srgbClr val="5E7182"/>
                </a:solidFill>
                <a:latin typeface="Meiryo UI" pitchFamily="34" charset="0"/>
                <a:ea typeface="Meiryo UI" pitchFamily="34" charset="-122"/>
                <a:cs typeface="Meiryo UI" pitchFamily="34" charset="-120"/>
              </a:rPr>
              <a:t>日々の実践と、うまくいった使い方の共有</a:t>
            </a:r>
            <a:endParaRPr lang="en-US" sz="1100" dirty="0"/>
          </a:p>
        </p:txBody>
      </p:sp>
      <p:sp>
        <p:nvSpPr>
          <p:cNvPr id="20" name="Text 15"/>
          <p:cNvSpPr/>
          <p:nvPr/>
        </p:nvSpPr>
        <p:spPr>
          <a:xfrm>
            <a:off x="6263640" y="1554480"/>
            <a:ext cx="5394960" cy="411480"/>
          </a:xfrm>
          <a:prstGeom prst="rect">
            <a:avLst/>
          </a:prstGeom>
          <a:noFill/>
          <a:ln/>
        </p:spPr>
        <p:txBody>
          <a:bodyPr wrap="square" lIns="0" tIns="0" rIns="0" bIns="0" rtlCol="0" anchor="ctr"/>
          <a:lstStyle/>
          <a:p>
            <a:pPr indent="0" marL="0">
              <a:buNone/>
            </a:pPr>
            <a:r>
              <a:rPr lang="en-US" sz="1700" b="1" dirty="0">
                <a:solidFill>
                  <a:srgbClr val="065A82"/>
                </a:solidFill>
                <a:latin typeface="Meiryo UI" pitchFamily="34" charset="0"/>
                <a:ea typeface="Meiryo UI" pitchFamily="34" charset="-122"/>
                <a:cs typeface="Meiryo UI" pitchFamily="34" charset="-120"/>
              </a:rPr>
              <a:t>ステップ別KPIの例</a:t>
            </a:r>
            <a:endParaRPr lang="en-US" sz="1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263640" y="2057400"/>
          <a:ext cx="5376672" cy="914400"/>
        </p:xfrm>
        <a:graphic>
          <a:graphicData uri="http://schemas.openxmlformats.org/drawingml/2006/table">
            <a:tbl>
              <a:tblPr/>
              <a:tblGrid>
                <a:gridCol w="1234440"/>
                <a:gridCol w="2404872"/>
                <a:gridCol w="1737360"/>
              </a:tblGrid>
              <a:tr h="566928">
                <a:tc>
                  <a:txBody>
                    <a:bodyPr/>
                    <a:lstStyle/>
                    <a:p>
                      <a:pPr algn="l" indent="0" marL="0">
                        <a:buNone/>
                      </a:pPr>
                      <a:r>
                        <a:rPr lang="en-US" sz="1150" b="1" dirty="0">
                          <a:solidFill>
                            <a:srgbClr val="FFFFFF"/>
                          </a:solidFill>
                          <a:latin typeface="Meiryo UI" pitchFamily="34" charset="0"/>
                          <a:ea typeface="Meiryo UI" pitchFamily="34" charset="-122"/>
                          <a:cs typeface="Meiryo UI" pitchFamily="34" charset="-120"/>
                        </a:rPr>
                        <a:t>段階</a:t>
                      </a:r>
                      <a:endParaRPr lang="en-US" sz="1150" dirty="0">
                        <a:latin typeface="Meiryo UI" charset="0"/>
                        <a:ea typeface="Meiryo UI" charset="0"/>
                        <a:cs typeface="Meiryo UI" charset="0"/>
                      </a:endParaRPr>
                    </a:p>
                  </a:txBody>
                  <a:tcPr marL="54864" marR="54864" marT="54864" marB="54864" anchor="ctr">
                    <a:lnL w="9525" cap="flat" cmpd="sng" algn="ctr">
                      <a:solidFill>
                        <a:srgbClr val="C9DCE8"/>
                      </a:solidFill>
                      <a:prstDash val="solid"/>
                      <a:round/>
                      <a:headEnd type="none" w="med" len="med"/>
                      <a:tailEnd type="none" w="med" len="med"/>
                    </a:lnL>
                    <a:lnR w="9525" cap="flat" cmpd="sng" algn="ctr">
                      <a:solidFill>
                        <a:srgbClr val="C9DCE8"/>
                      </a:solidFill>
                      <a:prstDash val="solid"/>
                      <a:round/>
                      <a:headEnd type="none" w="med" len="med"/>
                      <a:tailEnd type="none" w="med" len="med"/>
                    </a:lnR>
                    <a:lnT w="9525" cap="flat" cmpd="sng" algn="ctr">
                      <a:solidFill>
                        <a:srgbClr val="C9DCE8"/>
                      </a:solidFill>
                      <a:prstDash val="solid"/>
                      <a:round/>
                      <a:headEnd type="none" w="med" len="med"/>
                      <a:tailEnd type="none" w="med" len="med"/>
                    </a:lnT>
                    <a:lnB w="9525" cap="flat" cmpd="sng" algn="ctr">
                      <a:solidFill>
                        <a:srgbClr val="C9DCE8"/>
                      </a:solidFill>
                      <a:prstDash val="solid"/>
                      <a:round/>
                      <a:headEnd type="none" w="med" len="med"/>
                      <a:tailEnd type="none" w="med" len="med"/>
                    </a:lnB>
                    <a:solidFill>
                      <a:srgbClr val="065A82"/>
                    </a:solidFill>
                  </a:tcPr>
                </a:tc>
                <a:tc>
                  <a:txBody>
                    <a:bodyPr/>
                    <a:lstStyle/>
                    <a:p>
                      <a:pPr algn="l" indent="0" marL="0">
                        <a:buNone/>
                      </a:pPr>
                      <a:r>
                        <a:rPr lang="en-US" sz="1150" b="1" dirty="0">
                          <a:solidFill>
                            <a:srgbClr val="FFFFFF"/>
                          </a:solidFill>
                          <a:latin typeface="Meiryo UI" pitchFamily="34" charset="0"/>
                          <a:ea typeface="Meiryo UI" pitchFamily="34" charset="-122"/>
                          <a:cs typeface="Meiryo UI" pitchFamily="34" charset="-120"/>
                        </a:rPr>
                        <a:t>KPI</a:t>
                      </a:r>
                      <a:endParaRPr lang="en-US" sz="1150" dirty="0">
                        <a:latin typeface="Meiryo UI" charset="0"/>
                        <a:ea typeface="Meiryo UI" charset="0"/>
                        <a:cs typeface="Meiryo UI" charset="0"/>
                      </a:endParaRPr>
                    </a:p>
                  </a:txBody>
                  <a:tcPr marL="54864" marR="54864" marT="54864" marB="54864" anchor="ctr">
                    <a:lnL w="9525" cap="flat" cmpd="sng" algn="ctr">
                      <a:solidFill>
                        <a:srgbClr val="C9DCE8"/>
                      </a:solidFill>
                      <a:prstDash val="solid"/>
                      <a:round/>
                      <a:headEnd type="none" w="med" len="med"/>
                      <a:tailEnd type="none" w="med" len="med"/>
                    </a:lnL>
                    <a:lnR w="9525" cap="flat" cmpd="sng" algn="ctr">
                      <a:solidFill>
                        <a:srgbClr val="C9DCE8"/>
                      </a:solidFill>
                      <a:prstDash val="solid"/>
                      <a:round/>
                      <a:headEnd type="none" w="med" len="med"/>
                      <a:tailEnd type="none" w="med" len="med"/>
                    </a:lnR>
                    <a:lnT w="9525" cap="flat" cmpd="sng" algn="ctr">
                      <a:solidFill>
                        <a:srgbClr val="C9DCE8"/>
                      </a:solidFill>
                      <a:prstDash val="solid"/>
                      <a:round/>
                      <a:headEnd type="none" w="med" len="med"/>
                      <a:tailEnd type="none" w="med" len="med"/>
                    </a:lnT>
                    <a:lnB w="9525" cap="flat" cmpd="sng" algn="ctr">
                      <a:solidFill>
                        <a:srgbClr val="C9DCE8"/>
                      </a:solidFill>
                      <a:prstDash val="solid"/>
                      <a:round/>
                      <a:headEnd type="none" w="med" len="med"/>
                      <a:tailEnd type="none" w="med" len="med"/>
                    </a:lnB>
                    <a:solidFill>
                      <a:srgbClr val="065A82"/>
                    </a:solidFill>
                  </a:tcPr>
                </a:tc>
                <a:tc>
                  <a:txBody>
                    <a:bodyPr/>
                    <a:lstStyle/>
                    <a:p>
                      <a:pPr algn="l" indent="0" marL="0">
                        <a:buNone/>
                      </a:pPr>
                      <a:r>
                        <a:rPr lang="en-US" sz="1150" b="1" dirty="0">
                          <a:solidFill>
                            <a:srgbClr val="FFFFFF"/>
                          </a:solidFill>
                          <a:latin typeface="Meiryo UI" pitchFamily="34" charset="0"/>
                          <a:ea typeface="Meiryo UI" pitchFamily="34" charset="-122"/>
                          <a:cs typeface="Meiryo UI" pitchFamily="34" charset="-120"/>
                        </a:rPr>
                        <a:t>目標水準の例</a:t>
                      </a:r>
                      <a:endParaRPr lang="en-US" sz="1150" dirty="0">
                        <a:latin typeface="Meiryo UI" charset="0"/>
                        <a:ea typeface="Meiryo UI" charset="0"/>
                        <a:cs typeface="Meiryo UI" charset="0"/>
                      </a:endParaRPr>
                    </a:p>
                  </a:txBody>
                  <a:tcPr marL="54864" marR="54864" marT="54864" marB="54864" anchor="ctr">
                    <a:lnL w="9525" cap="flat" cmpd="sng" algn="ctr">
                      <a:solidFill>
                        <a:srgbClr val="C9DCE8"/>
                      </a:solidFill>
                      <a:prstDash val="solid"/>
                      <a:round/>
                      <a:headEnd type="none" w="med" len="med"/>
                      <a:tailEnd type="none" w="med" len="med"/>
                    </a:lnL>
                    <a:lnR w="9525" cap="flat" cmpd="sng" algn="ctr">
                      <a:solidFill>
                        <a:srgbClr val="C9DCE8"/>
                      </a:solidFill>
                      <a:prstDash val="solid"/>
                      <a:round/>
                      <a:headEnd type="none" w="med" len="med"/>
                      <a:tailEnd type="none" w="med" len="med"/>
                    </a:lnR>
                    <a:lnT w="9525" cap="flat" cmpd="sng" algn="ctr">
                      <a:solidFill>
                        <a:srgbClr val="C9DCE8"/>
                      </a:solidFill>
                      <a:prstDash val="solid"/>
                      <a:round/>
                      <a:headEnd type="none" w="med" len="med"/>
                      <a:tailEnd type="none" w="med" len="med"/>
                    </a:lnT>
                    <a:lnB w="9525" cap="flat" cmpd="sng" algn="ctr">
                      <a:solidFill>
                        <a:srgbClr val="C9DCE8"/>
                      </a:solidFill>
                      <a:prstDash val="solid"/>
                      <a:round/>
                      <a:headEnd type="none" w="med" len="med"/>
                      <a:tailEnd type="none" w="med" len="med"/>
                    </a:lnB>
                    <a:solidFill>
                      <a:srgbClr val="065A82"/>
                    </a:solidFill>
                  </a:tcPr>
                </a:tc>
              </a:tr>
              <a:tr h="566928">
                <a:tc>
                  <a:txBody>
                    <a:bodyPr/>
                    <a:lstStyle/>
                    <a:p>
                      <a:pPr algn="l" indent="0" marL="0">
                        <a:buNone/>
                      </a:pPr>
                      <a:r>
                        <a:rPr lang="en-US" sz="1100" dirty="0">
                          <a:solidFill>
                            <a:srgbClr val="20303F"/>
                          </a:solidFill>
                          <a:latin typeface="Meiryo UI" pitchFamily="34" charset="0"/>
                          <a:ea typeface="Meiryo UI" pitchFamily="34" charset="-122"/>
                          <a:cs typeface="Meiryo UI" pitchFamily="34" charset="-120"/>
                        </a:rPr>
                        <a:t>STEP 1〜2</a:t>
                      </a:r>
                      <a:endParaRPr lang="en-US" sz="1100" dirty="0">
                        <a:latin typeface="Meiryo UI" charset="0"/>
                        <a:ea typeface="Meiryo UI" charset="0"/>
                        <a:cs typeface="Meiryo UI" charset="0"/>
                      </a:endParaRPr>
                    </a:p>
                  </a:txBody>
                  <a:tcPr marL="54864" marR="54864" marT="54864" marB="54864" anchor="ctr">
                    <a:lnL w="9525" cap="flat" cmpd="sng" algn="ctr">
                      <a:solidFill>
                        <a:srgbClr val="C9DCE8"/>
                      </a:solidFill>
                      <a:prstDash val="solid"/>
                      <a:round/>
                      <a:headEnd type="none" w="med" len="med"/>
                      <a:tailEnd type="none" w="med" len="med"/>
                    </a:lnL>
                    <a:lnR w="9525" cap="flat" cmpd="sng" algn="ctr">
                      <a:solidFill>
                        <a:srgbClr val="C9DCE8"/>
                      </a:solidFill>
                      <a:prstDash val="solid"/>
                      <a:round/>
                      <a:headEnd type="none" w="med" len="med"/>
                      <a:tailEnd type="none" w="med" len="med"/>
                    </a:lnR>
                    <a:lnT w="9525" cap="flat" cmpd="sng" algn="ctr">
                      <a:solidFill>
                        <a:srgbClr val="C9DCE8"/>
                      </a:solidFill>
                      <a:prstDash val="solid"/>
                      <a:round/>
                      <a:headEnd type="none" w="med" len="med"/>
                      <a:tailEnd type="none" w="med" len="med"/>
                    </a:lnT>
                    <a:lnB w="9525" cap="flat" cmpd="sng" algn="ctr">
                      <a:solidFill>
                        <a:srgbClr val="C9DC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303F"/>
                          </a:solidFill>
                          <a:latin typeface="Meiryo UI" pitchFamily="34" charset="0"/>
                          <a:ea typeface="Meiryo UI" pitchFamily="34" charset="-122"/>
                          <a:cs typeface="Meiryo UI" pitchFamily="34" charset="-120"/>
                        </a:rPr>
                        <a:t>週あたりの利用率</a:t>
                      </a:r>
                      <a:endParaRPr lang="en-US" sz="1100" dirty="0">
                        <a:latin typeface="Meiryo UI" charset="0"/>
                        <a:ea typeface="Meiryo UI" charset="0"/>
                        <a:cs typeface="Meiryo UI" charset="0"/>
                      </a:endParaRPr>
                    </a:p>
                  </a:txBody>
                  <a:tcPr marL="54864" marR="54864" marT="54864" marB="54864" anchor="ctr">
                    <a:lnL w="9525" cap="flat" cmpd="sng" algn="ctr">
                      <a:solidFill>
                        <a:srgbClr val="C9DCE8"/>
                      </a:solidFill>
                      <a:prstDash val="solid"/>
                      <a:round/>
                      <a:headEnd type="none" w="med" len="med"/>
                      <a:tailEnd type="none" w="med" len="med"/>
                    </a:lnL>
                    <a:lnR w="9525" cap="flat" cmpd="sng" algn="ctr">
                      <a:solidFill>
                        <a:srgbClr val="C9DCE8"/>
                      </a:solidFill>
                      <a:prstDash val="solid"/>
                      <a:round/>
                      <a:headEnd type="none" w="med" len="med"/>
                      <a:tailEnd type="none" w="med" len="med"/>
                    </a:lnR>
                    <a:lnT w="9525" cap="flat" cmpd="sng" algn="ctr">
                      <a:solidFill>
                        <a:srgbClr val="C9DCE8"/>
                      </a:solidFill>
                      <a:prstDash val="solid"/>
                      <a:round/>
                      <a:headEnd type="none" w="med" len="med"/>
                      <a:tailEnd type="none" w="med" len="med"/>
                    </a:lnT>
                    <a:lnB w="9525" cap="flat" cmpd="sng" algn="ctr">
                      <a:solidFill>
                        <a:srgbClr val="C9DC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303F"/>
                          </a:solidFill>
                          <a:latin typeface="Meiryo UI" pitchFamily="34" charset="0"/>
                          <a:ea typeface="Meiryo UI" pitchFamily="34" charset="-122"/>
                          <a:cs typeface="Meiryo UI" pitchFamily="34" charset="-120"/>
                        </a:rPr>
                        <a:t>4週間で80%以上</a:t>
                      </a:r>
                      <a:endParaRPr lang="en-US" sz="1100" dirty="0">
                        <a:latin typeface="Meiryo UI" charset="0"/>
                        <a:ea typeface="Meiryo UI" charset="0"/>
                        <a:cs typeface="Meiryo UI" charset="0"/>
                      </a:endParaRPr>
                    </a:p>
                  </a:txBody>
                  <a:tcPr marL="54864" marR="54864" marT="54864" marB="54864" anchor="ctr">
                    <a:lnL w="9525" cap="flat" cmpd="sng" algn="ctr">
                      <a:solidFill>
                        <a:srgbClr val="C9DCE8"/>
                      </a:solidFill>
                      <a:prstDash val="solid"/>
                      <a:round/>
                      <a:headEnd type="none" w="med" len="med"/>
                      <a:tailEnd type="none" w="med" len="med"/>
                    </a:lnL>
                    <a:lnR w="9525" cap="flat" cmpd="sng" algn="ctr">
                      <a:solidFill>
                        <a:srgbClr val="C9DCE8"/>
                      </a:solidFill>
                      <a:prstDash val="solid"/>
                      <a:round/>
                      <a:headEnd type="none" w="med" len="med"/>
                      <a:tailEnd type="none" w="med" len="med"/>
                    </a:lnR>
                    <a:lnT w="9525" cap="flat" cmpd="sng" algn="ctr">
                      <a:solidFill>
                        <a:srgbClr val="C9DCE8"/>
                      </a:solidFill>
                      <a:prstDash val="solid"/>
                      <a:round/>
                      <a:headEnd type="none" w="med" len="med"/>
                      <a:tailEnd type="none" w="med" len="med"/>
                    </a:lnT>
                    <a:lnB w="9525" cap="flat" cmpd="sng" algn="ctr">
                      <a:solidFill>
                        <a:srgbClr val="C9DCE8"/>
                      </a:solidFill>
                      <a:prstDash val="solid"/>
                      <a:round/>
                      <a:headEnd type="none" w="med" len="med"/>
                      <a:tailEnd type="none" w="med" len="med"/>
                    </a:lnB>
                    <a:solidFill>
                      <a:srgbClr val="FFFFFF"/>
                    </a:solidFill>
                  </a:tcPr>
                </a:tc>
              </a:tr>
              <a:tr h="566928">
                <a:tc>
                  <a:txBody>
                    <a:bodyPr/>
                    <a:lstStyle/>
                    <a:p>
                      <a:pPr algn="l" indent="0" marL="0">
                        <a:buNone/>
                      </a:pPr>
                      <a:r>
                        <a:rPr lang="en-US" sz="1100" dirty="0">
                          <a:solidFill>
                            <a:srgbClr val="20303F"/>
                          </a:solidFill>
                          <a:latin typeface="Meiryo UI" pitchFamily="34" charset="0"/>
                          <a:ea typeface="Meiryo UI" pitchFamily="34" charset="-122"/>
                          <a:cs typeface="Meiryo UI" pitchFamily="34" charset="-120"/>
                        </a:rPr>
                        <a:t>STEP 2〜3</a:t>
                      </a:r>
                      <a:endParaRPr lang="en-US" sz="1100" dirty="0">
                        <a:latin typeface="Meiryo UI" charset="0"/>
                        <a:ea typeface="Meiryo UI" charset="0"/>
                        <a:cs typeface="Meiryo UI" charset="0"/>
                      </a:endParaRPr>
                    </a:p>
                  </a:txBody>
                  <a:tcPr marL="54864" marR="54864" marT="54864" marB="54864" anchor="ctr">
                    <a:lnL w="9525" cap="flat" cmpd="sng" algn="ctr">
                      <a:solidFill>
                        <a:srgbClr val="C9DCE8"/>
                      </a:solidFill>
                      <a:prstDash val="solid"/>
                      <a:round/>
                      <a:headEnd type="none" w="med" len="med"/>
                      <a:tailEnd type="none" w="med" len="med"/>
                    </a:lnL>
                    <a:lnR w="9525" cap="flat" cmpd="sng" algn="ctr">
                      <a:solidFill>
                        <a:srgbClr val="C9DCE8"/>
                      </a:solidFill>
                      <a:prstDash val="solid"/>
                      <a:round/>
                      <a:headEnd type="none" w="med" len="med"/>
                      <a:tailEnd type="none" w="med" len="med"/>
                    </a:lnR>
                    <a:lnT w="9525" cap="flat" cmpd="sng" algn="ctr">
                      <a:solidFill>
                        <a:srgbClr val="C9DCE8"/>
                      </a:solidFill>
                      <a:prstDash val="solid"/>
                      <a:round/>
                      <a:headEnd type="none" w="med" len="med"/>
                      <a:tailEnd type="none" w="med" len="med"/>
                    </a:lnT>
                    <a:lnB w="9525" cap="flat" cmpd="sng" algn="ctr">
                      <a:solidFill>
                        <a:srgbClr val="C9DCE8"/>
                      </a:solidFill>
                      <a:prstDash val="solid"/>
                      <a:round/>
                      <a:headEnd type="none" w="med" len="med"/>
                      <a:tailEnd type="none" w="med" len="med"/>
                    </a:lnB>
                    <a:solidFill>
                      <a:srgbClr val="EFF6FA"/>
                    </a:solidFill>
                  </a:tcPr>
                </a:tc>
                <a:tc>
                  <a:txBody>
                    <a:bodyPr/>
                    <a:lstStyle/>
                    <a:p>
                      <a:pPr algn="l" indent="0" marL="0">
                        <a:buNone/>
                      </a:pPr>
                      <a:r>
                        <a:rPr lang="en-US" sz="1100" dirty="0">
                          <a:solidFill>
                            <a:srgbClr val="20303F"/>
                          </a:solidFill>
                          <a:latin typeface="Meiryo UI" pitchFamily="34" charset="0"/>
                          <a:ea typeface="Meiryo UI" pitchFamily="34" charset="-122"/>
                          <a:cs typeface="Meiryo UI" pitchFamily="34" charset="-120"/>
                        </a:rPr>
                        <a:t>時間削減の実感（アンケート）</a:t>
                      </a:r>
                      <a:endParaRPr lang="en-US" sz="1100" dirty="0">
                        <a:latin typeface="Meiryo UI" charset="0"/>
                        <a:ea typeface="Meiryo UI" charset="0"/>
                        <a:cs typeface="Meiryo UI" charset="0"/>
                      </a:endParaRPr>
                    </a:p>
                  </a:txBody>
                  <a:tcPr marL="54864" marR="54864" marT="54864" marB="54864" anchor="ctr">
                    <a:lnL w="9525" cap="flat" cmpd="sng" algn="ctr">
                      <a:solidFill>
                        <a:srgbClr val="C9DCE8"/>
                      </a:solidFill>
                      <a:prstDash val="solid"/>
                      <a:round/>
                      <a:headEnd type="none" w="med" len="med"/>
                      <a:tailEnd type="none" w="med" len="med"/>
                    </a:lnL>
                    <a:lnR w="9525" cap="flat" cmpd="sng" algn="ctr">
                      <a:solidFill>
                        <a:srgbClr val="C9DCE8"/>
                      </a:solidFill>
                      <a:prstDash val="solid"/>
                      <a:round/>
                      <a:headEnd type="none" w="med" len="med"/>
                      <a:tailEnd type="none" w="med" len="med"/>
                    </a:lnR>
                    <a:lnT w="9525" cap="flat" cmpd="sng" algn="ctr">
                      <a:solidFill>
                        <a:srgbClr val="C9DCE8"/>
                      </a:solidFill>
                      <a:prstDash val="solid"/>
                      <a:round/>
                      <a:headEnd type="none" w="med" len="med"/>
                      <a:tailEnd type="none" w="med" len="med"/>
                    </a:lnT>
                    <a:lnB w="9525" cap="flat" cmpd="sng" algn="ctr">
                      <a:solidFill>
                        <a:srgbClr val="C9DCE8"/>
                      </a:solidFill>
                      <a:prstDash val="solid"/>
                      <a:round/>
                      <a:headEnd type="none" w="med" len="med"/>
                      <a:tailEnd type="none" w="med" len="med"/>
                    </a:lnB>
                    <a:solidFill>
                      <a:srgbClr val="EFF6FA"/>
                    </a:solidFill>
                  </a:tcPr>
                </a:tc>
                <a:tc>
                  <a:txBody>
                    <a:bodyPr/>
                    <a:lstStyle/>
                    <a:p>
                      <a:pPr algn="l" indent="0" marL="0">
                        <a:buNone/>
                      </a:pPr>
                      <a:r>
                        <a:rPr lang="en-US" sz="1100" dirty="0">
                          <a:solidFill>
                            <a:srgbClr val="20303F"/>
                          </a:solidFill>
                          <a:latin typeface="Meiryo UI" pitchFamily="34" charset="0"/>
                          <a:ea typeface="Meiryo UI" pitchFamily="34" charset="-122"/>
                          <a:cs typeface="Meiryo UI" pitchFamily="34" charset="-120"/>
                        </a:rPr>
                        <a:t>「短くなった」70%以上</a:t>
                      </a:r>
                      <a:endParaRPr lang="en-US" sz="1100" dirty="0">
                        <a:latin typeface="Meiryo UI" charset="0"/>
                        <a:ea typeface="Meiryo UI" charset="0"/>
                        <a:cs typeface="Meiryo UI" charset="0"/>
                      </a:endParaRPr>
                    </a:p>
                  </a:txBody>
                  <a:tcPr marL="54864" marR="54864" marT="54864" marB="54864" anchor="ctr">
                    <a:lnL w="9525" cap="flat" cmpd="sng" algn="ctr">
                      <a:solidFill>
                        <a:srgbClr val="C9DCE8"/>
                      </a:solidFill>
                      <a:prstDash val="solid"/>
                      <a:round/>
                      <a:headEnd type="none" w="med" len="med"/>
                      <a:tailEnd type="none" w="med" len="med"/>
                    </a:lnL>
                    <a:lnR w="9525" cap="flat" cmpd="sng" algn="ctr">
                      <a:solidFill>
                        <a:srgbClr val="C9DCE8"/>
                      </a:solidFill>
                      <a:prstDash val="solid"/>
                      <a:round/>
                      <a:headEnd type="none" w="med" len="med"/>
                      <a:tailEnd type="none" w="med" len="med"/>
                    </a:lnR>
                    <a:lnT w="9525" cap="flat" cmpd="sng" algn="ctr">
                      <a:solidFill>
                        <a:srgbClr val="C9DCE8"/>
                      </a:solidFill>
                      <a:prstDash val="solid"/>
                      <a:round/>
                      <a:headEnd type="none" w="med" len="med"/>
                      <a:tailEnd type="none" w="med" len="med"/>
                    </a:lnT>
                    <a:lnB w="9525" cap="flat" cmpd="sng" algn="ctr">
                      <a:solidFill>
                        <a:srgbClr val="C9DCE8"/>
                      </a:solidFill>
                      <a:prstDash val="solid"/>
                      <a:round/>
                      <a:headEnd type="none" w="med" len="med"/>
                      <a:tailEnd type="none" w="med" len="med"/>
                    </a:lnB>
                    <a:solidFill>
                      <a:srgbClr val="EFF6FA"/>
                    </a:solidFill>
                  </a:tcPr>
                </a:tc>
              </a:tr>
              <a:tr h="566928">
                <a:tc>
                  <a:txBody>
                    <a:bodyPr/>
                    <a:lstStyle/>
                    <a:p>
                      <a:pPr algn="l" indent="0" marL="0">
                        <a:buNone/>
                      </a:pPr>
                      <a:r>
                        <a:rPr lang="en-US" sz="1100" dirty="0">
                          <a:solidFill>
                            <a:srgbClr val="20303F"/>
                          </a:solidFill>
                          <a:latin typeface="Meiryo UI" pitchFamily="34" charset="0"/>
                          <a:ea typeface="Meiryo UI" pitchFamily="34" charset="-122"/>
                          <a:cs typeface="Meiryo UI" pitchFamily="34" charset="-120"/>
                        </a:rPr>
                        <a:t>STEP 4</a:t>
                      </a:r>
                      <a:endParaRPr lang="en-US" sz="1100" dirty="0">
                        <a:latin typeface="Meiryo UI" charset="0"/>
                        <a:ea typeface="Meiryo UI" charset="0"/>
                        <a:cs typeface="Meiryo UI" charset="0"/>
                      </a:endParaRPr>
                    </a:p>
                  </a:txBody>
                  <a:tcPr marL="54864" marR="54864" marT="54864" marB="54864" anchor="ctr">
                    <a:lnL w="9525" cap="flat" cmpd="sng" algn="ctr">
                      <a:solidFill>
                        <a:srgbClr val="C9DCE8"/>
                      </a:solidFill>
                      <a:prstDash val="solid"/>
                      <a:round/>
                      <a:headEnd type="none" w="med" len="med"/>
                      <a:tailEnd type="none" w="med" len="med"/>
                    </a:lnL>
                    <a:lnR w="9525" cap="flat" cmpd="sng" algn="ctr">
                      <a:solidFill>
                        <a:srgbClr val="C9DCE8"/>
                      </a:solidFill>
                      <a:prstDash val="solid"/>
                      <a:round/>
                      <a:headEnd type="none" w="med" len="med"/>
                      <a:tailEnd type="none" w="med" len="med"/>
                    </a:lnR>
                    <a:lnT w="9525" cap="flat" cmpd="sng" algn="ctr">
                      <a:solidFill>
                        <a:srgbClr val="C9DCE8"/>
                      </a:solidFill>
                      <a:prstDash val="solid"/>
                      <a:round/>
                      <a:headEnd type="none" w="med" len="med"/>
                      <a:tailEnd type="none" w="med" len="med"/>
                    </a:lnT>
                    <a:lnB w="9525" cap="flat" cmpd="sng" algn="ctr">
                      <a:solidFill>
                        <a:srgbClr val="C9DC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303F"/>
                          </a:solidFill>
                          <a:latin typeface="Meiryo UI" pitchFamily="34" charset="0"/>
                          <a:ea typeface="Meiryo UI" pitchFamily="34" charset="-122"/>
                          <a:cs typeface="Meiryo UI" pitchFamily="34" charset="-120"/>
                        </a:rPr>
                        <a:t>プロンプト集の登録・共有会</a:t>
                      </a:r>
                      <a:endParaRPr lang="en-US" sz="1100" dirty="0">
                        <a:latin typeface="Meiryo UI" charset="0"/>
                        <a:ea typeface="Meiryo UI" charset="0"/>
                        <a:cs typeface="Meiryo UI" charset="0"/>
                      </a:endParaRPr>
                    </a:p>
                  </a:txBody>
                  <a:tcPr marL="54864" marR="54864" marT="54864" marB="54864" anchor="ctr">
                    <a:lnL w="9525" cap="flat" cmpd="sng" algn="ctr">
                      <a:solidFill>
                        <a:srgbClr val="C9DCE8"/>
                      </a:solidFill>
                      <a:prstDash val="solid"/>
                      <a:round/>
                      <a:headEnd type="none" w="med" len="med"/>
                      <a:tailEnd type="none" w="med" len="med"/>
                    </a:lnL>
                    <a:lnR w="9525" cap="flat" cmpd="sng" algn="ctr">
                      <a:solidFill>
                        <a:srgbClr val="C9DCE8"/>
                      </a:solidFill>
                      <a:prstDash val="solid"/>
                      <a:round/>
                      <a:headEnd type="none" w="med" len="med"/>
                      <a:tailEnd type="none" w="med" len="med"/>
                    </a:lnR>
                    <a:lnT w="9525" cap="flat" cmpd="sng" algn="ctr">
                      <a:solidFill>
                        <a:srgbClr val="C9DCE8"/>
                      </a:solidFill>
                      <a:prstDash val="solid"/>
                      <a:round/>
                      <a:headEnd type="none" w="med" len="med"/>
                      <a:tailEnd type="none" w="med" len="med"/>
                    </a:lnT>
                    <a:lnB w="9525" cap="flat" cmpd="sng" algn="ctr">
                      <a:solidFill>
                        <a:srgbClr val="C9DC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303F"/>
                          </a:solidFill>
                          <a:latin typeface="Meiryo UI" pitchFamily="34" charset="0"/>
                          <a:ea typeface="Meiryo UI" pitchFamily="34" charset="-122"/>
                          <a:cs typeface="Meiryo UI" pitchFamily="34" charset="-120"/>
                        </a:rPr>
                        <a:t>月10件以上／月1回</a:t>
                      </a:r>
                      <a:endParaRPr lang="en-US" sz="1100" dirty="0">
                        <a:latin typeface="Meiryo UI" charset="0"/>
                        <a:ea typeface="Meiryo UI" charset="0"/>
                        <a:cs typeface="Meiryo UI" charset="0"/>
                      </a:endParaRPr>
                    </a:p>
                  </a:txBody>
                  <a:tcPr marL="54864" marR="54864" marT="54864" marB="54864" anchor="ctr">
                    <a:lnL w="9525" cap="flat" cmpd="sng" algn="ctr">
                      <a:solidFill>
                        <a:srgbClr val="C9DCE8"/>
                      </a:solidFill>
                      <a:prstDash val="solid"/>
                      <a:round/>
                      <a:headEnd type="none" w="med" len="med"/>
                      <a:tailEnd type="none" w="med" len="med"/>
                    </a:lnL>
                    <a:lnR w="9525" cap="flat" cmpd="sng" algn="ctr">
                      <a:solidFill>
                        <a:srgbClr val="C9DCE8"/>
                      </a:solidFill>
                      <a:prstDash val="solid"/>
                      <a:round/>
                      <a:headEnd type="none" w="med" len="med"/>
                      <a:tailEnd type="none" w="med" len="med"/>
                    </a:lnR>
                    <a:lnT w="9525" cap="flat" cmpd="sng" algn="ctr">
                      <a:solidFill>
                        <a:srgbClr val="C9DCE8"/>
                      </a:solidFill>
                      <a:prstDash val="solid"/>
                      <a:round/>
                      <a:headEnd type="none" w="med" len="med"/>
                      <a:tailEnd type="none" w="med" len="med"/>
                    </a:lnT>
                    <a:lnB w="9525" cap="flat" cmpd="sng" algn="ctr">
                      <a:solidFill>
                        <a:srgbClr val="C9DCE8"/>
                      </a:solidFill>
                      <a:prstDash val="solid"/>
                      <a:round/>
                      <a:headEnd type="none" w="med" len="med"/>
                      <a:tailEnd type="none" w="med" len="med"/>
                    </a:lnB>
                    <a:solidFill>
                      <a:srgbClr val="FFFFFF"/>
                    </a:solidFill>
                  </a:tcPr>
                </a:tc>
              </a:tr>
              <a:tr h="566928">
                <a:tc>
                  <a:txBody>
                    <a:bodyPr/>
                    <a:lstStyle/>
                    <a:p>
                      <a:pPr algn="l" indent="0" marL="0">
                        <a:buNone/>
                      </a:pPr>
                      <a:r>
                        <a:rPr lang="en-US" sz="1100" dirty="0">
                          <a:solidFill>
                            <a:srgbClr val="20303F"/>
                          </a:solidFill>
                          <a:latin typeface="Meiryo UI" pitchFamily="34" charset="0"/>
                          <a:ea typeface="Meiryo UI" pitchFamily="34" charset="-122"/>
                          <a:cs typeface="Meiryo UI" pitchFamily="34" charset="-120"/>
                        </a:rPr>
                        <a:t>STEP 5</a:t>
                      </a:r>
                      <a:endParaRPr lang="en-US" sz="1100" dirty="0">
                        <a:latin typeface="Meiryo UI" charset="0"/>
                        <a:ea typeface="Meiryo UI" charset="0"/>
                        <a:cs typeface="Meiryo UI" charset="0"/>
                      </a:endParaRPr>
                    </a:p>
                  </a:txBody>
                  <a:tcPr marL="54864" marR="54864" marT="54864" marB="54864" anchor="ctr">
                    <a:lnL w="9525" cap="flat" cmpd="sng" algn="ctr">
                      <a:solidFill>
                        <a:srgbClr val="C9DCE8"/>
                      </a:solidFill>
                      <a:prstDash val="solid"/>
                      <a:round/>
                      <a:headEnd type="none" w="med" len="med"/>
                      <a:tailEnd type="none" w="med" len="med"/>
                    </a:lnL>
                    <a:lnR w="9525" cap="flat" cmpd="sng" algn="ctr">
                      <a:solidFill>
                        <a:srgbClr val="C9DCE8"/>
                      </a:solidFill>
                      <a:prstDash val="solid"/>
                      <a:round/>
                      <a:headEnd type="none" w="med" len="med"/>
                      <a:tailEnd type="none" w="med" len="med"/>
                    </a:lnR>
                    <a:lnT w="9525" cap="flat" cmpd="sng" algn="ctr">
                      <a:solidFill>
                        <a:srgbClr val="C9DCE8"/>
                      </a:solidFill>
                      <a:prstDash val="solid"/>
                      <a:round/>
                      <a:headEnd type="none" w="med" len="med"/>
                      <a:tailEnd type="none" w="med" len="med"/>
                    </a:lnT>
                    <a:lnB w="9525" cap="flat" cmpd="sng" algn="ctr">
                      <a:solidFill>
                        <a:srgbClr val="C9DCE8"/>
                      </a:solidFill>
                      <a:prstDash val="solid"/>
                      <a:round/>
                      <a:headEnd type="none" w="med" len="med"/>
                      <a:tailEnd type="none" w="med" len="med"/>
                    </a:lnB>
                    <a:solidFill>
                      <a:srgbClr val="EFF6FA"/>
                    </a:solidFill>
                  </a:tcPr>
                </a:tc>
                <a:tc>
                  <a:txBody>
                    <a:bodyPr/>
                    <a:lstStyle/>
                    <a:p>
                      <a:pPr algn="l" indent="0" marL="0">
                        <a:buNone/>
                      </a:pPr>
                      <a:r>
                        <a:rPr lang="en-US" sz="1100" dirty="0">
                          <a:solidFill>
                            <a:srgbClr val="20303F"/>
                          </a:solidFill>
                          <a:latin typeface="Meiryo UI" pitchFamily="34" charset="0"/>
                          <a:ea typeface="Meiryo UI" pitchFamily="34" charset="-122"/>
                          <a:cs typeface="Meiryo UI" pitchFamily="34" charset="-120"/>
                        </a:rPr>
                        <a:t>自動化・エージェント化業務数</a:t>
                      </a:r>
                      <a:endParaRPr lang="en-US" sz="1100" dirty="0">
                        <a:latin typeface="Meiryo UI" charset="0"/>
                        <a:ea typeface="Meiryo UI" charset="0"/>
                        <a:cs typeface="Meiryo UI" charset="0"/>
                      </a:endParaRPr>
                    </a:p>
                  </a:txBody>
                  <a:tcPr marL="54864" marR="54864" marT="54864" marB="54864" anchor="ctr">
                    <a:lnL w="9525" cap="flat" cmpd="sng" algn="ctr">
                      <a:solidFill>
                        <a:srgbClr val="C9DCE8"/>
                      </a:solidFill>
                      <a:prstDash val="solid"/>
                      <a:round/>
                      <a:headEnd type="none" w="med" len="med"/>
                      <a:tailEnd type="none" w="med" len="med"/>
                    </a:lnL>
                    <a:lnR w="9525" cap="flat" cmpd="sng" algn="ctr">
                      <a:solidFill>
                        <a:srgbClr val="C9DCE8"/>
                      </a:solidFill>
                      <a:prstDash val="solid"/>
                      <a:round/>
                      <a:headEnd type="none" w="med" len="med"/>
                      <a:tailEnd type="none" w="med" len="med"/>
                    </a:lnR>
                    <a:lnT w="9525" cap="flat" cmpd="sng" algn="ctr">
                      <a:solidFill>
                        <a:srgbClr val="C9DCE8"/>
                      </a:solidFill>
                      <a:prstDash val="solid"/>
                      <a:round/>
                      <a:headEnd type="none" w="med" len="med"/>
                      <a:tailEnd type="none" w="med" len="med"/>
                    </a:lnT>
                    <a:lnB w="9525" cap="flat" cmpd="sng" algn="ctr">
                      <a:solidFill>
                        <a:srgbClr val="C9DCE8"/>
                      </a:solidFill>
                      <a:prstDash val="solid"/>
                      <a:round/>
                      <a:headEnd type="none" w="med" len="med"/>
                      <a:tailEnd type="none" w="med" len="med"/>
                    </a:lnB>
                    <a:solidFill>
                      <a:srgbClr val="EFF6FA"/>
                    </a:solidFill>
                  </a:tcPr>
                </a:tc>
                <a:tc>
                  <a:txBody>
                    <a:bodyPr/>
                    <a:lstStyle/>
                    <a:p>
                      <a:pPr algn="l" indent="0" marL="0">
                        <a:buNone/>
                      </a:pPr>
                      <a:r>
                        <a:rPr lang="en-US" sz="1100" dirty="0">
                          <a:solidFill>
                            <a:srgbClr val="20303F"/>
                          </a:solidFill>
                          <a:latin typeface="Meiryo UI" pitchFamily="34" charset="0"/>
                          <a:ea typeface="Meiryo UI" pitchFamily="34" charset="-122"/>
                          <a:cs typeface="Meiryo UI" pitchFamily="34" charset="-120"/>
                        </a:rPr>
                        <a:t>半期で3業務以上</a:t>
                      </a:r>
                      <a:endParaRPr lang="en-US" sz="1100" dirty="0">
                        <a:latin typeface="Meiryo UI" charset="0"/>
                        <a:ea typeface="Meiryo UI" charset="0"/>
                        <a:cs typeface="Meiryo UI" charset="0"/>
                      </a:endParaRPr>
                    </a:p>
                  </a:txBody>
                  <a:tcPr marL="54864" marR="54864" marT="54864" marB="54864" anchor="ctr">
                    <a:lnL w="9525" cap="flat" cmpd="sng" algn="ctr">
                      <a:solidFill>
                        <a:srgbClr val="C9DCE8"/>
                      </a:solidFill>
                      <a:prstDash val="solid"/>
                      <a:round/>
                      <a:headEnd type="none" w="med" len="med"/>
                      <a:tailEnd type="none" w="med" len="med"/>
                    </a:lnL>
                    <a:lnR w="9525" cap="flat" cmpd="sng" algn="ctr">
                      <a:solidFill>
                        <a:srgbClr val="C9DCE8"/>
                      </a:solidFill>
                      <a:prstDash val="solid"/>
                      <a:round/>
                      <a:headEnd type="none" w="med" len="med"/>
                      <a:tailEnd type="none" w="med" len="med"/>
                    </a:lnR>
                    <a:lnT w="9525" cap="flat" cmpd="sng" algn="ctr">
                      <a:solidFill>
                        <a:srgbClr val="C9DCE8"/>
                      </a:solidFill>
                      <a:prstDash val="solid"/>
                      <a:round/>
                      <a:headEnd type="none" w="med" len="med"/>
                      <a:tailEnd type="none" w="med" len="med"/>
                    </a:lnT>
                    <a:lnB w="9525" cap="flat" cmpd="sng" algn="ctr">
                      <a:solidFill>
                        <a:srgbClr val="C9DCE8"/>
                      </a:solidFill>
                      <a:prstDash val="solid"/>
                      <a:round/>
                      <a:headEnd type="none" w="med" len="med"/>
                      <a:tailEnd type="none" w="med" len="med"/>
                    </a:lnB>
                    <a:solidFill>
                      <a:srgbClr val="EFF6FA"/>
                    </a:solidFill>
                  </a:tcPr>
                </a:tc>
              </a:tr>
            </a:tbl>
          </a:graphicData>
        </a:graphic>
      </p:graphicFrame>
      <p:sp>
        <p:nvSpPr>
          <p:cNvPr id="22" name="Text 16"/>
          <p:cNvSpPr/>
          <p:nvPr/>
        </p:nvSpPr>
        <p:spPr>
          <a:xfrm>
            <a:off x="548640" y="5989320"/>
            <a:ext cx="11064240" cy="365760"/>
          </a:xfrm>
          <a:prstGeom prst="rect">
            <a:avLst/>
          </a:prstGeom>
          <a:noFill/>
          <a:ln/>
        </p:spPr>
        <p:txBody>
          <a:bodyPr wrap="square" lIns="0" tIns="0" rIns="0" bIns="0" rtlCol="0" anchor="ctr"/>
          <a:lstStyle/>
          <a:p>
            <a:pPr indent="0" marL="0">
              <a:buNone/>
            </a:pPr>
            <a:r>
              <a:rPr lang="en-US" sz="1200" b="1" dirty="0">
                <a:solidFill>
                  <a:srgbClr val="1C7293"/>
                </a:solidFill>
                <a:latin typeface="Meiryo UI" pitchFamily="34" charset="0"/>
                <a:ea typeface="Meiryo UI" pitchFamily="34" charset="-122"/>
                <a:cs typeface="Meiryo UI" pitchFamily="34" charset="-120"/>
              </a:rPr>
              <a:t>定着のコツ：全員が毎週必ずやる業務（議事録など）に組み込む／小さな成功体験を共有会で称賛する</a:t>
            </a:r>
            <a:endParaRPr lang="en-US" sz="1200" dirty="0"/>
          </a:p>
        </p:txBody>
      </p:sp>
      <p:sp>
        <p:nvSpPr>
          <p:cNvPr id="23" name="Text 17"/>
          <p:cNvSpPr/>
          <p:nvPr/>
        </p:nvSpPr>
        <p:spPr>
          <a:xfrm>
            <a:off x="8897112" y="6473952"/>
            <a:ext cx="2743200" cy="274320"/>
          </a:xfrm>
          <a:prstGeom prst="rect">
            <a:avLst/>
          </a:prstGeom>
          <a:noFill/>
          <a:ln/>
        </p:spPr>
        <p:txBody>
          <a:bodyPr wrap="square" lIns="0" tIns="0" rIns="0" bIns="0" rtlCol="0" anchor="ctr"/>
          <a:lstStyle/>
          <a:p>
            <a:pPr algn="r" indent="0" marL="0">
              <a:buNone/>
            </a:pPr>
            <a:r>
              <a:rPr lang="en-US" sz="900" dirty="0">
                <a:solidFill>
                  <a:srgbClr val="9AAAB8"/>
                </a:solidFill>
                <a:latin typeface="Meiryo UI" pitchFamily="34" charset="0"/>
                <a:ea typeface="Meiryo UI" pitchFamily="34" charset="-122"/>
                <a:cs typeface="Meiryo UI" pitchFamily="34" charset="-120"/>
              </a:rPr>
              <a:t>Microsoft 365 Copilot 活用ガイド｜13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0058400" y="-1828800"/>
            <a:ext cx="5120640" cy="5120640"/>
          </a:xfrm>
          <a:prstGeom prst="ellipse">
            <a:avLst/>
          </a:prstGeom>
          <a:solidFill>
            <a:srgbClr val="065A82">
              <a:alpha val="55000"/>
            </a:srgbClr>
          </a:solidFill>
          <a:ln/>
        </p:spPr>
      </p:sp>
      <p:sp>
        <p:nvSpPr>
          <p:cNvPr id="3" name="Shape 1"/>
          <p:cNvSpPr/>
          <p:nvPr/>
        </p:nvSpPr>
        <p:spPr>
          <a:xfrm>
            <a:off x="-1463040" y="4937760"/>
            <a:ext cx="3840480" cy="3840480"/>
          </a:xfrm>
          <a:prstGeom prst="ellipse">
            <a:avLst/>
          </a:prstGeom>
          <a:solidFill>
            <a:srgbClr val="1C7293">
              <a:alpha val="40000"/>
            </a:srgbClr>
          </a:solidFill>
          <a:ln/>
        </p:spPr>
      </p:sp>
      <p:sp>
        <p:nvSpPr>
          <p:cNvPr id="4" name="Text 2"/>
          <p:cNvSpPr/>
          <p:nvPr/>
        </p:nvSpPr>
        <p:spPr>
          <a:xfrm>
            <a:off x="777240" y="685800"/>
            <a:ext cx="10607040" cy="731520"/>
          </a:xfrm>
          <a:prstGeom prst="rect">
            <a:avLst/>
          </a:prstGeom>
          <a:noFill/>
          <a:ln/>
        </p:spPr>
        <p:txBody>
          <a:bodyPr wrap="square" lIns="0" tIns="0" rIns="0" bIns="0" rtlCol="0" anchor="ctr"/>
          <a:lstStyle/>
          <a:p>
            <a:pPr indent="0" marL="0">
              <a:buNone/>
            </a:pPr>
            <a:r>
              <a:rPr lang="en-US" sz="3200" b="1" dirty="0">
                <a:solidFill>
                  <a:srgbClr val="FFFFFF"/>
                </a:solidFill>
                <a:latin typeface="Meiryo UI" pitchFamily="34" charset="0"/>
                <a:ea typeface="Meiryo UI" pitchFamily="34" charset="-122"/>
                <a:cs typeface="Meiryo UI" pitchFamily="34" charset="-120"/>
              </a:rPr>
              <a:t>今日から始める、3つのアクション</a:t>
            </a:r>
            <a:endParaRPr lang="en-US" sz="3200" dirty="0"/>
          </a:p>
        </p:txBody>
      </p:sp>
      <p:sp>
        <p:nvSpPr>
          <p:cNvPr id="5" name="Shape 3"/>
          <p:cNvSpPr/>
          <p:nvPr/>
        </p:nvSpPr>
        <p:spPr>
          <a:xfrm>
            <a:off x="777240" y="1828800"/>
            <a:ext cx="3511296" cy="3108960"/>
          </a:xfrm>
          <a:prstGeom prst="roundRect">
            <a:avLst>
              <a:gd name="adj" fmla="val 2353"/>
            </a:avLst>
          </a:prstGeom>
          <a:solidFill>
            <a:srgbClr val="2B3568"/>
          </a:solidFill>
          <a:ln/>
        </p:spPr>
      </p:sp>
      <p:sp>
        <p:nvSpPr>
          <p:cNvPr id="6" name="Shape 4"/>
          <p:cNvSpPr/>
          <p:nvPr/>
        </p:nvSpPr>
        <p:spPr>
          <a:xfrm>
            <a:off x="1069848" y="2148840"/>
            <a:ext cx="685800" cy="685800"/>
          </a:xfrm>
          <a:prstGeom prst="ellipse">
            <a:avLst/>
          </a:prstGeom>
          <a:solidFill>
            <a:srgbClr val="1C7293"/>
          </a:solidFill>
          <a:ln/>
        </p:spPr>
      </p:sp>
      <p:sp>
        <p:nvSpPr>
          <p:cNvPr id="7" name="Text 5"/>
          <p:cNvSpPr/>
          <p:nvPr/>
        </p:nvSpPr>
        <p:spPr>
          <a:xfrm>
            <a:off x="1069848" y="214884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UI" pitchFamily="34" charset="0"/>
                <a:ea typeface="Meiryo UI" pitchFamily="34" charset="-122"/>
                <a:cs typeface="Meiryo UI" pitchFamily="34" charset="-120"/>
              </a:rPr>
              <a:t>1</a:t>
            </a:r>
            <a:endParaRPr lang="en-US" sz="2400" dirty="0"/>
          </a:p>
        </p:txBody>
      </p:sp>
      <p:sp>
        <p:nvSpPr>
          <p:cNvPr id="8" name="Text 6"/>
          <p:cNvSpPr/>
          <p:nvPr/>
        </p:nvSpPr>
        <p:spPr>
          <a:xfrm>
            <a:off x="1069848" y="3017520"/>
            <a:ext cx="2926080" cy="914400"/>
          </a:xfrm>
          <a:prstGeom prst="rect">
            <a:avLst/>
          </a:prstGeom>
          <a:noFill/>
          <a:ln/>
        </p:spPr>
        <p:txBody>
          <a:bodyPr wrap="square" lIns="0" tIns="0" rIns="0" bIns="0" rtlCol="0" anchor="ctr"/>
          <a:lstStyle/>
          <a:p>
            <a:pPr indent="0" marL="0">
              <a:lnSpc>
                <a:spcPct val="115000"/>
              </a:lnSpc>
              <a:buNone/>
            </a:pPr>
            <a:r>
              <a:rPr lang="en-US" sz="1650" b="1" dirty="0">
                <a:solidFill>
                  <a:srgbClr val="FFFFFF"/>
                </a:solidFill>
                <a:latin typeface="Meiryo UI" pitchFamily="34" charset="0"/>
                <a:ea typeface="Meiryo UI" pitchFamily="34" charset="-122"/>
                <a:cs typeface="Meiryo UI" pitchFamily="34" charset="-120"/>
              </a:rPr>
              <a:t>Copilotを開いて、</a:t>
            </a:r>
            <a:endParaRPr lang="en-US" sz="1650" dirty="0"/>
          </a:p>
          <a:p>
            <a:pPr indent="0" marL="0">
              <a:lnSpc>
                <a:spcPct val="115000"/>
              </a:lnSpc>
              <a:buNone/>
            </a:pPr>
            <a:r>
              <a:rPr lang="en-US" sz="1650" b="1" dirty="0">
                <a:solidFill>
                  <a:srgbClr val="FFFFFF"/>
                </a:solidFill>
                <a:latin typeface="Meiryo UI" pitchFamily="34" charset="0"/>
                <a:ea typeface="Meiryo UI" pitchFamily="34" charset="-122"/>
                <a:cs typeface="Meiryo UI" pitchFamily="34" charset="-120"/>
              </a:rPr>
              <a:t>1つ質問してみる</a:t>
            </a:r>
            <a:endParaRPr lang="en-US" sz="1650" dirty="0"/>
          </a:p>
        </p:txBody>
      </p:sp>
      <p:sp>
        <p:nvSpPr>
          <p:cNvPr id="9" name="Text 7"/>
          <p:cNvSpPr/>
          <p:nvPr/>
        </p:nvSpPr>
        <p:spPr>
          <a:xfrm>
            <a:off x="1069848" y="3977640"/>
            <a:ext cx="2926080" cy="868680"/>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Meiryo UI" pitchFamily="34" charset="0"/>
                <a:ea typeface="Meiryo UI" pitchFamily="34" charset="-122"/>
                <a:cs typeface="Meiryo UI" pitchFamily="34" charset="-120"/>
              </a:rPr>
              <a:t>今日中に。内容はなんでもOK。まず「このメールを要約して」から</a:t>
            </a:r>
            <a:endParaRPr lang="en-US" sz="1150" dirty="0"/>
          </a:p>
        </p:txBody>
      </p:sp>
      <p:sp>
        <p:nvSpPr>
          <p:cNvPr id="10" name="Shape 8"/>
          <p:cNvSpPr/>
          <p:nvPr/>
        </p:nvSpPr>
        <p:spPr>
          <a:xfrm>
            <a:off x="4562856" y="1828800"/>
            <a:ext cx="3511296" cy="3108960"/>
          </a:xfrm>
          <a:prstGeom prst="roundRect">
            <a:avLst>
              <a:gd name="adj" fmla="val 2353"/>
            </a:avLst>
          </a:prstGeom>
          <a:solidFill>
            <a:srgbClr val="2B3568"/>
          </a:solidFill>
          <a:ln/>
        </p:spPr>
      </p:sp>
      <p:sp>
        <p:nvSpPr>
          <p:cNvPr id="11" name="Shape 9"/>
          <p:cNvSpPr/>
          <p:nvPr/>
        </p:nvSpPr>
        <p:spPr>
          <a:xfrm>
            <a:off x="4855464" y="2148840"/>
            <a:ext cx="685800" cy="685800"/>
          </a:xfrm>
          <a:prstGeom prst="ellipse">
            <a:avLst/>
          </a:prstGeom>
          <a:solidFill>
            <a:srgbClr val="1C7293"/>
          </a:solidFill>
          <a:ln/>
        </p:spPr>
      </p:sp>
      <p:sp>
        <p:nvSpPr>
          <p:cNvPr id="12" name="Text 10"/>
          <p:cNvSpPr/>
          <p:nvPr/>
        </p:nvSpPr>
        <p:spPr>
          <a:xfrm>
            <a:off x="4855464" y="214884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UI" pitchFamily="34" charset="0"/>
                <a:ea typeface="Meiryo UI" pitchFamily="34" charset="-122"/>
                <a:cs typeface="Meiryo UI" pitchFamily="34" charset="-120"/>
              </a:rPr>
              <a:t>2</a:t>
            </a:r>
            <a:endParaRPr lang="en-US" sz="2400" dirty="0"/>
          </a:p>
        </p:txBody>
      </p:sp>
      <p:sp>
        <p:nvSpPr>
          <p:cNvPr id="13" name="Text 11"/>
          <p:cNvSpPr/>
          <p:nvPr/>
        </p:nvSpPr>
        <p:spPr>
          <a:xfrm>
            <a:off x="4855464" y="3017520"/>
            <a:ext cx="2926080" cy="914400"/>
          </a:xfrm>
          <a:prstGeom prst="rect">
            <a:avLst/>
          </a:prstGeom>
          <a:noFill/>
          <a:ln/>
        </p:spPr>
        <p:txBody>
          <a:bodyPr wrap="square" lIns="0" tIns="0" rIns="0" bIns="0" rtlCol="0" anchor="ctr"/>
          <a:lstStyle/>
          <a:p>
            <a:pPr indent="0" marL="0">
              <a:lnSpc>
                <a:spcPct val="115000"/>
              </a:lnSpc>
              <a:buNone/>
            </a:pPr>
            <a:r>
              <a:rPr lang="en-US" sz="1650" b="1" dirty="0">
                <a:solidFill>
                  <a:srgbClr val="FFFFFF"/>
                </a:solidFill>
                <a:latin typeface="Meiryo UI" pitchFamily="34" charset="0"/>
                <a:ea typeface="Meiryo UI" pitchFamily="34" charset="-122"/>
                <a:cs typeface="Meiryo UI" pitchFamily="34" charset="-120"/>
              </a:rPr>
              <a:t>今週の会議で</a:t>
            </a:r>
            <a:endParaRPr lang="en-US" sz="1650" dirty="0"/>
          </a:p>
          <a:p>
            <a:pPr indent="0" marL="0">
              <a:lnSpc>
                <a:spcPct val="115000"/>
              </a:lnSpc>
              <a:buNone/>
            </a:pPr>
            <a:r>
              <a:rPr lang="en-US" sz="1650" b="1" dirty="0">
                <a:solidFill>
                  <a:srgbClr val="FFFFFF"/>
                </a:solidFill>
                <a:latin typeface="Meiryo UI" pitchFamily="34" charset="0"/>
                <a:ea typeface="Meiryo UI" pitchFamily="34" charset="-122"/>
                <a:cs typeface="Meiryo UI" pitchFamily="34" charset="-120"/>
              </a:rPr>
              <a:t>議事録を作らせてみる</a:t>
            </a:r>
            <a:endParaRPr lang="en-US" sz="1650" dirty="0"/>
          </a:p>
        </p:txBody>
      </p:sp>
      <p:sp>
        <p:nvSpPr>
          <p:cNvPr id="14" name="Text 12"/>
          <p:cNvSpPr/>
          <p:nvPr/>
        </p:nvSpPr>
        <p:spPr>
          <a:xfrm>
            <a:off x="4855464" y="3977640"/>
            <a:ext cx="2926080" cy="868680"/>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Meiryo UI" pitchFamily="34" charset="0"/>
                <a:ea typeface="Meiryo UI" pitchFamily="34" charset="-122"/>
                <a:cs typeface="Meiryo UI" pitchFamily="34" charset="-120"/>
              </a:rPr>
              <a:t>文字起こしをONにして「決定事項とToDoを表にして」と頼む</a:t>
            </a:r>
            <a:endParaRPr lang="en-US" sz="1150" dirty="0"/>
          </a:p>
        </p:txBody>
      </p:sp>
      <p:sp>
        <p:nvSpPr>
          <p:cNvPr id="15" name="Shape 13"/>
          <p:cNvSpPr/>
          <p:nvPr/>
        </p:nvSpPr>
        <p:spPr>
          <a:xfrm>
            <a:off x="8348472" y="1828800"/>
            <a:ext cx="3511296" cy="3108960"/>
          </a:xfrm>
          <a:prstGeom prst="roundRect">
            <a:avLst>
              <a:gd name="adj" fmla="val 2353"/>
            </a:avLst>
          </a:prstGeom>
          <a:solidFill>
            <a:srgbClr val="2B3568"/>
          </a:solidFill>
          <a:ln/>
        </p:spPr>
      </p:sp>
      <p:sp>
        <p:nvSpPr>
          <p:cNvPr id="16" name="Shape 14"/>
          <p:cNvSpPr/>
          <p:nvPr/>
        </p:nvSpPr>
        <p:spPr>
          <a:xfrm>
            <a:off x="8641080" y="2148840"/>
            <a:ext cx="685800" cy="685800"/>
          </a:xfrm>
          <a:prstGeom prst="ellipse">
            <a:avLst/>
          </a:prstGeom>
          <a:solidFill>
            <a:srgbClr val="1C7293"/>
          </a:solidFill>
          <a:ln/>
        </p:spPr>
      </p:sp>
      <p:sp>
        <p:nvSpPr>
          <p:cNvPr id="17" name="Text 15"/>
          <p:cNvSpPr/>
          <p:nvPr/>
        </p:nvSpPr>
        <p:spPr>
          <a:xfrm>
            <a:off x="8641080" y="214884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UI" pitchFamily="34" charset="0"/>
                <a:ea typeface="Meiryo UI" pitchFamily="34" charset="-122"/>
                <a:cs typeface="Meiryo UI" pitchFamily="34" charset="-120"/>
              </a:rPr>
              <a:t>3</a:t>
            </a:r>
            <a:endParaRPr lang="en-US" sz="2400" dirty="0"/>
          </a:p>
        </p:txBody>
      </p:sp>
      <p:sp>
        <p:nvSpPr>
          <p:cNvPr id="18" name="Text 16"/>
          <p:cNvSpPr/>
          <p:nvPr/>
        </p:nvSpPr>
        <p:spPr>
          <a:xfrm>
            <a:off x="8641080" y="3017520"/>
            <a:ext cx="2926080" cy="914400"/>
          </a:xfrm>
          <a:prstGeom prst="rect">
            <a:avLst/>
          </a:prstGeom>
          <a:noFill/>
          <a:ln/>
        </p:spPr>
        <p:txBody>
          <a:bodyPr wrap="square" lIns="0" tIns="0" rIns="0" bIns="0" rtlCol="0" anchor="ctr"/>
          <a:lstStyle/>
          <a:p>
            <a:pPr indent="0" marL="0">
              <a:lnSpc>
                <a:spcPct val="115000"/>
              </a:lnSpc>
              <a:buNone/>
            </a:pPr>
            <a:r>
              <a:rPr lang="en-US" sz="1650" b="1" dirty="0">
                <a:solidFill>
                  <a:srgbClr val="FFFFFF"/>
                </a:solidFill>
                <a:latin typeface="Meiryo UI" pitchFamily="34" charset="0"/>
                <a:ea typeface="Meiryo UI" pitchFamily="34" charset="-122"/>
                <a:cs typeface="Meiryo UI" pitchFamily="34" charset="-120"/>
              </a:rPr>
              <a:t>使えたプロンプトを</a:t>
            </a:r>
            <a:endParaRPr lang="en-US" sz="1650" dirty="0"/>
          </a:p>
          <a:p>
            <a:pPr indent="0" marL="0">
              <a:lnSpc>
                <a:spcPct val="115000"/>
              </a:lnSpc>
              <a:buNone/>
            </a:pPr>
            <a:r>
              <a:rPr lang="en-US" sz="1650" b="1" dirty="0">
                <a:solidFill>
                  <a:srgbClr val="FFFFFF"/>
                </a:solidFill>
                <a:latin typeface="Meiryo UI" pitchFamily="34" charset="0"/>
                <a:ea typeface="Meiryo UI" pitchFamily="34" charset="-122"/>
                <a:cs typeface="Meiryo UI" pitchFamily="34" charset="-120"/>
              </a:rPr>
              <a:t>チームに共有する</a:t>
            </a:r>
            <a:endParaRPr lang="en-US" sz="1650" dirty="0"/>
          </a:p>
        </p:txBody>
      </p:sp>
      <p:sp>
        <p:nvSpPr>
          <p:cNvPr id="19" name="Text 17"/>
          <p:cNvSpPr/>
          <p:nvPr/>
        </p:nvSpPr>
        <p:spPr>
          <a:xfrm>
            <a:off x="8641080" y="3977640"/>
            <a:ext cx="2926080" cy="868680"/>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Meiryo UI" pitchFamily="34" charset="0"/>
                <a:ea typeface="Meiryo UI" pitchFamily="34" charset="-122"/>
                <a:cs typeface="Meiryo UI" pitchFamily="34" charset="-120"/>
              </a:rPr>
              <a:t>1行メモでOK。あなたの発見が部門の資産になる</a:t>
            </a:r>
            <a:endParaRPr lang="en-US" sz="1150" dirty="0"/>
          </a:p>
        </p:txBody>
      </p:sp>
      <p:sp>
        <p:nvSpPr>
          <p:cNvPr id="20" name="Text 18"/>
          <p:cNvSpPr/>
          <p:nvPr/>
        </p:nvSpPr>
        <p:spPr>
          <a:xfrm>
            <a:off x="777240" y="5349240"/>
            <a:ext cx="10607040" cy="457200"/>
          </a:xfrm>
          <a:prstGeom prst="rect">
            <a:avLst/>
          </a:prstGeom>
          <a:noFill/>
          <a:ln/>
        </p:spPr>
        <p:txBody>
          <a:bodyPr wrap="square" lIns="0" tIns="0" rIns="0" bIns="0" rtlCol="0" anchor="ctr"/>
          <a:lstStyle/>
          <a:p>
            <a:pPr indent="0" marL="0">
              <a:buNone/>
            </a:pPr>
            <a:r>
              <a:rPr lang="en-US" sz="1700" b="1" dirty="0">
                <a:solidFill>
                  <a:srgbClr val="8FD6E8"/>
                </a:solidFill>
                <a:latin typeface="Meiryo UI" pitchFamily="34" charset="0"/>
                <a:ea typeface="Meiryo UI" pitchFamily="34" charset="-122"/>
                <a:cs typeface="Meiryo UI" pitchFamily="34" charset="-120"/>
              </a:rPr>
              <a:t>下書きはAI、最終責任は人。 ― まず1日1回から始めましょう</a:t>
            </a:r>
            <a:endParaRPr lang="en-US" sz="1700" dirty="0"/>
          </a:p>
        </p:txBody>
      </p:sp>
      <p:sp>
        <p:nvSpPr>
          <p:cNvPr id="21" name="Text 19"/>
          <p:cNvSpPr/>
          <p:nvPr/>
        </p:nvSpPr>
        <p:spPr>
          <a:xfrm>
            <a:off x="777240" y="6035040"/>
            <a:ext cx="10607040" cy="365760"/>
          </a:xfrm>
          <a:prstGeom prst="rect">
            <a:avLst/>
          </a:prstGeom>
          <a:noFill/>
          <a:ln/>
        </p:spPr>
        <p:txBody>
          <a:bodyPr wrap="square" lIns="0" tIns="0" rIns="0" bIns="0" rtlCol="0" anchor="ctr"/>
          <a:lstStyle/>
          <a:p>
            <a:pPr indent="0" marL="0">
              <a:buNone/>
            </a:pPr>
            <a:r>
              <a:rPr lang="en-US" sz="1100" dirty="0">
                <a:solidFill>
                  <a:srgbClr val="8B9BC7"/>
                </a:solidFill>
                <a:latin typeface="Meiryo UI" pitchFamily="34" charset="0"/>
                <a:ea typeface="Meiryo UI" pitchFamily="34" charset="-122"/>
                <a:cs typeface="Meiryo UI" pitchFamily="34" charset="-120"/>
              </a:rPr>
              <a:t>詳細手順・プロンプト集は配布資料「Microsoft 365 Copilot 活用推進ガイド」（Word）へ｜相談先：各チームのチャンピオン／推進リーダー</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2026-08-19T01:48:25Z</dcterms:created>
  <dcterms:modified xsi:type="dcterms:W3CDTF">2026-08-19T01:48:25Z</dcterms:modified>
</cp:coreProperties>
</file>